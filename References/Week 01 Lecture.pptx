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46907" y="2427859"/>
            <a:ext cx="6116955" cy="16687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019300"/>
            <a:ext cx="12191999" cy="4838697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6121908"/>
            <a:ext cx="12192000" cy="12700"/>
          </a:xfrm>
          <a:custGeom>
            <a:avLst/>
            <a:gdLst/>
            <a:ahLst/>
            <a:cxnLst/>
            <a:rect l="l" t="t" r="r" b="b"/>
            <a:pathLst>
              <a:path w="12192000" h="12700">
                <a:moveTo>
                  <a:pt x="12192000" y="0"/>
                </a:moveTo>
                <a:lnTo>
                  <a:pt x="0" y="0"/>
                </a:lnTo>
                <a:lnTo>
                  <a:pt x="0" y="12191"/>
                </a:lnTo>
                <a:lnTo>
                  <a:pt x="12192000" y="12191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2019300"/>
            <a:ext cx="12191999" cy="4838697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6121908"/>
            <a:ext cx="12192000" cy="12700"/>
          </a:xfrm>
          <a:custGeom>
            <a:avLst/>
            <a:gdLst/>
            <a:ahLst/>
            <a:cxnLst/>
            <a:rect l="l" t="t" r="r" b="b"/>
            <a:pathLst>
              <a:path w="12192000" h="12700">
                <a:moveTo>
                  <a:pt x="12192000" y="0"/>
                </a:moveTo>
                <a:lnTo>
                  <a:pt x="0" y="0"/>
                </a:lnTo>
                <a:lnTo>
                  <a:pt x="0" y="12191"/>
                </a:lnTo>
                <a:lnTo>
                  <a:pt x="12192000" y="12191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117" y="188417"/>
            <a:ext cx="1219423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2956" y="1696671"/>
            <a:ext cx="5678170" cy="3587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nurulamera.nazmi@xmu.edu.my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hyperlink" Target="https://gs.statcounter.com/os-market-share/mobile/worldwide" TargetMode="Externa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jpg"/><Relationship Id="rId4" Type="http://schemas.openxmlformats.org/officeDocument/2006/relationships/image" Target="../media/image35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flutter.dev/" TargetMode="External"/><Relationship Id="rId3" Type="http://schemas.openxmlformats.org/officeDocument/2006/relationships/image" Target="../media/image37.jp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jpg"/><Relationship Id="rId5" Type="http://schemas.openxmlformats.org/officeDocument/2006/relationships/image" Target="../media/image45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jp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jp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1F1F1F"/>
                </a:solidFill>
              </a:rPr>
              <a:t>MOBILE</a:t>
            </a:r>
            <a:r>
              <a:rPr dirty="0" sz="3600" spc="-290">
                <a:solidFill>
                  <a:srgbClr val="1F1F1F"/>
                </a:solidFill>
              </a:rPr>
              <a:t> </a:t>
            </a:r>
            <a:r>
              <a:rPr dirty="0" sz="3600" spc="70">
                <a:solidFill>
                  <a:srgbClr val="1F1F1F"/>
                </a:solidFill>
              </a:rPr>
              <a:t>APPLICATION</a:t>
            </a:r>
            <a:r>
              <a:rPr dirty="0" sz="3600" spc="254">
                <a:solidFill>
                  <a:srgbClr val="1F1F1F"/>
                </a:solidFill>
              </a:rPr>
              <a:t> </a:t>
            </a:r>
            <a:r>
              <a:rPr dirty="0" sz="3600" spc="-10">
                <a:solidFill>
                  <a:srgbClr val="1F1F1F"/>
                </a:solidFill>
              </a:rPr>
              <a:t>SYSTEM </a:t>
            </a:r>
            <a:r>
              <a:rPr dirty="0" sz="3600" spc="65">
                <a:solidFill>
                  <a:srgbClr val="1F1F1F"/>
                </a:solidFill>
              </a:rPr>
              <a:t>DESIGN</a:t>
            </a:r>
            <a:endParaRPr sz="3600"/>
          </a:p>
          <a:p>
            <a:pPr algn="ctr" marL="368935">
              <a:lnSpc>
                <a:spcPts val="4300"/>
              </a:lnSpc>
            </a:pPr>
            <a:r>
              <a:rPr dirty="0" sz="3600" spc="-65" b="1">
                <a:solidFill>
                  <a:srgbClr val="1F1F1F"/>
                </a:solidFill>
                <a:latin typeface="Calibri"/>
                <a:cs typeface="Calibri"/>
              </a:rPr>
              <a:t>(Week</a:t>
            </a:r>
            <a:r>
              <a:rPr dirty="0" sz="3600" spc="-120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3600" spc="-35" b="1">
                <a:solidFill>
                  <a:srgbClr val="1F1F1F"/>
                </a:solidFill>
                <a:latin typeface="Calibri"/>
                <a:cs typeface="Calibri"/>
              </a:rPr>
              <a:t>1)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58539" y="4647946"/>
            <a:ext cx="42837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85" b="1">
                <a:latin typeface="Calibri"/>
                <a:cs typeface="Calibri"/>
              </a:rPr>
              <a:t>Nurul</a:t>
            </a:r>
            <a:r>
              <a:rPr dirty="0" sz="2800" spc="-155" b="1">
                <a:latin typeface="Calibri"/>
                <a:cs typeface="Calibri"/>
              </a:rPr>
              <a:t> </a:t>
            </a:r>
            <a:r>
              <a:rPr dirty="0" sz="2800" spc="-100" b="1">
                <a:latin typeface="Calibri"/>
                <a:cs typeface="Calibri"/>
              </a:rPr>
              <a:t>Amera</a:t>
            </a:r>
            <a:r>
              <a:rPr dirty="0" sz="2800" spc="-145" b="1">
                <a:latin typeface="Calibri"/>
                <a:cs typeface="Calibri"/>
              </a:rPr>
              <a:t> </a:t>
            </a:r>
            <a:r>
              <a:rPr dirty="0" sz="2800" spc="-90" b="1">
                <a:latin typeface="Calibri"/>
                <a:cs typeface="Calibri"/>
              </a:rPr>
              <a:t>Muhamad</a:t>
            </a:r>
            <a:r>
              <a:rPr dirty="0" sz="2800" spc="-21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Nazmi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56182" y="184937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 h="0">
                <a:moveTo>
                  <a:pt x="0" y="0"/>
                </a:moveTo>
                <a:lnTo>
                  <a:pt x="9607296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1187" y="786129"/>
            <a:ext cx="21443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175">
                <a:solidFill>
                  <a:srgbClr val="000000"/>
                </a:solidFill>
              </a:rPr>
              <a:t>CONTENT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871829" y="1853776"/>
            <a:ext cx="7026275" cy="363791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815"/>
              </a:spcBef>
              <a:buAutoNum type="arabicPeriod"/>
              <a:tabLst>
                <a:tab pos="469900" algn="l"/>
              </a:tabLst>
            </a:pPr>
            <a:r>
              <a:rPr dirty="0" sz="2800" spc="-25">
                <a:latin typeface="Calibri"/>
                <a:cs typeface="Calibri"/>
              </a:rPr>
              <a:t>Course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introduction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469900" algn="l"/>
              </a:tabLst>
            </a:pPr>
            <a:r>
              <a:rPr dirty="0" sz="2800" spc="-35">
                <a:latin typeface="Calibri"/>
                <a:cs typeface="Calibri"/>
              </a:rPr>
              <a:t>Introduction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Mobile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Application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469900" algn="l"/>
              </a:tabLst>
            </a:pPr>
            <a:r>
              <a:rPr dirty="0" sz="2800" spc="-30">
                <a:latin typeface="Calibri"/>
                <a:cs typeface="Calibri"/>
              </a:rPr>
              <a:t>Operating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system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Android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iOS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469900" algn="l"/>
              </a:tabLst>
            </a:pPr>
            <a:r>
              <a:rPr dirty="0" sz="2800" spc="-10">
                <a:latin typeface="Calibri"/>
                <a:cs typeface="Calibri"/>
              </a:rPr>
              <a:t>Mobile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application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 spc="-35">
                <a:latin typeface="Calibri"/>
                <a:cs typeface="Calibri"/>
              </a:rPr>
              <a:t>market</a:t>
            </a:r>
            <a:r>
              <a:rPr dirty="0" sz="2800" spc="-1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trends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statistic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705"/>
              </a:spcBef>
              <a:buAutoNum type="arabicPeriod"/>
              <a:tabLst>
                <a:tab pos="469900" algn="l"/>
              </a:tabLst>
            </a:pPr>
            <a:r>
              <a:rPr dirty="0" sz="2800" spc="-10">
                <a:latin typeface="Calibri"/>
                <a:cs typeface="Calibri"/>
              </a:rPr>
              <a:t>Mobile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application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research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design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469900" algn="l"/>
              </a:tabLst>
            </a:pPr>
            <a:r>
              <a:rPr dirty="0" sz="2800">
                <a:latin typeface="Calibri"/>
                <a:cs typeface="Calibri"/>
              </a:rPr>
              <a:t>Class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Discussion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:</a:t>
            </a:r>
            <a:r>
              <a:rPr dirty="0" sz="2800" spc="-1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What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1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your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dream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app?</a:t>
            </a:r>
            <a:endParaRPr sz="2800">
              <a:latin typeface="Calibri"/>
              <a:cs typeface="Calibri"/>
            </a:endParaRPr>
          </a:p>
          <a:p>
            <a:pPr marL="470534" indent="-457834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470534" algn="l"/>
              </a:tabLst>
            </a:pPr>
            <a:r>
              <a:rPr dirty="0" sz="2800" spc="-30">
                <a:latin typeface="Calibri"/>
                <a:cs typeface="Calibri"/>
              </a:rPr>
              <a:t>Project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Management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Tools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56182" y="184937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 h="0">
                <a:moveTo>
                  <a:pt x="0" y="0"/>
                </a:moveTo>
                <a:lnTo>
                  <a:pt x="9607296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50975" y="859028"/>
            <a:ext cx="8176259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70">
                <a:solidFill>
                  <a:srgbClr val="000000"/>
                </a:solidFill>
              </a:rPr>
              <a:t>COURSE</a:t>
            </a:r>
            <a:r>
              <a:rPr dirty="0" spc="105">
                <a:solidFill>
                  <a:srgbClr val="000000"/>
                </a:solidFill>
              </a:rPr>
              <a:t> </a:t>
            </a:r>
            <a:r>
              <a:rPr dirty="0" spc="145">
                <a:solidFill>
                  <a:srgbClr val="000000"/>
                </a:solidFill>
              </a:rPr>
              <a:t>INTRODUCTION</a:t>
            </a:r>
            <a:r>
              <a:rPr dirty="0" spc="17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–</a:t>
            </a:r>
            <a:r>
              <a:rPr dirty="0" spc="335">
                <a:solidFill>
                  <a:srgbClr val="000000"/>
                </a:solidFill>
              </a:rPr>
              <a:t> </a:t>
            </a:r>
            <a:r>
              <a:rPr dirty="0" spc="80">
                <a:solidFill>
                  <a:srgbClr val="000000"/>
                </a:solidFill>
              </a:rPr>
              <a:t>LEARNING</a:t>
            </a:r>
            <a:r>
              <a:rPr dirty="0" spc="114">
                <a:solidFill>
                  <a:srgbClr val="000000"/>
                </a:solidFill>
              </a:rPr>
              <a:t> </a:t>
            </a:r>
            <a:r>
              <a:rPr dirty="0" spc="95">
                <a:solidFill>
                  <a:srgbClr val="000000"/>
                </a:solidFill>
              </a:rPr>
              <a:t>OUTCOMES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78610" y="1998726"/>
            <a:ext cx="9058910" cy="3722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Clr>
                <a:srgbClr val="B71E42"/>
              </a:buClr>
              <a:buFont typeface="Arial MT"/>
              <a:buChar char="•"/>
              <a:tabLst>
                <a:tab pos="239395" algn="l"/>
              </a:tabLst>
            </a:pPr>
            <a:r>
              <a:rPr dirty="0" sz="2000" spc="-85">
                <a:latin typeface="Trebuchet MS"/>
                <a:cs typeface="Trebuchet MS"/>
              </a:rPr>
              <a:t>Demonstrate </a:t>
            </a:r>
            <a:r>
              <a:rPr dirty="0" sz="2000" spc="-145">
                <a:latin typeface="Trebuchet MS"/>
                <a:cs typeface="Trebuchet MS"/>
              </a:rPr>
              <a:t>ability</a:t>
            </a:r>
            <a:r>
              <a:rPr dirty="0" sz="2000" spc="-185">
                <a:latin typeface="Trebuchet MS"/>
                <a:cs typeface="Trebuchet MS"/>
              </a:rPr>
              <a:t> </a:t>
            </a:r>
            <a:r>
              <a:rPr dirty="0" sz="2000" spc="-35">
                <a:latin typeface="Trebuchet MS"/>
                <a:cs typeface="Trebuchet MS"/>
              </a:rPr>
              <a:t>to</a:t>
            </a:r>
            <a:r>
              <a:rPr dirty="0" sz="2000" spc="-70">
                <a:latin typeface="Trebuchet MS"/>
                <a:cs typeface="Trebuchet MS"/>
              </a:rPr>
              <a:t> </a:t>
            </a:r>
            <a:r>
              <a:rPr dirty="0" sz="2000" spc="-145">
                <a:latin typeface="Trebuchet MS"/>
                <a:cs typeface="Trebuchet MS"/>
              </a:rPr>
              <a:t>apply</a:t>
            </a:r>
            <a:r>
              <a:rPr dirty="0" sz="2000" spc="-120">
                <a:latin typeface="Trebuchet MS"/>
                <a:cs typeface="Trebuchet MS"/>
              </a:rPr>
              <a:t> </a:t>
            </a:r>
            <a:r>
              <a:rPr dirty="0" sz="2000" spc="-90">
                <a:latin typeface="Trebuchet MS"/>
                <a:cs typeface="Trebuchet MS"/>
              </a:rPr>
              <a:t>the</a:t>
            </a:r>
            <a:r>
              <a:rPr dirty="0" sz="2000" spc="-145">
                <a:latin typeface="Trebuchet MS"/>
                <a:cs typeface="Trebuchet MS"/>
              </a:rPr>
              <a:t> </a:t>
            </a:r>
            <a:r>
              <a:rPr dirty="0" sz="2000" spc="-110">
                <a:latin typeface="Trebuchet MS"/>
                <a:cs typeface="Trebuchet MS"/>
              </a:rPr>
              <a:t>mobile</a:t>
            </a:r>
            <a:r>
              <a:rPr dirty="0" sz="2000" spc="-140">
                <a:latin typeface="Trebuchet MS"/>
                <a:cs typeface="Trebuchet MS"/>
              </a:rPr>
              <a:t> application</a:t>
            </a:r>
            <a:r>
              <a:rPr dirty="0" sz="2000" spc="-20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architecture.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B71E42"/>
              </a:buClr>
              <a:buFont typeface="Arial MT"/>
              <a:buChar char="•"/>
            </a:pP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0"/>
              </a:spcBef>
              <a:buClr>
                <a:srgbClr val="B71E42"/>
              </a:buClr>
              <a:buFont typeface="Arial MT"/>
              <a:buChar char="•"/>
            </a:pPr>
            <a:endParaRPr sz="2000">
              <a:latin typeface="Trebuchet MS"/>
              <a:cs typeface="Trebuchet MS"/>
            </a:endParaRPr>
          </a:p>
          <a:p>
            <a:pPr marL="239395" indent="-226695">
              <a:lnSpc>
                <a:spcPct val="100000"/>
              </a:lnSpc>
              <a:buClr>
                <a:srgbClr val="B71E42"/>
              </a:buClr>
              <a:buFont typeface="Arial MT"/>
              <a:buChar char="•"/>
              <a:tabLst>
                <a:tab pos="239395" algn="l"/>
              </a:tabLst>
            </a:pPr>
            <a:r>
              <a:rPr dirty="0" sz="2000" spc="-150">
                <a:latin typeface="Trebuchet MS"/>
                <a:cs typeface="Trebuchet MS"/>
              </a:rPr>
              <a:t>Evaluate</a:t>
            </a:r>
            <a:r>
              <a:rPr dirty="0" sz="2000" spc="-260">
                <a:latin typeface="Trebuchet MS"/>
                <a:cs typeface="Trebuchet MS"/>
              </a:rPr>
              <a:t> </a:t>
            </a:r>
            <a:r>
              <a:rPr dirty="0" sz="2000" spc="-155">
                <a:latin typeface="Trebuchet MS"/>
                <a:cs typeface="Trebuchet MS"/>
              </a:rPr>
              <a:t>navigation</a:t>
            </a:r>
            <a:r>
              <a:rPr dirty="0" sz="2000" spc="-185">
                <a:latin typeface="Trebuchet MS"/>
                <a:cs typeface="Trebuchet MS"/>
              </a:rPr>
              <a:t> </a:t>
            </a:r>
            <a:r>
              <a:rPr dirty="0" sz="2000" spc="-110">
                <a:latin typeface="Trebuchet MS"/>
                <a:cs typeface="Trebuchet MS"/>
              </a:rPr>
              <a:t>schemes</a:t>
            </a:r>
            <a:r>
              <a:rPr dirty="0" sz="2000" spc="-65">
                <a:latin typeface="Trebuchet MS"/>
                <a:cs typeface="Trebuchet MS"/>
              </a:rPr>
              <a:t> </a:t>
            </a:r>
            <a:r>
              <a:rPr dirty="0" sz="2000" spc="-60">
                <a:latin typeface="Trebuchet MS"/>
                <a:cs typeface="Trebuchet MS"/>
              </a:rPr>
              <a:t>in</a:t>
            </a:r>
            <a:r>
              <a:rPr dirty="0" sz="2000" spc="-105">
                <a:latin typeface="Trebuchet MS"/>
                <a:cs typeface="Trebuchet MS"/>
              </a:rPr>
              <a:t> </a:t>
            </a:r>
            <a:r>
              <a:rPr dirty="0" sz="2000" spc="-110">
                <a:latin typeface="Trebuchet MS"/>
                <a:cs typeface="Trebuchet MS"/>
              </a:rPr>
              <a:t>mobile</a:t>
            </a:r>
            <a:r>
              <a:rPr dirty="0" sz="2000" spc="-15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application.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B71E42"/>
              </a:buClr>
              <a:buFont typeface="Arial MT"/>
              <a:buChar char="•"/>
            </a:pP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50"/>
              </a:spcBef>
              <a:buClr>
                <a:srgbClr val="B71E42"/>
              </a:buClr>
              <a:buFont typeface="Arial MT"/>
              <a:buChar char="•"/>
            </a:pPr>
            <a:endParaRPr sz="2000">
              <a:latin typeface="Trebuchet MS"/>
              <a:cs typeface="Trebuchet MS"/>
            </a:endParaRPr>
          </a:p>
          <a:p>
            <a:pPr marL="239395" indent="-226695">
              <a:lnSpc>
                <a:spcPct val="100000"/>
              </a:lnSpc>
              <a:buClr>
                <a:srgbClr val="B71E42"/>
              </a:buClr>
              <a:buFont typeface="Arial MT"/>
              <a:buChar char="•"/>
              <a:tabLst>
                <a:tab pos="239395" algn="l"/>
              </a:tabLst>
            </a:pPr>
            <a:r>
              <a:rPr dirty="0" sz="2000" spc="-114">
                <a:latin typeface="Trebuchet MS"/>
                <a:cs typeface="Trebuchet MS"/>
              </a:rPr>
              <a:t>Analyze</a:t>
            </a:r>
            <a:r>
              <a:rPr dirty="0" sz="2000" spc="-155">
                <a:latin typeface="Trebuchet MS"/>
                <a:cs typeface="Trebuchet MS"/>
              </a:rPr>
              <a:t> </a:t>
            </a:r>
            <a:r>
              <a:rPr dirty="0" sz="2000" spc="-145">
                <a:latin typeface="Trebuchet MS"/>
                <a:cs typeface="Trebuchet MS"/>
              </a:rPr>
              <a:t>related</a:t>
            </a:r>
            <a:r>
              <a:rPr dirty="0" sz="2000" spc="-120">
                <a:latin typeface="Trebuchet MS"/>
                <a:cs typeface="Trebuchet MS"/>
              </a:rPr>
              <a:t> </a:t>
            </a:r>
            <a:r>
              <a:rPr dirty="0" sz="2000" spc="-125">
                <a:latin typeface="Trebuchet MS"/>
                <a:cs typeface="Trebuchet MS"/>
              </a:rPr>
              <a:t>programming</a:t>
            </a:r>
            <a:r>
              <a:rPr dirty="0" sz="2000" spc="-160">
                <a:latin typeface="Trebuchet MS"/>
                <a:cs typeface="Trebuchet MS"/>
              </a:rPr>
              <a:t> </a:t>
            </a:r>
            <a:r>
              <a:rPr dirty="0" sz="2000" spc="-140">
                <a:latin typeface="Trebuchet MS"/>
                <a:cs typeface="Trebuchet MS"/>
              </a:rPr>
              <a:t>languages</a:t>
            </a:r>
            <a:r>
              <a:rPr dirty="0" sz="2000" spc="-145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to</a:t>
            </a:r>
            <a:r>
              <a:rPr dirty="0" sz="2000" spc="-85">
                <a:latin typeface="Trebuchet MS"/>
                <a:cs typeface="Trebuchet MS"/>
              </a:rPr>
              <a:t> </a:t>
            </a:r>
            <a:r>
              <a:rPr dirty="0" sz="2000" spc="-120">
                <a:latin typeface="Trebuchet MS"/>
                <a:cs typeface="Trebuchet MS"/>
              </a:rPr>
              <a:t>develop</a:t>
            </a:r>
            <a:r>
              <a:rPr dirty="0" sz="2000" spc="-110">
                <a:latin typeface="Trebuchet MS"/>
                <a:cs typeface="Trebuchet MS"/>
              </a:rPr>
              <a:t> </a:t>
            </a:r>
            <a:r>
              <a:rPr dirty="0" sz="2000" spc="-125">
                <a:latin typeface="Trebuchet MS"/>
                <a:cs typeface="Trebuchet MS"/>
              </a:rPr>
              <a:t>basic</a:t>
            </a:r>
            <a:r>
              <a:rPr dirty="0" sz="2000" spc="-150">
                <a:latin typeface="Trebuchet MS"/>
                <a:cs typeface="Trebuchet MS"/>
              </a:rPr>
              <a:t> </a:t>
            </a:r>
            <a:r>
              <a:rPr dirty="0" sz="2000" spc="-145">
                <a:latin typeface="Trebuchet MS"/>
                <a:cs typeface="Trebuchet MS"/>
              </a:rPr>
              <a:t>features</a:t>
            </a:r>
            <a:r>
              <a:rPr dirty="0" sz="2000" spc="-175">
                <a:latin typeface="Trebuchet MS"/>
                <a:cs typeface="Trebuchet MS"/>
              </a:rPr>
              <a:t> </a:t>
            </a:r>
            <a:r>
              <a:rPr dirty="0" sz="2000" spc="-60">
                <a:latin typeface="Trebuchet MS"/>
                <a:cs typeface="Trebuchet MS"/>
              </a:rPr>
              <a:t>in</a:t>
            </a:r>
            <a:r>
              <a:rPr dirty="0" sz="2000" spc="-114">
                <a:latin typeface="Trebuchet MS"/>
                <a:cs typeface="Trebuchet MS"/>
              </a:rPr>
              <a:t> </a:t>
            </a:r>
            <a:r>
              <a:rPr dirty="0" sz="2000" spc="-110">
                <a:latin typeface="Trebuchet MS"/>
                <a:cs typeface="Trebuchet MS"/>
              </a:rPr>
              <a:t>mobile</a:t>
            </a:r>
            <a:r>
              <a:rPr dirty="0" sz="2000" spc="-170">
                <a:latin typeface="Trebuchet MS"/>
                <a:cs typeface="Trebuchet MS"/>
              </a:rPr>
              <a:t> </a:t>
            </a:r>
            <a:r>
              <a:rPr dirty="0" sz="2000" spc="-60">
                <a:latin typeface="Trebuchet MS"/>
                <a:cs typeface="Trebuchet MS"/>
              </a:rPr>
              <a:t>application.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B71E42"/>
              </a:buClr>
              <a:buFont typeface="Arial MT"/>
              <a:buChar char="•"/>
            </a:pP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55"/>
              </a:spcBef>
              <a:buClr>
                <a:srgbClr val="B71E42"/>
              </a:buClr>
              <a:buFont typeface="Arial MT"/>
              <a:buChar char="•"/>
            </a:pPr>
            <a:endParaRPr sz="2000">
              <a:latin typeface="Trebuchet MS"/>
              <a:cs typeface="Trebuchet MS"/>
            </a:endParaRPr>
          </a:p>
          <a:p>
            <a:pPr marL="239395" indent="-226695">
              <a:lnSpc>
                <a:spcPct val="100000"/>
              </a:lnSpc>
              <a:buClr>
                <a:srgbClr val="B71E42"/>
              </a:buClr>
              <a:buFont typeface="Arial MT"/>
              <a:buChar char="•"/>
              <a:tabLst>
                <a:tab pos="239395" algn="l"/>
              </a:tabLst>
            </a:pPr>
            <a:r>
              <a:rPr dirty="0" sz="2000" spc="-105">
                <a:latin typeface="Trebuchet MS"/>
                <a:cs typeface="Trebuchet MS"/>
              </a:rPr>
              <a:t>Display </a:t>
            </a:r>
            <a:r>
              <a:rPr dirty="0" sz="2000" spc="-85">
                <a:latin typeface="Trebuchet MS"/>
                <a:cs typeface="Trebuchet MS"/>
              </a:rPr>
              <a:t>an</a:t>
            </a:r>
            <a:r>
              <a:rPr dirty="0" sz="2000" spc="-155">
                <a:latin typeface="Trebuchet MS"/>
                <a:cs typeface="Trebuchet MS"/>
              </a:rPr>
              <a:t> </a:t>
            </a:r>
            <a:r>
              <a:rPr dirty="0" sz="2000" spc="-125">
                <a:latin typeface="Trebuchet MS"/>
                <a:cs typeface="Trebuchet MS"/>
              </a:rPr>
              <a:t>awareness</a:t>
            </a:r>
            <a:r>
              <a:rPr dirty="0" sz="2000" spc="-175">
                <a:latin typeface="Trebuchet MS"/>
                <a:cs typeface="Trebuchet MS"/>
              </a:rPr>
              <a:t> </a:t>
            </a:r>
            <a:r>
              <a:rPr dirty="0" sz="2000" spc="-70">
                <a:latin typeface="Trebuchet MS"/>
                <a:cs typeface="Trebuchet MS"/>
              </a:rPr>
              <a:t>for</a:t>
            </a:r>
            <a:r>
              <a:rPr dirty="0" sz="2000" spc="-160">
                <a:latin typeface="Trebuchet MS"/>
                <a:cs typeface="Trebuchet MS"/>
              </a:rPr>
              <a:t> </a:t>
            </a:r>
            <a:r>
              <a:rPr dirty="0" sz="2000" spc="-95">
                <a:latin typeface="Trebuchet MS"/>
                <a:cs typeface="Trebuchet MS"/>
              </a:rPr>
              <a:t>continuous</a:t>
            </a:r>
            <a:r>
              <a:rPr dirty="0" sz="2000" spc="-100">
                <a:latin typeface="Trebuchet MS"/>
                <a:cs typeface="Trebuchet MS"/>
              </a:rPr>
              <a:t> </a:t>
            </a:r>
            <a:r>
              <a:rPr dirty="0" sz="2000" spc="-125">
                <a:latin typeface="Trebuchet MS"/>
                <a:cs typeface="Trebuchet MS"/>
              </a:rPr>
              <a:t>learning</a:t>
            </a:r>
            <a:r>
              <a:rPr dirty="0" sz="2000" spc="-180">
                <a:latin typeface="Trebuchet MS"/>
                <a:cs typeface="Trebuchet MS"/>
              </a:rPr>
              <a:t> </a:t>
            </a:r>
            <a:r>
              <a:rPr dirty="0" sz="2000" spc="-95">
                <a:latin typeface="Trebuchet MS"/>
                <a:cs typeface="Trebuchet MS"/>
              </a:rPr>
              <a:t>and</a:t>
            </a:r>
            <a:r>
              <a:rPr dirty="0" sz="2000" spc="-125">
                <a:latin typeface="Trebuchet MS"/>
                <a:cs typeface="Trebuchet MS"/>
              </a:rPr>
              <a:t> </a:t>
            </a:r>
            <a:r>
              <a:rPr dirty="0" sz="2000" spc="-150">
                <a:latin typeface="Trebuchet MS"/>
                <a:cs typeface="Trebuchet MS"/>
              </a:rPr>
              <a:t>analysis</a:t>
            </a:r>
            <a:r>
              <a:rPr dirty="0" sz="2000" spc="-95">
                <a:latin typeface="Trebuchet MS"/>
                <a:cs typeface="Trebuchet MS"/>
              </a:rPr>
              <a:t> </a:t>
            </a:r>
            <a:r>
              <a:rPr dirty="0" sz="2000" spc="-60">
                <a:latin typeface="Trebuchet MS"/>
                <a:cs typeface="Trebuchet MS"/>
              </a:rPr>
              <a:t>of</a:t>
            </a:r>
            <a:r>
              <a:rPr dirty="0" sz="2000" spc="-120">
                <a:latin typeface="Trebuchet MS"/>
                <a:cs typeface="Trebuchet MS"/>
              </a:rPr>
              <a:t> </a:t>
            </a:r>
            <a:r>
              <a:rPr dirty="0" sz="2000" spc="-110">
                <a:latin typeface="Trebuchet MS"/>
                <a:cs typeface="Trebuchet MS"/>
              </a:rPr>
              <a:t>mobile</a:t>
            </a:r>
            <a:r>
              <a:rPr dirty="0" sz="2000" spc="-17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application</a:t>
            </a:r>
            <a:endParaRPr sz="2000">
              <a:latin typeface="Trebuchet MS"/>
              <a:cs typeface="Trebuchet MS"/>
            </a:endParaRPr>
          </a:p>
          <a:p>
            <a:pPr marL="241300">
              <a:lnSpc>
                <a:spcPct val="100000"/>
              </a:lnSpc>
              <a:spcBef>
                <a:spcPts val="315"/>
              </a:spcBef>
            </a:pPr>
            <a:r>
              <a:rPr dirty="0" sz="2000" spc="-10">
                <a:latin typeface="Trebuchet MS"/>
                <a:cs typeface="Trebuchet MS"/>
              </a:rPr>
              <a:t>technology.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56182" y="184937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 h="0">
                <a:moveTo>
                  <a:pt x="0" y="0"/>
                </a:moveTo>
                <a:lnTo>
                  <a:pt x="9607296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47291" y="1039444"/>
            <a:ext cx="500761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210">
                <a:solidFill>
                  <a:srgbClr val="000000"/>
                </a:solidFill>
              </a:rPr>
              <a:t>CONTINUOUS</a:t>
            </a:r>
            <a:r>
              <a:rPr dirty="0" sz="3200" spc="-229">
                <a:solidFill>
                  <a:srgbClr val="000000"/>
                </a:solidFill>
              </a:rPr>
              <a:t> </a:t>
            </a:r>
            <a:r>
              <a:rPr dirty="0" sz="3200" spc="-10">
                <a:solidFill>
                  <a:srgbClr val="000000"/>
                </a:solidFill>
              </a:rPr>
              <a:t>ASSESSMENT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447291" y="2042639"/>
            <a:ext cx="3529329" cy="238633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695960" indent="-22606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695960" algn="l"/>
              </a:tabLst>
            </a:pPr>
            <a:r>
              <a:rPr dirty="0" sz="2800" spc="-10">
                <a:latin typeface="Calibri"/>
                <a:cs typeface="Calibri"/>
              </a:rPr>
              <a:t>Assignment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1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(40%)</a:t>
            </a:r>
            <a:endParaRPr sz="2800">
              <a:latin typeface="Calibri"/>
              <a:cs typeface="Calibri"/>
            </a:endParaRPr>
          </a:p>
          <a:p>
            <a:pPr marL="695960" indent="-22606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5960" algn="l"/>
              </a:tabLst>
            </a:pPr>
            <a:r>
              <a:rPr dirty="0" sz="2800" spc="-10">
                <a:latin typeface="Calibri"/>
                <a:cs typeface="Calibri"/>
              </a:rPr>
              <a:t>Assignment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2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(30%)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10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3200" b="1">
                <a:solidFill>
                  <a:srgbClr val="006DC0"/>
                </a:solidFill>
                <a:latin typeface="Calibri"/>
                <a:cs typeface="Calibri"/>
              </a:rPr>
              <a:t>Final</a:t>
            </a:r>
            <a:r>
              <a:rPr dirty="0" sz="3200" spc="-55" b="1">
                <a:solidFill>
                  <a:srgbClr val="006DC0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6DC0"/>
                </a:solidFill>
                <a:latin typeface="Calibri"/>
                <a:cs typeface="Calibri"/>
              </a:rPr>
              <a:t>Assessment</a:t>
            </a:r>
            <a:endParaRPr sz="3200">
              <a:latin typeface="Calibri"/>
              <a:cs typeface="Calibri"/>
            </a:endParaRPr>
          </a:p>
          <a:p>
            <a:pPr marL="695960" indent="-226060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5960" algn="l"/>
              </a:tabLst>
            </a:pPr>
            <a:r>
              <a:rPr dirty="0" sz="2800">
                <a:latin typeface="Calibri"/>
                <a:cs typeface="Calibri"/>
              </a:rPr>
              <a:t>Final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project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(30%)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27482" y="78104"/>
            <a:ext cx="64369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Calibri"/>
                <a:cs typeface="Calibri"/>
              </a:rPr>
              <a:t>Course</a:t>
            </a:r>
            <a:r>
              <a:rPr dirty="0" sz="2800" spc="-114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Calibri"/>
                <a:cs typeface="Calibri"/>
              </a:rPr>
              <a:t>Introduction</a:t>
            </a:r>
            <a:r>
              <a:rPr dirty="0" sz="2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2800" spc="-1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FFFFFF"/>
                </a:solidFill>
                <a:latin typeface="Calibri"/>
                <a:cs typeface="Calibri"/>
              </a:rPr>
              <a:t>Assessment</a:t>
            </a:r>
            <a:r>
              <a:rPr dirty="0" sz="2800" spc="-1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Calibri"/>
                <a:cs typeface="Calibri"/>
              </a:rPr>
              <a:t>Structure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292" y="168021"/>
            <a:ext cx="10728325" cy="377062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Calibri"/>
                <a:cs typeface="Calibri"/>
              </a:rPr>
              <a:t>Course</a:t>
            </a:r>
            <a:r>
              <a:rPr dirty="0" sz="2800" spc="-1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Calibri"/>
                <a:cs typeface="Calibri"/>
              </a:rPr>
              <a:t>Introduction</a:t>
            </a:r>
            <a:r>
              <a:rPr dirty="0" sz="280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2800" spc="-1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Calibri"/>
                <a:cs typeface="Calibri"/>
              </a:rPr>
              <a:t>Expectation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2800">
              <a:latin typeface="Calibri"/>
              <a:cs typeface="Calibri"/>
            </a:endParaRPr>
          </a:p>
          <a:p>
            <a:pPr marL="682625" indent="-227965">
              <a:lnSpc>
                <a:spcPct val="100000"/>
              </a:lnSpc>
              <a:buFont typeface="Arial MT"/>
              <a:buChar char="•"/>
              <a:tabLst>
                <a:tab pos="682625" algn="l"/>
              </a:tabLst>
            </a:pPr>
            <a:r>
              <a:rPr dirty="0" sz="3600" spc="-10">
                <a:latin typeface="Calibri"/>
                <a:cs typeface="Calibri"/>
              </a:rPr>
              <a:t>Punctual</a:t>
            </a:r>
            <a:endParaRPr sz="3600">
              <a:latin typeface="Calibri"/>
              <a:cs typeface="Calibri"/>
            </a:endParaRPr>
          </a:p>
          <a:p>
            <a:pPr marL="683260" marR="1224915" indent="-228600">
              <a:lnSpc>
                <a:spcPts val="3900"/>
              </a:lnSpc>
              <a:spcBef>
                <a:spcPts val="1260"/>
              </a:spcBef>
              <a:buFont typeface="Arial MT"/>
              <a:buChar char="•"/>
              <a:tabLst>
                <a:tab pos="683260" algn="l"/>
              </a:tabLst>
            </a:pPr>
            <a:r>
              <a:rPr dirty="0" sz="3600">
                <a:latin typeface="Calibri"/>
                <a:cs typeface="Calibri"/>
              </a:rPr>
              <a:t>Alert</a:t>
            </a:r>
            <a:r>
              <a:rPr dirty="0" sz="3600" spc="-114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to</a:t>
            </a:r>
            <a:r>
              <a:rPr dirty="0" sz="3600" spc="-130">
                <a:latin typeface="Calibri"/>
                <a:cs typeface="Calibri"/>
              </a:rPr>
              <a:t> </a:t>
            </a:r>
            <a:r>
              <a:rPr dirty="0" sz="3600" spc="-30">
                <a:latin typeface="Calibri"/>
                <a:cs typeface="Calibri"/>
              </a:rPr>
              <a:t>course</a:t>
            </a:r>
            <a:r>
              <a:rPr dirty="0" sz="3600" spc="-1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announcements</a:t>
            </a:r>
            <a:r>
              <a:rPr dirty="0" sz="3600" spc="-1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and</a:t>
            </a:r>
            <a:r>
              <a:rPr dirty="0" sz="3600" spc="-95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assessment instructions</a:t>
            </a:r>
            <a:endParaRPr sz="3600">
              <a:latin typeface="Calibri"/>
              <a:cs typeface="Calibri"/>
            </a:endParaRPr>
          </a:p>
          <a:p>
            <a:pPr marL="683260" marR="5080" indent="-228600">
              <a:lnSpc>
                <a:spcPts val="3900"/>
              </a:lnSpc>
              <a:spcBef>
                <a:spcPts val="1000"/>
              </a:spcBef>
              <a:buFont typeface="Arial MT"/>
              <a:buChar char="•"/>
              <a:tabLst>
                <a:tab pos="683260" algn="l"/>
              </a:tabLst>
            </a:pPr>
            <a:r>
              <a:rPr dirty="0" sz="3600">
                <a:latin typeface="Calibri"/>
                <a:cs typeface="Calibri"/>
              </a:rPr>
              <a:t>No</a:t>
            </a:r>
            <a:r>
              <a:rPr dirty="0" sz="3600" spc="-16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late</a:t>
            </a:r>
            <a:r>
              <a:rPr dirty="0" sz="3600" spc="-155">
                <a:latin typeface="Calibri"/>
                <a:cs typeface="Calibri"/>
              </a:rPr>
              <a:t> </a:t>
            </a:r>
            <a:r>
              <a:rPr dirty="0" sz="3600" spc="-20">
                <a:latin typeface="Calibri"/>
                <a:cs typeface="Calibri"/>
              </a:rPr>
              <a:t>submission</a:t>
            </a:r>
            <a:r>
              <a:rPr dirty="0" sz="3600" spc="-1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of</a:t>
            </a:r>
            <a:r>
              <a:rPr dirty="0" sz="3600" spc="-125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assessment</a:t>
            </a:r>
            <a:r>
              <a:rPr dirty="0" sz="3600" spc="-9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tasks</a:t>
            </a:r>
            <a:r>
              <a:rPr dirty="0" sz="3600" spc="-9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without</a:t>
            </a:r>
            <a:r>
              <a:rPr dirty="0" sz="3600" spc="-17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</a:t>
            </a:r>
            <a:r>
              <a:rPr dirty="0" sz="3600" spc="-14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valid reason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292" y="168021"/>
            <a:ext cx="8482330" cy="4352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0" b="1">
                <a:solidFill>
                  <a:srgbClr val="FFFFFF"/>
                </a:solidFill>
                <a:latin typeface="Calibri"/>
                <a:cs typeface="Calibri"/>
              </a:rPr>
              <a:t>Course</a:t>
            </a:r>
            <a:r>
              <a:rPr dirty="0" sz="2800" spc="-1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Calibri"/>
                <a:cs typeface="Calibri"/>
              </a:rPr>
              <a:t>Introduction</a:t>
            </a:r>
            <a:r>
              <a:rPr dirty="0" sz="2800" spc="-9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2800" spc="-1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FFFFFF"/>
                </a:solidFill>
                <a:latin typeface="Calibri"/>
                <a:cs typeface="Calibri"/>
              </a:rPr>
              <a:t>Lecturer</a:t>
            </a:r>
            <a:r>
              <a:rPr dirty="0" sz="28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FFFFFF"/>
                </a:solidFill>
                <a:latin typeface="Calibri"/>
                <a:cs typeface="Calibri"/>
              </a:rPr>
              <a:t>Contact</a:t>
            </a:r>
            <a:r>
              <a:rPr dirty="0" sz="2800" spc="-1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Calibri"/>
                <a:cs typeface="Calibri"/>
              </a:rPr>
              <a:t>Information</a:t>
            </a:r>
            <a:endParaRPr sz="2800">
              <a:latin typeface="Calibri"/>
              <a:cs typeface="Calibri"/>
            </a:endParaRPr>
          </a:p>
          <a:p>
            <a:pPr marL="768985" indent="-226060">
              <a:lnSpc>
                <a:spcPct val="100000"/>
              </a:lnSpc>
              <a:spcBef>
                <a:spcPts val="3285"/>
              </a:spcBef>
              <a:buFont typeface="Arial MT"/>
              <a:buChar char="•"/>
              <a:tabLst>
                <a:tab pos="768985" algn="l"/>
              </a:tabLst>
            </a:pPr>
            <a:r>
              <a:rPr dirty="0" sz="3200" spc="-25">
                <a:latin typeface="Calibri"/>
                <a:cs typeface="Calibri"/>
              </a:rPr>
              <a:t>Lecturer: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 spc="-95">
                <a:latin typeface="Calibri"/>
                <a:cs typeface="Calibri"/>
              </a:rPr>
              <a:t>Nurul</a:t>
            </a:r>
            <a:r>
              <a:rPr dirty="0" sz="3200" spc="-2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Amera</a:t>
            </a:r>
            <a:endParaRPr sz="3200">
              <a:latin typeface="Calibri"/>
              <a:cs typeface="Calibri"/>
            </a:endParaRPr>
          </a:p>
          <a:p>
            <a:pPr marL="770255" indent="-227329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770255" algn="l"/>
              </a:tabLst>
            </a:pPr>
            <a:r>
              <a:rPr dirty="0" sz="3200">
                <a:latin typeface="Calibri"/>
                <a:cs typeface="Calibri"/>
              </a:rPr>
              <a:t>Email:</a:t>
            </a:r>
            <a:r>
              <a:rPr dirty="0" sz="3200" spc="-145">
                <a:latin typeface="Calibri"/>
                <a:cs typeface="Calibri"/>
              </a:rPr>
              <a:t> </a:t>
            </a:r>
            <a:r>
              <a:rPr dirty="0" u="sng" sz="3200" spc="-10">
                <a:solidFill>
                  <a:srgbClr val="F82B5C"/>
                </a:solidFill>
                <a:uFill>
                  <a:solidFill>
                    <a:srgbClr val="0460C1"/>
                  </a:solidFill>
                </a:uFill>
                <a:latin typeface="Calibri"/>
                <a:cs typeface="Calibri"/>
                <a:hlinkClick r:id="rId2"/>
              </a:rPr>
              <a:t>nurulamera.nazmi@xmu.edu.my</a:t>
            </a:r>
            <a:endParaRPr sz="3200">
              <a:latin typeface="Calibri"/>
              <a:cs typeface="Calibri"/>
            </a:endParaRPr>
          </a:p>
          <a:p>
            <a:pPr marL="768985" indent="-22606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768985" algn="l"/>
              </a:tabLst>
            </a:pPr>
            <a:r>
              <a:rPr dirty="0" sz="3200" spc="-30">
                <a:latin typeface="Calibri"/>
                <a:cs typeface="Calibri"/>
              </a:rPr>
              <a:t>Consultation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Hours</a:t>
            </a:r>
            <a:r>
              <a:rPr dirty="0" sz="3200" spc="-150">
                <a:latin typeface="Calibri"/>
                <a:cs typeface="Calibri"/>
              </a:rPr>
              <a:t> </a:t>
            </a:r>
            <a:r>
              <a:rPr dirty="0" sz="3200" spc="-35">
                <a:latin typeface="Calibri"/>
                <a:cs typeface="Calibri"/>
              </a:rPr>
              <a:t>(Appointment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basis)</a:t>
            </a:r>
            <a:endParaRPr sz="3200">
              <a:latin typeface="Calibri"/>
              <a:cs typeface="Calibri"/>
            </a:endParaRPr>
          </a:p>
          <a:p>
            <a:pPr lvl="1" marL="1228725" indent="-22860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228725" algn="l"/>
              </a:tabLst>
            </a:pPr>
            <a:r>
              <a:rPr dirty="0" sz="3000" spc="-30">
                <a:latin typeface="Calibri"/>
                <a:cs typeface="Calibri"/>
              </a:rPr>
              <a:t>Friday: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12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pm</a:t>
            </a:r>
            <a:r>
              <a:rPr dirty="0" sz="3000" spc="-9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–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3</a:t>
            </a:r>
            <a:r>
              <a:rPr dirty="0" sz="3000" spc="-10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pm</a:t>
            </a:r>
            <a:endParaRPr sz="3000">
              <a:latin typeface="Calibri"/>
              <a:cs typeface="Calibri"/>
            </a:endParaRPr>
          </a:p>
          <a:p>
            <a:pPr lvl="1" marL="1228725" indent="-228600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1228725" algn="l"/>
              </a:tabLst>
            </a:pPr>
            <a:r>
              <a:rPr dirty="0" sz="3000" spc="-20">
                <a:latin typeface="Calibri"/>
                <a:cs typeface="Calibri"/>
              </a:rPr>
              <a:t>Thursday:</a:t>
            </a:r>
            <a:r>
              <a:rPr dirty="0" sz="3000" spc="-1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10am</a:t>
            </a:r>
            <a:r>
              <a:rPr dirty="0" sz="3000" spc="-10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–</a:t>
            </a:r>
            <a:r>
              <a:rPr dirty="0" sz="3000" spc="-90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11am</a:t>
            </a:r>
            <a:endParaRPr sz="3000">
              <a:latin typeface="Calibri"/>
              <a:cs typeface="Calibri"/>
            </a:endParaRPr>
          </a:p>
          <a:p>
            <a:pPr marL="1000125" marR="5080">
              <a:lnSpc>
                <a:spcPts val="3200"/>
              </a:lnSpc>
              <a:spcBef>
                <a:spcPts val="735"/>
              </a:spcBef>
            </a:pPr>
            <a:r>
              <a:rPr dirty="0" sz="3000">
                <a:latin typeface="Calibri"/>
                <a:cs typeface="Calibri"/>
              </a:rPr>
              <a:t>(Please</a:t>
            </a:r>
            <a:r>
              <a:rPr dirty="0" sz="3000" spc="-1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email</a:t>
            </a:r>
            <a:r>
              <a:rPr dirty="0" sz="3000" spc="-1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or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 spc="-130">
                <a:latin typeface="Calibri"/>
                <a:cs typeface="Calibri"/>
              </a:rPr>
              <a:t>Team</a:t>
            </a:r>
            <a:r>
              <a:rPr dirty="0" sz="3000" spc="-2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Chat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me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 spc="-35">
                <a:latin typeface="Calibri"/>
                <a:cs typeface="Calibri"/>
              </a:rPr>
              <a:t>before</a:t>
            </a:r>
            <a:r>
              <a:rPr dirty="0" sz="3000" spc="-105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coming</a:t>
            </a:r>
            <a:r>
              <a:rPr dirty="0" sz="3000" spc="-9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for </a:t>
            </a:r>
            <a:r>
              <a:rPr dirty="0" sz="3000" spc="-10">
                <a:latin typeface="Calibri"/>
                <a:cs typeface="Calibri"/>
              </a:rPr>
              <a:t>consultation)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12648" y="600453"/>
            <a:ext cx="548640" cy="73025"/>
          </a:xfrm>
          <a:custGeom>
            <a:avLst/>
            <a:gdLst/>
            <a:ahLst/>
            <a:cxnLst/>
            <a:rect l="l" t="t" r="r" b="b"/>
            <a:pathLst>
              <a:path w="548640" h="73025">
                <a:moveTo>
                  <a:pt x="548640" y="0"/>
                </a:moveTo>
                <a:lnTo>
                  <a:pt x="0" y="0"/>
                </a:lnTo>
                <a:lnTo>
                  <a:pt x="0" y="72773"/>
                </a:lnTo>
                <a:lnTo>
                  <a:pt x="548640" y="72773"/>
                </a:lnTo>
                <a:lnTo>
                  <a:pt x="548640" y="0"/>
                </a:lnTo>
                <a:close/>
              </a:path>
            </a:pathLst>
          </a:custGeom>
          <a:solidFill>
            <a:srgbClr val="EB7A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08583" y="1191844"/>
            <a:ext cx="6243320" cy="1714500"/>
          </a:xfrm>
          <a:prstGeom prst="rect"/>
        </p:spPr>
        <p:txBody>
          <a:bodyPr wrap="square" lIns="0" tIns="83185" rIns="0" bIns="0" rtlCol="0" vert="horz">
            <a:spAutoFit/>
          </a:bodyPr>
          <a:lstStyle/>
          <a:p>
            <a:pPr marL="94615" marR="1116965">
              <a:lnSpc>
                <a:spcPts val="4300"/>
              </a:lnSpc>
              <a:spcBef>
                <a:spcPts val="655"/>
              </a:spcBef>
            </a:pPr>
            <a:r>
              <a:rPr dirty="0" sz="4000" spc="210">
                <a:solidFill>
                  <a:srgbClr val="000000"/>
                </a:solidFill>
              </a:rPr>
              <a:t>INTRODUCTION</a:t>
            </a:r>
            <a:r>
              <a:rPr dirty="0" sz="4000" spc="-170">
                <a:solidFill>
                  <a:srgbClr val="000000"/>
                </a:solidFill>
              </a:rPr>
              <a:t> </a:t>
            </a:r>
            <a:r>
              <a:rPr dirty="0" sz="4000" spc="-25">
                <a:solidFill>
                  <a:srgbClr val="000000"/>
                </a:solidFill>
              </a:rPr>
              <a:t>TO </a:t>
            </a:r>
            <a:r>
              <a:rPr dirty="0" sz="4000">
                <a:solidFill>
                  <a:srgbClr val="000000"/>
                </a:solidFill>
              </a:rPr>
              <a:t>MOBILE</a:t>
            </a:r>
            <a:r>
              <a:rPr dirty="0" sz="4000" spc="980">
                <a:solidFill>
                  <a:srgbClr val="000000"/>
                </a:solidFill>
              </a:rPr>
              <a:t> </a:t>
            </a:r>
            <a:r>
              <a:rPr dirty="0" sz="4000" spc="45">
                <a:solidFill>
                  <a:srgbClr val="000000"/>
                </a:solidFill>
              </a:rPr>
              <a:t>APPLICATION</a:t>
            </a:r>
            <a:endParaRPr sz="4000"/>
          </a:p>
          <a:p>
            <a:pPr marL="12700">
              <a:lnSpc>
                <a:spcPts val="4140"/>
              </a:lnSpc>
              <a:tabLst>
                <a:tab pos="6229985" algn="l"/>
              </a:tabLst>
            </a:pPr>
            <a:r>
              <a:rPr dirty="0" u="sng" sz="4000" spc="-570">
                <a:solidFill>
                  <a:srgbClr val="000000"/>
                </a:solidFill>
                <a:uFill>
                  <a:solidFill>
                    <a:srgbClr val="D2D2D2"/>
                  </a:solidFill>
                </a:uFill>
              </a:rPr>
              <a:t> </a:t>
            </a:r>
            <a:r>
              <a:rPr dirty="0" u="sng" sz="4000" spc="-30">
                <a:solidFill>
                  <a:srgbClr val="000000"/>
                </a:solidFill>
                <a:uFill>
                  <a:solidFill>
                    <a:srgbClr val="D2D2D2"/>
                  </a:solidFill>
                </a:uFill>
              </a:rPr>
              <a:t>SYSTEM</a:t>
            </a:r>
            <a:r>
              <a:rPr dirty="0" u="sng" sz="4000" spc="-250">
                <a:solidFill>
                  <a:srgbClr val="000000"/>
                </a:solidFill>
                <a:uFill>
                  <a:solidFill>
                    <a:srgbClr val="D2D2D2"/>
                  </a:solidFill>
                </a:uFill>
              </a:rPr>
              <a:t> </a:t>
            </a:r>
            <a:r>
              <a:rPr dirty="0" u="sng" sz="4000" spc="95">
                <a:solidFill>
                  <a:srgbClr val="000000"/>
                </a:solidFill>
                <a:uFill>
                  <a:solidFill>
                    <a:srgbClr val="D2D2D2"/>
                  </a:solidFill>
                </a:uFill>
              </a:rPr>
              <a:t>DESIGN</a:t>
            </a:r>
            <a:r>
              <a:rPr dirty="0" u="sng" sz="4000">
                <a:solidFill>
                  <a:srgbClr val="000000"/>
                </a:solidFill>
                <a:uFill>
                  <a:solidFill>
                    <a:srgbClr val="D2D2D2"/>
                  </a:solidFill>
                </a:uFill>
              </a:rPr>
              <a:t>	</a:t>
            </a:r>
            <a:endParaRPr sz="40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4007" y="0"/>
            <a:ext cx="4507992" cy="29352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90778" y="3104579"/>
            <a:ext cx="6124575" cy="245745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algn="just" marL="237490" indent="-224790">
              <a:lnSpc>
                <a:spcPct val="100000"/>
              </a:lnSpc>
              <a:spcBef>
                <a:spcPts val="415"/>
              </a:spcBef>
              <a:buFont typeface="Arial MT"/>
              <a:buChar char="•"/>
              <a:tabLst>
                <a:tab pos="237490" algn="l"/>
              </a:tabLst>
            </a:pPr>
            <a:r>
              <a:rPr dirty="0" sz="2000">
                <a:latin typeface="Calibri"/>
                <a:cs typeface="Calibri"/>
              </a:rPr>
              <a:t>What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mobile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application?</a:t>
            </a:r>
            <a:endParaRPr sz="2000">
              <a:latin typeface="Calibri"/>
              <a:cs typeface="Calibri"/>
            </a:endParaRPr>
          </a:p>
          <a:p>
            <a:pPr algn="just" lvl="1" marL="694055" marR="5080" indent="-224790">
              <a:lnSpc>
                <a:spcPts val="2210"/>
              </a:lnSpc>
              <a:spcBef>
                <a:spcPts val="5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000">
                <a:latin typeface="Calibri"/>
                <a:cs typeface="Calibri"/>
              </a:rPr>
              <a:t>A mobile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application,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most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commonly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called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app,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software </a:t>
            </a:r>
            <a:r>
              <a:rPr dirty="0" sz="2000">
                <a:latin typeface="Calibri"/>
                <a:cs typeface="Calibri"/>
              </a:rPr>
              <a:t>designed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 run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 a mobile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device,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such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smartphone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computer.</a:t>
            </a:r>
            <a:endParaRPr sz="2000">
              <a:latin typeface="Calibri"/>
              <a:cs typeface="Calibri"/>
            </a:endParaRPr>
          </a:p>
          <a:p>
            <a:pPr lvl="1" marL="695960" marR="138430" indent="-226695">
              <a:lnSpc>
                <a:spcPct val="91700"/>
              </a:lnSpc>
              <a:spcBef>
                <a:spcPts val="45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000">
                <a:latin typeface="Calibri"/>
                <a:cs typeface="Calibri"/>
              </a:rPr>
              <a:t>Mobile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applications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frequently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provide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similar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services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those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PCs.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Apps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are 	generally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small,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individual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software</a:t>
            </a:r>
            <a:r>
              <a:rPr dirty="0" sz="20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units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with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limited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functions.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172966"/>
            <a:ext cx="12192000" cy="3685540"/>
            <a:chOff x="0" y="3172966"/>
            <a:chExt cx="12192000" cy="368554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84007" y="3172966"/>
              <a:ext cx="4507992" cy="368503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6155436"/>
              <a:ext cx="12192000" cy="702945"/>
            </a:xfrm>
            <a:custGeom>
              <a:avLst/>
              <a:gdLst/>
              <a:ahLst/>
              <a:cxnLst/>
              <a:rect l="l" t="t" r="r" b="b"/>
              <a:pathLst>
                <a:path w="12192000" h="702945">
                  <a:moveTo>
                    <a:pt x="12192000" y="0"/>
                  </a:moveTo>
                  <a:lnTo>
                    <a:pt x="0" y="0"/>
                  </a:lnTo>
                  <a:lnTo>
                    <a:pt x="0" y="702436"/>
                  </a:lnTo>
                  <a:lnTo>
                    <a:pt x="12192000" y="702436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87162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292" y="168021"/>
            <a:ext cx="7480300" cy="32435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0" b="1">
                <a:solidFill>
                  <a:srgbClr val="FFFFFF"/>
                </a:solidFill>
                <a:latin typeface="Calibri"/>
                <a:cs typeface="Calibri"/>
              </a:rPr>
              <a:t>Introduction</a:t>
            </a:r>
            <a:r>
              <a:rPr dirty="0" sz="2800" spc="-9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800" spc="-1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2800" spc="-9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2800">
              <a:latin typeface="Calibri"/>
              <a:cs typeface="Calibri"/>
            </a:endParaRPr>
          </a:p>
          <a:p>
            <a:pPr marL="682625" indent="-227965">
              <a:lnSpc>
                <a:spcPct val="100000"/>
              </a:lnSpc>
              <a:buFont typeface="Arial MT"/>
              <a:buChar char="•"/>
              <a:tabLst>
                <a:tab pos="682625" algn="l"/>
              </a:tabLst>
            </a:pPr>
            <a:r>
              <a:rPr dirty="0" sz="4000" spc="-10">
                <a:latin typeface="Calibri"/>
                <a:cs typeface="Calibri"/>
              </a:rPr>
              <a:t>Three</a:t>
            </a:r>
            <a:r>
              <a:rPr dirty="0" sz="4000" spc="-185">
                <a:latin typeface="Calibri"/>
                <a:cs typeface="Calibri"/>
              </a:rPr>
              <a:t> </a:t>
            </a:r>
            <a:r>
              <a:rPr dirty="0" sz="4000">
                <a:latin typeface="Calibri"/>
                <a:cs typeface="Calibri"/>
              </a:rPr>
              <a:t>main</a:t>
            </a:r>
            <a:r>
              <a:rPr dirty="0" sz="4000" spc="-160">
                <a:latin typeface="Calibri"/>
                <a:cs typeface="Calibri"/>
              </a:rPr>
              <a:t> </a:t>
            </a:r>
            <a:r>
              <a:rPr dirty="0" sz="4000">
                <a:latin typeface="Calibri"/>
                <a:cs typeface="Calibri"/>
              </a:rPr>
              <a:t>types</a:t>
            </a:r>
            <a:r>
              <a:rPr dirty="0" sz="4000" spc="-180">
                <a:latin typeface="Calibri"/>
                <a:cs typeface="Calibri"/>
              </a:rPr>
              <a:t> </a:t>
            </a:r>
            <a:r>
              <a:rPr dirty="0" sz="4000">
                <a:latin typeface="Calibri"/>
                <a:cs typeface="Calibri"/>
              </a:rPr>
              <a:t>of</a:t>
            </a:r>
            <a:r>
              <a:rPr dirty="0" sz="4000" spc="-145">
                <a:latin typeface="Calibri"/>
                <a:cs typeface="Calibri"/>
              </a:rPr>
              <a:t> </a:t>
            </a:r>
            <a:r>
              <a:rPr dirty="0" sz="4000">
                <a:latin typeface="Calibri"/>
                <a:cs typeface="Calibri"/>
              </a:rPr>
              <a:t>mobile</a:t>
            </a:r>
            <a:r>
              <a:rPr dirty="0" sz="4000" spc="-180">
                <a:latin typeface="Calibri"/>
                <a:cs typeface="Calibri"/>
              </a:rPr>
              <a:t> </a:t>
            </a:r>
            <a:r>
              <a:rPr dirty="0" sz="4000" spc="-10">
                <a:latin typeface="Calibri"/>
                <a:cs typeface="Calibri"/>
              </a:rPr>
              <a:t>apps:</a:t>
            </a:r>
            <a:endParaRPr sz="4000">
              <a:latin typeface="Calibri"/>
              <a:cs typeface="Calibri"/>
            </a:endParaRPr>
          </a:p>
          <a:p>
            <a:pPr lvl="1" marL="1139825" indent="-22796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1139825" algn="l"/>
              </a:tabLst>
            </a:pPr>
            <a:r>
              <a:rPr dirty="0" sz="3600" spc="-10">
                <a:latin typeface="Calibri"/>
                <a:cs typeface="Calibri"/>
              </a:rPr>
              <a:t>Native</a:t>
            </a:r>
            <a:endParaRPr sz="3600">
              <a:latin typeface="Calibri"/>
              <a:cs typeface="Calibri"/>
            </a:endParaRPr>
          </a:p>
          <a:p>
            <a:pPr lvl="1" marL="113982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139825" algn="l"/>
              </a:tabLst>
            </a:pPr>
            <a:r>
              <a:rPr dirty="0" sz="3600" spc="-25">
                <a:latin typeface="Calibri"/>
                <a:cs typeface="Calibri"/>
              </a:rPr>
              <a:t>Web</a:t>
            </a:r>
            <a:endParaRPr sz="3600">
              <a:latin typeface="Calibri"/>
              <a:cs typeface="Calibri"/>
            </a:endParaRPr>
          </a:p>
          <a:p>
            <a:pPr lvl="1" marL="1139825" indent="-22796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1139825" algn="l"/>
              </a:tabLst>
            </a:pPr>
            <a:r>
              <a:rPr dirty="0" sz="3600" spc="-10">
                <a:latin typeface="Calibri"/>
                <a:cs typeface="Calibri"/>
              </a:rPr>
              <a:t>Hybrid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35863" y="1289761"/>
            <a:ext cx="7208520" cy="46818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38810">
              <a:lnSpc>
                <a:spcPct val="100000"/>
              </a:lnSpc>
              <a:spcBef>
                <a:spcPts val="105"/>
              </a:spcBef>
            </a:pPr>
            <a:r>
              <a:rPr dirty="0" sz="3200" spc="-30">
                <a:latin typeface="Calibri"/>
                <a:cs typeface="Calibri"/>
              </a:rPr>
              <a:t>Native</a:t>
            </a:r>
            <a:r>
              <a:rPr dirty="0" sz="3200" spc="-1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Mobile</a:t>
            </a:r>
            <a:r>
              <a:rPr dirty="0" sz="3200" spc="-15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App</a:t>
            </a:r>
            <a:endParaRPr sz="3200">
              <a:latin typeface="Calibri"/>
              <a:cs typeface="Calibri"/>
            </a:endParaRPr>
          </a:p>
          <a:p>
            <a:pPr marL="252729" indent="-240029">
              <a:lnSpc>
                <a:spcPct val="100000"/>
              </a:lnSpc>
              <a:spcBef>
                <a:spcPts val="1660"/>
              </a:spcBef>
              <a:buSzPct val="90909"/>
              <a:buFont typeface="Wingdings"/>
              <a:buChar char=""/>
              <a:tabLst>
                <a:tab pos="252729" algn="l"/>
              </a:tabLst>
            </a:pPr>
            <a:r>
              <a:rPr dirty="0" sz="2200">
                <a:latin typeface="Calibri"/>
                <a:cs typeface="Calibri"/>
              </a:rPr>
              <a:t>App</a:t>
            </a:r>
            <a:r>
              <a:rPr dirty="0" sz="2200" spc="-9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9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developed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9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one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particular</a:t>
            </a:r>
            <a:r>
              <a:rPr dirty="0" sz="2200" spc="-1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operating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system</a:t>
            </a:r>
            <a:endParaRPr sz="2200">
              <a:latin typeface="Calibri"/>
              <a:cs typeface="Calibri"/>
            </a:endParaRPr>
          </a:p>
          <a:p>
            <a:pPr marL="242570" marR="801370" indent="-230504">
              <a:lnSpc>
                <a:spcPct val="150000"/>
              </a:lnSpc>
              <a:spcBef>
                <a:spcPts val="100"/>
              </a:spcBef>
              <a:buSzPct val="90909"/>
              <a:buFont typeface="Wingdings"/>
              <a:buChar char=""/>
              <a:tabLst>
                <a:tab pos="242570" algn="l"/>
                <a:tab pos="252729" algn="l"/>
              </a:tabLst>
            </a:pP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10">
                <a:latin typeface="Calibri"/>
                <a:cs typeface="Calibri"/>
              </a:rPr>
              <a:t>Native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mobile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apps</a:t>
            </a:r>
            <a:r>
              <a:rPr dirty="0" sz="2200" spc="-10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114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designed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“native”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0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one </a:t>
            </a:r>
            <a:r>
              <a:rPr dirty="0" sz="2200" spc="-35">
                <a:latin typeface="Calibri"/>
                <a:cs typeface="Calibri"/>
              </a:rPr>
              <a:t>platform,</a:t>
            </a:r>
            <a:r>
              <a:rPr dirty="0" sz="2200" spc="-1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whether</a:t>
            </a:r>
            <a:r>
              <a:rPr dirty="0" sz="2200" spc="-105">
                <a:latin typeface="Calibri"/>
                <a:cs typeface="Calibri"/>
              </a:rPr>
              <a:t> </a:t>
            </a:r>
            <a:r>
              <a:rPr dirty="0" sz="2200" spc="-30">
                <a:latin typeface="Calibri"/>
                <a:cs typeface="Calibri"/>
              </a:rPr>
              <a:t>it’s</a:t>
            </a:r>
            <a:r>
              <a:rPr dirty="0" sz="2200" spc="-110">
                <a:latin typeface="Calibri"/>
                <a:cs typeface="Calibri"/>
              </a:rPr>
              <a:t> </a:t>
            </a:r>
            <a:r>
              <a:rPr dirty="0" sz="2200" spc="-45">
                <a:latin typeface="Calibri"/>
                <a:cs typeface="Calibri"/>
              </a:rPr>
              <a:t>Apple’s</a:t>
            </a:r>
            <a:r>
              <a:rPr dirty="0" sz="2200" spc="-1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iOS,</a:t>
            </a:r>
            <a:r>
              <a:rPr dirty="0" sz="2200" spc="-9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Google’s</a:t>
            </a:r>
            <a:r>
              <a:rPr dirty="0" sz="2200" spc="30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Android,</a:t>
            </a:r>
            <a:r>
              <a:rPr dirty="0" sz="2200" spc="-11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or </a:t>
            </a:r>
            <a:r>
              <a:rPr dirty="0" sz="2200" spc="-10">
                <a:latin typeface="Calibri"/>
                <a:cs typeface="Calibri"/>
              </a:rPr>
              <a:t>others.</a:t>
            </a:r>
            <a:endParaRPr sz="2200">
              <a:latin typeface="Calibri"/>
              <a:cs typeface="Calibri"/>
            </a:endParaRPr>
          </a:p>
          <a:p>
            <a:pPr marL="242570" marR="5080" indent="-230504">
              <a:lnSpc>
                <a:spcPct val="150100"/>
              </a:lnSpc>
              <a:spcBef>
                <a:spcPts val="484"/>
              </a:spcBef>
              <a:buSzPct val="90909"/>
              <a:buFont typeface="Wingdings"/>
              <a:buChar char=""/>
              <a:tabLst>
                <a:tab pos="242570" algn="l"/>
                <a:tab pos="252729" algn="l"/>
              </a:tabLst>
            </a:pPr>
            <a:r>
              <a:rPr dirty="0" sz="2200">
                <a:latin typeface="Calibri"/>
                <a:cs typeface="Calibri"/>
              </a:rPr>
              <a:t>	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native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35">
                <a:latin typeface="Calibri"/>
                <a:cs typeface="Calibri"/>
              </a:rPr>
              <a:t>platform</a:t>
            </a:r>
            <a:r>
              <a:rPr dirty="0" sz="2200" spc="-114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30">
                <a:latin typeface="Calibri"/>
                <a:cs typeface="Calibri"/>
              </a:rPr>
              <a:t>advantageous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because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optimizes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user</a:t>
            </a:r>
            <a:r>
              <a:rPr dirty="0" sz="2200" spc="-9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experience.</a:t>
            </a:r>
            <a:endParaRPr sz="2200">
              <a:latin typeface="Calibri"/>
              <a:cs typeface="Calibri"/>
            </a:endParaRPr>
          </a:p>
          <a:p>
            <a:pPr marL="286385" indent="-272415">
              <a:lnSpc>
                <a:spcPct val="100000"/>
              </a:lnSpc>
              <a:spcBef>
                <a:spcPts val="1525"/>
              </a:spcBef>
              <a:buSzPct val="90909"/>
              <a:buFont typeface="Wingdings"/>
              <a:buChar char=""/>
              <a:tabLst>
                <a:tab pos="286385" algn="l"/>
              </a:tabLst>
            </a:pPr>
            <a:r>
              <a:rPr dirty="0" sz="2200" spc="-10">
                <a:latin typeface="Calibri"/>
                <a:cs typeface="Calibri"/>
              </a:rPr>
              <a:t>Because</a:t>
            </a:r>
            <a:r>
              <a:rPr dirty="0" sz="2200" spc="-9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was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developed</a:t>
            </a:r>
            <a:r>
              <a:rPr dirty="0" sz="2200" spc="-9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specifically</a:t>
            </a:r>
            <a:r>
              <a:rPr dirty="0" sz="2200" spc="-114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for</a:t>
            </a:r>
            <a:r>
              <a:rPr dirty="0" sz="2200" spc="-11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the</a:t>
            </a:r>
            <a:endParaRPr sz="2200">
              <a:latin typeface="Calibri"/>
              <a:cs typeface="Calibri"/>
            </a:endParaRPr>
          </a:p>
          <a:p>
            <a:pPr marL="242570">
              <a:lnSpc>
                <a:spcPct val="100000"/>
              </a:lnSpc>
              <a:spcBef>
                <a:spcPts val="1320"/>
              </a:spcBef>
            </a:pPr>
            <a:r>
              <a:rPr dirty="0" sz="2200" spc="-35">
                <a:latin typeface="Calibri"/>
                <a:cs typeface="Calibri"/>
              </a:rPr>
              <a:t>platform,</a:t>
            </a:r>
            <a:r>
              <a:rPr dirty="0" sz="2200" spc="-1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30">
                <a:latin typeface="Calibri"/>
                <a:cs typeface="Calibri"/>
              </a:rPr>
              <a:t>operate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more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quickly</a:t>
            </a:r>
            <a:r>
              <a:rPr dirty="0" sz="2200" spc="-1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intuitively.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 b="1">
                <a:latin typeface="Calibri"/>
                <a:cs typeface="Calibri"/>
              </a:rPr>
              <a:t>Introduction</a:t>
            </a:r>
            <a:r>
              <a:rPr dirty="0" spc="-9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to</a:t>
            </a:r>
            <a:r>
              <a:rPr dirty="0" spc="-16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mobile</a:t>
            </a:r>
            <a:r>
              <a:rPr dirty="0" spc="-135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application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0" y="1144524"/>
            <a:ext cx="3525011" cy="242925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77200" y="3947159"/>
            <a:ext cx="3525011" cy="18211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56182" y="184937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 h="0">
                <a:moveTo>
                  <a:pt x="0" y="0"/>
                </a:moveTo>
                <a:lnTo>
                  <a:pt x="9607296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72720">
              <a:lnSpc>
                <a:spcPct val="100000"/>
              </a:lnSpc>
              <a:spcBef>
                <a:spcPts val="95"/>
              </a:spcBef>
            </a:pPr>
            <a:r>
              <a:rPr dirty="0" spc="-20" b="1">
                <a:latin typeface="Calibri"/>
                <a:cs typeface="Calibri"/>
              </a:rPr>
              <a:t>Introduction</a:t>
            </a:r>
            <a:r>
              <a:rPr dirty="0" spc="-8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to</a:t>
            </a:r>
            <a:r>
              <a:rPr dirty="0" spc="-120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mobile</a:t>
            </a:r>
            <a:r>
              <a:rPr dirty="0" spc="-100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application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1219200"/>
            <a:ext cx="9753600" cy="49545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9681" y="1172418"/>
            <a:ext cx="6964045" cy="470408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3000" spc="-60">
                <a:latin typeface="Calibri"/>
                <a:cs typeface="Calibri"/>
              </a:rPr>
              <a:t>Web</a:t>
            </a:r>
            <a:r>
              <a:rPr dirty="0" sz="3000" spc="-204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Apps</a:t>
            </a:r>
            <a:endParaRPr sz="3000">
              <a:latin typeface="Calibri"/>
              <a:cs typeface="Calibri"/>
            </a:endParaRPr>
          </a:p>
          <a:p>
            <a:pPr marL="697230" marR="687705" indent="-250825">
              <a:lnSpc>
                <a:spcPct val="80000"/>
              </a:lnSpc>
              <a:spcBef>
                <a:spcPts val="705"/>
              </a:spcBef>
              <a:buSzPct val="90909"/>
              <a:buFont typeface="Wingdings"/>
              <a:buChar char=""/>
              <a:tabLst>
                <a:tab pos="698500" algn="l"/>
              </a:tabLst>
            </a:pP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application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30">
                <a:latin typeface="Calibri"/>
                <a:cs typeface="Calibri"/>
              </a:rPr>
              <a:t>program</a:t>
            </a:r>
            <a:r>
              <a:rPr dirty="0" sz="2200" spc="-10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stored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remote 	server</a:t>
            </a:r>
            <a:r>
              <a:rPr dirty="0" sz="2200" spc="-9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10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delivered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over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internet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through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a </a:t>
            </a:r>
            <a:r>
              <a:rPr dirty="0" sz="2200" spc="-50">
                <a:latin typeface="Calibri"/>
                <a:cs typeface="Calibri"/>
              </a:rPr>
              <a:t>	</a:t>
            </a:r>
            <a:r>
              <a:rPr dirty="0" sz="2200" spc="-30">
                <a:latin typeface="Calibri"/>
                <a:cs typeface="Calibri"/>
              </a:rPr>
              <a:t>browser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interface.</a:t>
            </a:r>
            <a:endParaRPr sz="2200">
              <a:latin typeface="Calibri"/>
              <a:cs typeface="Calibri"/>
            </a:endParaRPr>
          </a:p>
          <a:p>
            <a:pPr marL="719455" indent="-250825">
              <a:lnSpc>
                <a:spcPts val="2005"/>
              </a:lnSpc>
              <a:buSzPct val="95454"/>
              <a:buFont typeface="Wingdings"/>
              <a:buChar char=""/>
              <a:tabLst>
                <a:tab pos="719455" algn="l"/>
              </a:tabLst>
            </a:pPr>
            <a:r>
              <a:rPr dirty="0" sz="2200" spc="-10">
                <a:latin typeface="Calibri"/>
                <a:cs typeface="Calibri"/>
              </a:rPr>
              <a:t>Commonly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used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web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applications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include</a:t>
            </a:r>
            <a:r>
              <a:rPr dirty="0" sz="2200" spc="-1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webmail,</a:t>
            </a:r>
            <a:endParaRPr sz="2200">
              <a:latin typeface="Calibri"/>
              <a:cs typeface="Calibri"/>
            </a:endParaRPr>
          </a:p>
          <a:p>
            <a:pPr marL="698500">
              <a:lnSpc>
                <a:spcPts val="2545"/>
              </a:lnSpc>
            </a:pPr>
            <a:r>
              <a:rPr dirty="0" sz="2200">
                <a:latin typeface="Calibri"/>
                <a:cs typeface="Calibri"/>
              </a:rPr>
              <a:t>online</a:t>
            </a:r>
            <a:r>
              <a:rPr dirty="0" sz="2200" spc="-125">
                <a:latin typeface="Calibri"/>
                <a:cs typeface="Calibri"/>
              </a:rPr>
              <a:t> </a:t>
            </a:r>
            <a:r>
              <a:rPr dirty="0" sz="2200" spc="-35">
                <a:latin typeface="Calibri"/>
                <a:cs typeface="Calibri"/>
              </a:rPr>
              <a:t>calculators</a:t>
            </a:r>
            <a:r>
              <a:rPr dirty="0" sz="2200" spc="-1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125">
                <a:latin typeface="Calibri"/>
                <a:cs typeface="Calibri"/>
              </a:rPr>
              <a:t> </a:t>
            </a:r>
            <a:r>
              <a:rPr dirty="0" sz="2200" spc="-40">
                <a:latin typeface="Calibri"/>
                <a:cs typeface="Calibri"/>
              </a:rPr>
              <a:t>e-</a:t>
            </a:r>
            <a:r>
              <a:rPr dirty="0" sz="2200">
                <a:latin typeface="Calibri"/>
                <a:cs typeface="Calibri"/>
              </a:rPr>
              <a:t>commerce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shops.</a:t>
            </a:r>
            <a:endParaRPr sz="2200">
              <a:latin typeface="Calibri"/>
              <a:cs typeface="Calibri"/>
            </a:endParaRPr>
          </a:p>
          <a:p>
            <a:pPr marL="698500" marR="5080" indent="-241300">
              <a:lnSpc>
                <a:spcPts val="2110"/>
              </a:lnSpc>
              <a:spcBef>
                <a:spcPts val="635"/>
              </a:spcBef>
              <a:buSzPct val="90909"/>
              <a:buFont typeface="Wingdings"/>
              <a:buChar char=""/>
              <a:tabLst>
                <a:tab pos="698500" algn="l"/>
                <a:tab pos="708025" algn="l"/>
              </a:tabLst>
            </a:pPr>
            <a:r>
              <a:rPr dirty="0" sz="2200">
                <a:latin typeface="Calibri"/>
                <a:cs typeface="Calibri"/>
              </a:rPr>
              <a:t>	Users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don't</a:t>
            </a:r>
            <a:r>
              <a:rPr dirty="0" sz="2200" spc="-9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install</a:t>
            </a:r>
            <a:r>
              <a:rPr dirty="0" sz="2200" spc="-1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</a:t>
            </a:r>
            <a:r>
              <a:rPr dirty="0" sz="2200" spc="-10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114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10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access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the </a:t>
            </a:r>
            <a:r>
              <a:rPr dirty="0" sz="2200">
                <a:latin typeface="Calibri"/>
                <a:cs typeface="Calibri"/>
              </a:rPr>
              <a:t>app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through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various</a:t>
            </a:r>
            <a:r>
              <a:rPr dirty="0" sz="2200" spc="-100">
                <a:latin typeface="Calibri"/>
                <a:cs typeface="Calibri"/>
              </a:rPr>
              <a:t> </a:t>
            </a:r>
            <a:r>
              <a:rPr dirty="0" sz="2200" spc="-30">
                <a:latin typeface="Calibri"/>
                <a:cs typeface="Calibri"/>
              </a:rPr>
              <a:t>platforms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such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desktop,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laptop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mobile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via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browser.</a:t>
            </a:r>
            <a:endParaRPr sz="2200">
              <a:latin typeface="Calibri"/>
              <a:cs typeface="Calibri"/>
            </a:endParaRPr>
          </a:p>
          <a:p>
            <a:pPr marL="719455" indent="-262255">
              <a:lnSpc>
                <a:spcPts val="2205"/>
              </a:lnSpc>
              <a:buSzPct val="95454"/>
              <a:buFont typeface="Wingdings"/>
              <a:buChar char=""/>
              <a:tabLst>
                <a:tab pos="719455" algn="l"/>
              </a:tabLst>
            </a:pPr>
            <a:r>
              <a:rPr dirty="0" sz="2200" spc="-70">
                <a:latin typeface="Calibri"/>
                <a:cs typeface="Calibri"/>
              </a:rPr>
              <a:t>However,</a:t>
            </a:r>
            <a:r>
              <a:rPr dirty="0" sz="2200" spc="-114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web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30">
                <a:latin typeface="Calibri"/>
                <a:cs typeface="Calibri"/>
              </a:rPr>
              <a:t>operates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relatively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slower</a:t>
            </a:r>
            <a:endParaRPr sz="2200">
              <a:latin typeface="Calibri"/>
              <a:cs typeface="Calibri"/>
            </a:endParaRPr>
          </a:p>
          <a:p>
            <a:pPr marL="698500">
              <a:lnSpc>
                <a:spcPts val="2460"/>
              </a:lnSpc>
            </a:pPr>
            <a:r>
              <a:rPr dirty="0" sz="2200">
                <a:latin typeface="Calibri"/>
                <a:cs typeface="Calibri"/>
              </a:rPr>
              <a:t>speed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than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30">
                <a:latin typeface="Calibri"/>
                <a:cs typeface="Calibri"/>
              </a:rPr>
              <a:t>application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hosted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local</a:t>
            </a:r>
            <a:r>
              <a:rPr dirty="0" sz="2200" spc="-9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server</a:t>
            </a:r>
            <a:endParaRPr sz="2200">
              <a:latin typeface="Calibri"/>
              <a:cs typeface="Calibri"/>
            </a:endParaRPr>
          </a:p>
          <a:p>
            <a:pPr marL="698500" marR="444500" indent="-254635">
              <a:lnSpc>
                <a:spcPct val="80000"/>
              </a:lnSpc>
              <a:spcBef>
                <a:spcPts val="560"/>
              </a:spcBef>
              <a:buSzPct val="91666"/>
              <a:buFont typeface="Wingdings"/>
              <a:buChar char=""/>
              <a:tabLst>
                <a:tab pos="698500" algn="l"/>
                <a:tab pos="716915" algn="l"/>
              </a:tabLst>
            </a:pP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web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applications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native,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they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cannot sometimes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40">
                <a:latin typeface="Calibri"/>
                <a:cs typeface="Calibri"/>
              </a:rPr>
              <a:t>effectively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40">
                <a:latin typeface="Calibri"/>
                <a:cs typeface="Calibri"/>
              </a:rPr>
              <a:t>collaborate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45">
                <a:latin typeface="Calibri"/>
                <a:cs typeface="Calibri"/>
              </a:rPr>
              <a:t>hardware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operating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40">
                <a:latin typeface="Calibri"/>
                <a:cs typeface="Calibri"/>
              </a:rPr>
              <a:t>systems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specific </a:t>
            </a:r>
            <a:r>
              <a:rPr dirty="0" sz="2400" spc="-20">
                <a:latin typeface="Calibri"/>
                <a:cs typeface="Calibri"/>
              </a:rPr>
              <a:t>devices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you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use.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45"/>
              <a:t>INTRODUCTION</a:t>
            </a:r>
            <a:r>
              <a:rPr dirty="0" spc="-130"/>
              <a:t> </a:t>
            </a:r>
            <a:r>
              <a:rPr dirty="0"/>
              <a:t>TO</a:t>
            </a:r>
            <a:r>
              <a:rPr dirty="0" spc="220"/>
              <a:t> </a:t>
            </a:r>
            <a:r>
              <a:rPr dirty="0"/>
              <a:t>MOBILE</a:t>
            </a:r>
            <a:r>
              <a:rPr dirty="0" spc="-235"/>
              <a:t> </a:t>
            </a:r>
            <a:r>
              <a:rPr dirty="0" spc="-10"/>
              <a:t>APPLICATION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59623" y="941832"/>
            <a:ext cx="4047744" cy="19659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69935" y="3183635"/>
            <a:ext cx="3637787" cy="27325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45"/>
              <a:t>INTRODUCTION</a:t>
            </a:r>
            <a:r>
              <a:rPr dirty="0" spc="-130"/>
              <a:t> </a:t>
            </a:r>
            <a:r>
              <a:rPr dirty="0"/>
              <a:t>TO</a:t>
            </a:r>
            <a:r>
              <a:rPr dirty="0" spc="220"/>
              <a:t> </a:t>
            </a:r>
            <a:r>
              <a:rPr dirty="0"/>
              <a:t>MOBILE</a:t>
            </a:r>
            <a:r>
              <a:rPr dirty="0" spc="-235"/>
              <a:t> </a:t>
            </a:r>
            <a:r>
              <a:rPr dirty="0" spc="-10"/>
              <a:t>APPLICATION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1007" y="1123188"/>
            <a:ext cx="6214872" cy="4770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86332" y="1010793"/>
            <a:ext cx="200787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25">
                <a:latin typeface="Calibri"/>
                <a:cs typeface="Calibri"/>
              </a:rPr>
              <a:t>Hybrid</a:t>
            </a:r>
            <a:r>
              <a:rPr dirty="0" sz="3200" spc="-12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Apps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7387" y="2088260"/>
            <a:ext cx="7253605" cy="3799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178435" indent="-228600">
              <a:lnSpc>
                <a:spcPct val="100000"/>
              </a:lnSpc>
              <a:spcBef>
                <a:spcPts val="100"/>
              </a:spcBef>
              <a:buSzPct val="90476"/>
              <a:buFont typeface="Wingdings"/>
              <a:buChar char=""/>
              <a:tabLst>
                <a:tab pos="241300" algn="l"/>
              </a:tabLst>
            </a:pPr>
            <a:r>
              <a:rPr dirty="0" sz="2100">
                <a:latin typeface="Calibri"/>
                <a:cs typeface="Calibri"/>
              </a:rPr>
              <a:t>A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hybrid</a:t>
            </a:r>
            <a:r>
              <a:rPr dirty="0" sz="2100" spc="-8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mobile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app</a:t>
            </a:r>
            <a:r>
              <a:rPr dirty="0" sz="2100" spc="-85">
                <a:latin typeface="Calibri"/>
                <a:cs typeface="Calibri"/>
              </a:rPr>
              <a:t> </a:t>
            </a:r>
            <a:r>
              <a:rPr dirty="0" sz="2100" spc="-20">
                <a:latin typeface="Calibri"/>
                <a:cs typeface="Calibri"/>
              </a:rPr>
              <a:t>combines</a:t>
            </a:r>
            <a:r>
              <a:rPr dirty="0" sz="2100" spc="-7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7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elements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of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</a:t>
            </a:r>
            <a:r>
              <a:rPr dirty="0" sz="2100" spc="-7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native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app</a:t>
            </a:r>
            <a:r>
              <a:rPr dirty="0" sz="2100" spc="-85">
                <a:latin typeface="Calibri"/>
                <a:cs typeface="Calibri"/>
              </a:rPr>
              <a:t> </a:t>
            </a:r>
            <a:r>
              <a:rPr dirty="0" sz="2100" spc="-25">
                <a:latin typeface="Calibri"/>
                <a:cs typeface="Calibri"/>
              </a:rPr>
              <a:t>and </a:t>
            </a:r>
            <a:r>
              <a:rPr dirty="0" sz="2100">
                <a:latin typeface="Calibri"/>
                <a:cs typeface="Calibri"/>
              </a:rPr>
              <a:t>a</a:t>
            </a:r>
            <a:r>
              <a:rPr dirty="0" sz="2100" spc="-9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web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 spc="-20">
                <a:latin typeface="Calibri"/>
                <a:cs typeface="Calibri"/>
              </a:rPr>
              <a:t>app.</a:t>
            </a:r>
            <a:endParaRPr sz="2100">
              <a:latin typeface="Calibri"/>
              <a:cs typeface="Calibri"/>
            </a:endParaRPr>
          </a:p>
          <a:p>
            <a:pPr marL="241300" marR="5080" indent="-228600">
              <a:lnSpc>
                <a:spcPct val="100000"/>
              </a:lnSpc>
              <a:spcBef>
                <a:spcPts val="490"/>
              </a:spcBef>
              <a:buSzPct val="90476"/>
              <a:buFont typeface="Wingdings"/>
              <a:buChar char=""/>
              <a:tabLst>
                <a:tab pos="241300" algn="l"/>
              </a:tabLst>
            </a:pP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95">
                <a:latin typeface="Calibri"/>
                <a:cs typeface="Calibri"/>
              </a:rPr>
              <a:t> </a:t>
            </a:r>
            <a:r>
              <a:rPr dirty="0" sz="2100" spc="-45">
                <a:latin typeface="Calibri"/>
                <a:cs typeface="Calibri"/>
              </a:rPr>
              <a:t>application’s</a:t>
            </a:r>
            <a:r>
              <a:rPr dirty="0" sz="2100" spc="-10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core</a:t>
            </a:r>
            <a:r>
              <a:rPr dirty="0" sz="2100" spc="-7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is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written</a:t>
            </a:r>
            <a:r>
              <a:rPr dirty="0" sz="2100" spc="-8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using</a:t>
            </a:r>
            <a:r>
              <a:rPr dirty="0" sz="2100" spc="-8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web</a:t>
            </a:r>
            <a:r>
              <a:rPr dirty="0" sz="2100" spc="350">
                <a:latin typeface="Calibri"/>
                <a:cs typeface="Calibri"/>
              </a:rPr>
              <a:t> </a:t>
            </a:r>
            <a:r>
              <a:rPr dirty="0" sz="2100" spc="-20">
                <a:latin typeface="Calibri"/>
                <a:cs typeface="Calibri"/>
              </a:rPr>
              <a:t>technologies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(HTML, </a:t>
            </a:r>
            <a:r>
              <a:rPr dirty="0" sz="2100">
                <a:latin typeface="Calibri"/>
                <a:cs typeface="Calibri"/>
              </a:rPr>
              <a:t>CSS,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and</a:t>
            </a:r>
            <a:r>
              <a:rPr dirty="0" sz="2100" spc="-65">
                <a:latin typeface="Calibri"/>
                <a:cs typeface="Calibri"/>
              </a:rPr>
              <a:t> </a:t>
            </a:r>
            <a:r>
              <a:rPr dirty="0" sz="2100" spc="-30">
                <a:latin typeface="Calibri"/>
                <a:cs typeface="Calibri"/>
              </a:rPr>
              <a:t>JavaScript),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which</a:t>
            </a:r>
            <a:r>
              <a:rPr dirty="0" sz="2100" spc="40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are</a:t>
            </a:r>
            <a:r>
              <a:rPr dirty="0" sz="2100" spc="-7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then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 spc="-30">
                <a:latin typeface="Calibri"/>
                <a:cs typeface="Calibri"/>
              </a:rPr>
              <a:t>encapsulated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within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</a:t>
            </a:r>
            <a:r>
              <a:rPr dirty="0" sz="2100" spc="-8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native application.</a:t>
            </a:r>
            <a:endParaRPr sz="2100">
              <a:latin typeface="Calibri"/>
              <a:cs typeface="Calibri"/>
            </a:endParaRPr>
          </a:p>
          <a:p>
            <a:pPr marL="241300" marR="232410" indent="-228600">
              <a:lnSpc>
                <a:spcPct val="100000"/>
              </a:lnSpc>
              <a:spcBef>
                <a:spcPts val="509"/>
              </a:spcBef>
              <a:buSzPct val="90476"/>
              <a:buFont typeface="Wingdings"/>
              <a:buChar char=""/>
              <a:tabLst>
                <a:tab pos="241300" algn="l"/>
                <a:tab pos="559435" algn="l"/>
                <a:tab pos="885825" algn="l"/>
                <a:tab pos="1420495" algn="l"/>
                <a:tab pos="2100580" algn="l"/>
                <a:tab pos="2944495" algn="l"/>
                <a:tab pos="3231515" algn="l"/>
                <a:tab pos="4051300" algn="l"/>
                <a:tab pos="5404485" algn="l"/>
                <a:tab pos="5973445" algn="l"/>
                <a:tab pos="6551295" algn="l"/>
              </a:tabLst>
            </a:pPr>
            <a:r>
              <a:rPr dirty="0" sz="2100" spc="-25">
                <a:latin typeface="Calibri"/>
                <a:cs typeface="Calibri"/>
              </a:rPr>
              <a:t>It</a:t>
            </a:r>
            <a:r>
              <a:rPr dirty="0" sz="2100">
                <a:latin typeface="Calibri"/>
                <a:cs typeface="Calibri"/>
              </a:rPr>
              <a:t>	</a:t>
            </a:r>
            <a:r>
              <a:rPr dirty="0" sz="2100" spc="-25">
                <a:latin typeface="Calibri"/>
                <a:cs typeface="Calibri"/>
              </a:rPr>
              <a:t>is</a:t>
            </a:r>
            <a:r>
              <a:rPr dirty="0" sz="2100">
                <a:latin typeface="Calibri"/>
                <a:cs typeface="Calibri"/>
              </a:rPr>
              <a:t>	</a:t>
            </a:r>
            <a:r>
              <a:rPr dirty="0" sz="2100" spc="-25">
                <a:latin typeface="Calibri"/>
                <a:cs typeface="Calibri"/>
              </a:rPr>
              <a:t>run</a:t>
            </a:r>
            <a:r>
              <a:rPr dirty="0" sz="2100">
                <a:latin typeface="Calibri"/>
                <a:cs typeface="Calibri"/>
              </a:rPr>
              <a:t>	</a:t>
            </a:r>
            <a:r>
              <a:rPr dirty="0" sz="2100" spc="-20">
                <a:latin typeface="Calibri"/>
                <a:cs typeface="Calibri"/>
              </a:rPr>
              <a:t>from</a:t>
            </a:r>
            <a:r>
              <a:rPr dirty="0" sz="2100">
                <a:latin typeface="Calibri"/>
                <a:cs typeface="Calibri"/>
              </a:rPr>
              <a:t>	</a:t>
            </a:r>
            <a:r>
              <a:rPr dirty="0" sz="2100" spc="-10">
                <a:latin typeface="Calibri"/>
                <a:cs typeface="Calibri"/>
              </a:rPr>
              <a:t>within</a:t>
            </a:r>
            <a:r>
              <a:rPr dirty="0" sz="2100">
                <a:latin typeface="Calibri"/>
                <a:cs typeface="Calibri"/>
              </a:rPr>
              <a:t>	</a:t>
            </a:r>
            <a:r>
              <a:rPr dirty="0" sz="2100" spc="-50">
                <a:latin typeface="Calibri"/>
                <a:cs typeface="Calibri"/>
              </a:rPr>
              <a:t>a</a:t>
            </a:r>
            <a:r>
              <a:rPr dirty="0" sz="2100">
                <a:latin typeface="Calibri"/>
                <a:cs typeface="Calibri"/>
              </a:rPr>
              <a:t>	</a:t>
            </a:r>
            <a:r>
              <a:rPr dirty="0" sz="2100" spc="-10">
                <a:latin typeface="Calibri"/>
                <a:cs typeface="Calibri"/>
              </a:rPr>
              <a:t>native</a:t>
            </a:r>
            <a:r>
              <a:rPr dirty="0" sz="2100">
                <a:latin typeface="Calibri"/>
                <a:cs typeface="Calibri"/>
              </a:rPr>
              <a:t>	</a:t>
            </a:r>
            <a:r>
              <a:rPr dirty="0" sz="2100" spc="-10">
                <a:latin typeface="Calibri"/>
                <a:cs typeface="Calibri"/>
              </a:rPr>
              <a:t>application</a:t>
            </a:r>
            <a:r>
              <a:rPr dirty="0" sz="2100">
                <a:latin typeface="Calibri"/>
                <a:cs typeface="Calibri"/>
              </a:rPr>
              <a:t>	</a:t>
            </a:r>
            <a:r>
              <a:rPr dirty="0" sz="2100" spc="-25">
                <a:latin typeface="Calibri"/>
                <a:cs typeface="Calibri"/>
              </a:rPr>
              <a:t>and</a:t>
            </a:r>
            <a:r>
              <a:rPr dirty="0" sz="2100">
                <a:latin typeface="Calibri"/>
                <a:cs typeface="Calibri"/>
              </a:rPr>
              <a:t>	</a:t>
            </a:r>
            <a:r>
              <a:rPr dirty="0" sz="2100" spc="-25">
                <a:latin typeface="Calibri"/>
                <a:cs typeface="Calibri"/>
              </a:rPr>
              <a:t>its</a:t>
            </a:r>
            <a:r>
              <a:rPr dirty="0" sz="2100">
                <a:latin typeface="Calibri"/>
                <a:cs typeface="Calibri"/>
              </a:rPr>
              <a:t>	</a:t>
            </a:r>
            <a:r>
              <a:rPr dirty="0" sz="2100" spc="-45">
                <a:latin typeface="Calibri"/>
                <a:cs typeface="Calibri"/>
              </a:rPr>
              <a:t>own </a:t>
            </a:r>
            <a:r>
              <a:rPr dirty="0" sz="2100">
                <a:latin typeface="Calibri"/>
                <a:cs typeface="Calibri"/>
              </a:rPr>
              <a:t>embedded</a:t>
            </a:r>
            <a:r>
              <a:rPr dirty="0" sz="2100" spc="-105">
                <a:latin typeface="Calibri"/>
                <a:cs typeface="Calibri"/>
              </a:rPr>
              <a:t> </a:t>
            </a:r>
            <a:r>
              <a:rPr dirty="0" sz="2100" spc="-80">
                <a:latin typeface="Calibri"/>
                <a:cs typeface="Calibri"/>
              </a:rPr>
              <a:t>browser,</a:t>
            </a:r>
            <a:r>
              <a:rPr dirty="0" sz="2100" spc="-145">
                <a:latin typeface="Calibri"/>
                <a:cs typeface="Calibri"/>
              </a:rPr>
              <a:t> </a:t>
            </a:r>
            <a:r>
              <a:rPr dirty="0" sz="2100" spc="-20">
                <a:latin typeface="Calibri"/>
                <a:cs typeface="Calibri"/>
              </a:rPr>
              <a:t>essentially </a:t>
            </a:r>
            <a:r>
              <a:rPr dirty="0" sz="2100" spc="-10">
                <a:latin typeface="Calibri"/>
                <a:cs typeface="Calibri"/>
              </a:rPr>
              <a:t>invisible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to</a:t>
            </a:r>
            <a:r>
              <a:rPr dirty="0" sz="2100" spc="-7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6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user.</a:t>
            </a:r>
            <a:endParaRPr sz="2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00"/>
              </a:spcBef>
              <a:buSzPct val="90476"/>
              <a:buFont typeface="Wingdings"/>
              <a:buChar char=""/>
              <a:tabLst>
                <a:tab pos="240665" algn="l"/>
              </a:tabLst>
            </a:pPr>
            <a:r>
              <a:rPr dirty="0" sz="2100" spc="-10">
                <a:latin typeface="Calibri"/>
                <a:cs typeface="Calibri"/>
              </a:rPr>
              <a:t>Through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8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use</a:t>
            </a:r>
            <a:r>
              <a:rPr dirty="0" sz="2100" spc="-7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of</a:t>
            </a:r>
            <a:r>
              <a:rPr dirty="0" sz="2100" spc="-6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plugins,</a:t>
            </a:r>
            <a:r>
              <a:rPr dirty="0" sz="2100" spc="-7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these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 spc="-20">
                <a:latin typeface="Calibri"/>
                <a:cs typeface="Calibri"/>
              </a:rPr>
              <a:t>applications</a:t>
            </a:r>
            <a:r>
              <a:rPr dirty="0" sz="2100" spc="-8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can</a:t>
            </a:r>
            <a:r>
              <a:rPr dirty="0" sz="2100" spc="-105">
                <a:latin typeface="Calibri"/>
                <a:cs typeface="Calibri"/>
              </a:rPr>
              <a:t> </a:t>
            </a:r>
            <a:r>
              <a:rPr dirty="0" sz="2100" spc="-30">
                <a:latin typeface="Calibri"/>
                <a:cs typeface="Calibri"/>
              </a:rPr>
              <a:t>have</a:t>
            </a:r>
            <a:r>
              <a:rPr dirty="0" sz="2100" spc="-105">
                <a:latin typeface="Calibri"/>
                <a:cs typeface="Calibri"/>
              </a:rPr>
              <a:t> </a:t>
            </a:r>
            <a:r>
              <a:rPr dirty="0" sz="2100" spc="-20">
                <a:latin typeface="Calibri"/>
                <a:cs typeface="Calibri"/>
              </a:rPr>
              <a:t>full</a:t>
            </a:r>
            <a:endParaRPr sz="2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dirty="0" sz="2100" spc="-10">
                <a:latin typeface="Calibri"/>
                <a:cs typeface="Calibri"/>
              </a:rPr>
              <a:t>access</a:t>
            </a:r>
            <a:r>
              <a:rPr dirty="0" sz="2100" spc="-11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to</a:t>
            </a:r>
            <a:r>
              <a:rPr dirty="0" sz="2100" spc="-11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12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mobile</a:t>
            </a:r>
            <a:r>
              <a:rPr dirty="0" sz="2100" spc="-11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device’s</a:t>
            </a:r>
            <a:r>
              <a:rPr dirty="0" sz="2100" spc="229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features.</a:t>
            </a:r>
            <a:endParaRPr sz="2100">
              <a:latin typeface="Calibri"/>
              <a:cs typeface="Calibri"/>
            </a:endParaRPr>
          </a:p>
          <a:p>
            <a:pPr marL="241300" marR="657860" indent="-228600">
              <a:lnSpc>
                <a:spcPct val="100000"/>
              </a:lnSpc>
              <a:spcBef>
                <a:spcPts val="490"/>
              </a:spcBef>
              <a:buSzPct val="90476"/>
              <a:buFont typeface="Wingdings"/>
              <a:buChar char=""/>
              <a:tabLst>
                <a:tab pos="241300" algn="l"/>
              </a:tabLst>
            </a:pPr>
            <a:r>
              <a:rPr dirty="0" sz="2100">
                <a:latin typeface="Calibri"/>
                <a:cs typeface="Calibri"/>
              </a:rPr>
              <a:t>Users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can</a:t>
            </a:r>
            <a:r>
              <a:rPr dirty="0" sz="2100" spc="-11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download</a:t>
            </a:r>
            <a:r>
              <a:rPr dirty="0" sz="2100" spc="-8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</a:t>
            </a:r>
            <a:r>
              <a:rPr dirty="0" sz="2100" spc="-8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app</a:t>
            </a:r>
            <a:r>
              <a:rPr dirty="0" sz="2100" spc="-10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from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</a:t>
            </a:r>
            <a:r>
              <a:rPr dirty="0" sz="2100" spc="-10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app</a:t>
            </a:r>
            <a:r>
              <a:rPr dirty="0" sz="2100" spc="-105">
                <a:latin typeface="Calibri"/>
                <a:cs typeface="Calibri"/>
              </a:rPr>
              <a:t> </a:t>
            </a:r>
            <a:r>
              <a:rPr dirty="0" sz="2100" spc="-20">
                <a:latin typeface="Calibri"/>
                <a:cs typeface="Calibri"/>
              </a:rPr>
              <a:t>store</a:t>
            </a:r>
            <a:r>
              <a:rPr dirty="0" sz="2100" spc="-7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and</a:t>
            </a:r>
            <a:r>
              <a:rPr dirty="0" sz="2100" spc="-110">
                <a:latin typeface="Calibri"/>
                <a:cs typeface="Calibri"/>
              </a:rPr>
              <a:t> </a:t>
            </a:r>
            <a:r>
              <a:rPr dirty="0" sz="2100" spc="-25">
                <a:latin typeface="Calibri"/>
                <a:cs typeface="Calibri"/>
              </a:rPr>
              <a:t>install</a:t>
            </a:r>
            <a:r>
              <a:rPr dirty="0" sz="2100" spc="-70">
                <a:latin typeface="Calibri"/>
                <a:cs typeface="Calibri"/>
              </a:rPr>
              <a:t> </a:t>
            </a:r>
            <a:r>
              <a:rPr dirty="0" sz="2100" spc="-25">
                <a:latin typeface="Calibri"/>
                <a:cs typeface="Calibri"/>
              </a:rPr>
              <a:t>it </a:t>
            </a:r>
            <a:r>
              <a:rPr dirty="0" sz="2100" spc="-10">
                <a:latin typeface="Calibri"/>
                <a:cs typeface="Calibri"/>
              </a:rPr>
              <a:t>locally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45"/>
              <a:t>INTRODUCTION</a:t>
            </a:r>
            <a:r>
              <a:rPr dirty="0" spc="-130"/>
              <a:t> </a:t>
            </a:r>
            <a:r>
              <a:rPr dirty="0"/>
              <a:t>TO</a:t>
            </a:r>
            <a:r>
              <a:rPr dirty="0" spc="220"/>
              <a:t> </a:t>
            </a:r>
            <a:r>
              <a:rPr dirty="0"/>
              <a:t>MOBILE</a:t>
            </a:r>
            <a:r>
              <a:rPr dirty="0" spc="-235"/>
              <a:t> </a:t>
            </a:r>
            <a:r>
              <a:rPr dirty="0" spc="-10"/>
              <a:t>APPLICATION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8659" y="3616452"/>
            <a:ext cx="3473196" cy="228142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8659" y="1283208"/>
            <a:ext cx="3482340" cy="21457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90"/>
              <a:t>ANATOMY</a:t>
            </a:r>
            <a:r>
              <a:rPr dirty="0" spc="195"/>
              <a:t> </a:t>
            </a:r>
            <a:r>
              <a:rPr dirty="0"/>
              <a:t>OF</a:t>
            </a:r>
            <a:r>
              <a:rPr dirty="0" spc="160"/>
              <a:t> </a:t>
            </a:r>
            <a:r>
              <a:rPr dirty="0"/>
              <a:t>MOBILE</a:t>
            </a:r>
            <a:r>
              <a:rPr dirty="0" spc="-220"/>
              <a:t> </a:t>
            </a:r>
            <a:r>
              <a:rPr dirty="0" spc="-10"/>
              <a:t>APPLICATION</a:t>
            </a:r>
          </a:p>
        </p:txBody>
      </p:sp>
      <p:sp>
        <p:nvSpPr>
          <p:cNvPr id="4" name="object 4"/>
          <p:cNvSpPr/>
          <p:nvPr/>
        </p:nvSpPr>
        <p:spPr>
          <a:xfrm>
            <a:off x="4968240" y="978408"/>
            <a:ext cx="1786255" cy="1160145"/>
          </a:xfrm>
          <a:custGeom>
            <a:avLst/>
            <a:gdLst/>
            <a:ahLst/>
            <a:cxnLst/>
            <a:rect l="l" t="t" r="r" b="b"/>
            <a:pathLst>
              <a:path w="1786254" h="1160145">
                <a:moveTo>
                  <a:pt x="1592580" y="0"/>
                </a:moveTo>
                <a:lnTo>
                  <a:pt x="193294" y="0"/>
                </a:lnTo>
                <a:lnTo>
                  <a:pt x="148971" y="5079"/>
                </a:lnTo>
                <a:lnTo>
                  <a:pt x="108204" y="19684"/>
                </a:lnTo>
                <a:lnTo>
                  <a:pt x="72389" y="42417"/>
                </a:lnTo>
                <a:lnTo>
                  <a:pt x="42418" y="72389"/>
                </a:lnTo>
                <a:lnTo>
                  <a:pt x="19685" y="108203"/>
                </a:lnTo>
                <a:lnTo>
                  <a:pt x="5080" y="148843"/>
                </a:lnTo>
                <a:lnTo>
                  <a:pt x="0" y="193166"/>
                </a:lnTo>
                <a:lnTo>
                  <a:pt x="0" y="966342"/>
                </a:lnTo>
                <a:lnTo>
                  <a:pt x="5080" y="1010665"/>
                </a:lnTo>
                <a:lnTo>
                  <a:pt x="19685" y="1051432"/>
                </a:lnTo>
                <a:lnTo>
                  <a:pt x="42418" y="1087246"/>
                </a:lnTo>
                <a:lnTo>
                  <a:pt x="72389" y="1117218"/>
                </a:lnTo>
                <a:lnTo>
                  <a:pt x="108204" y="1139952"/>
                </a:lnTo>
                <a:lnTo>
                  <a:pt x="148971" y="1154556"/>
                </a:lnTo>
                <a:lnTo>
                  <a:pt x="193294" y="1159637"/>
                </a:lnTo>
                <a:lnTo>
                  <a:pt x="1592580" y="1159637"/>
                </a:lnTo>
                <a:lnTo>
                  <a:pt x="1636903" y="1154556"/>
                </a:lnTo>
                <a:lnTo>
                  <a:pt x="1677669" y="1139952"/>
                </a:lnTo>
                <a:lnTo>
                  <a:pt x="1713484" y="1117218"/>
                </a:lnTo>
                <a:lnTo>
                  <a:pt x="1743456" y="1087246"/>
                </a:lnTo>
                <a:lnTo>
                  <a:pt x="1766189" y="1051432"/>
                </a:lnTo>
                <a:lnTo>
                  <a:pt x="1780793" y="1010665"/>
                </a:lnTo>
                <a:lnTo>
                  <a:pt x="1785874" y="966342"/>
                </a:lnTo>
                <a:lnTo>
                  <a:pt x="1785874" y="193166"/>
                </a:lnTo>
                <a:lnTo>
                  <a:pt x="1780793" y="148843"/>
                </a:lnTo>
                <a:lnTo>
                  <a:pt x="1766189" y="108203"/>
                </a:lnTo>
                <a:lnTo>
                  <a:pt x="1743456" y="72389"/>
                </a:lnTo>
                <a:lnTo>
                  <a:pt x="1713484" y="42417"/>
                </a:lnTo>
                <a:lnTo>
                  <a:pt x="1677669" y="19684"/>
                </a:lnTo>
                <a:lnTo>
                  <a:pt x="1636903" y="5079"/>
                </a:lnTo>
                <a:lnTo>
                  <a:pt x="1592580" y="0"/>
                </a:lnTo>
                <a:close/>
              </a:path>
            </a:pathLst>
          </a:custGeom>
          <a:solidFill>
            <a:srgbClr val="EB7A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343271" y="1186941"/>
            <a:ext cx="1026160" cy="6223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2345"/>
              </a:lnSpc>
              <a:spcBef>
                <a:spcPts val="105"/>
              </a:spcBef>
            </a:pP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Operating</a:t>
            </a:r>
            <a:endParaRPr sz="2000">
              <a:latin typeface="Calibri"/>
              <a:cs typeface="Calibri"/>
            </a:endParaRPr>
          </a:p>
          <a:p>
            <a:pPr algn="ctr" marL="28575">
              <a:lnSpc>
                <a:spcPts val="2345"/>
              </a:lnSpc>
            </a:pP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763384" y="1781429"/>
            <a:ext cx="1908175" cy="2273935"/>
            <a:chOff x="6763384" y="1781429"/>
            <a:chExt cx="1908175" cy="2273935"/>
          </a:xfrm>
        </p:grpSpPr>
        <p:sp>
          <p:nvSpPr>
            <p:cNvPr id="7" name="object 7"/>
            <p:cNvSpPr/>
            <p:nvPr/>
          </p:nvSpPr>
          <p:spPr>
            <a:xfrm>
              <a:off x="6766559" y="1784604"/>
              <a:ext cx="917575" cy="1096010"/>
            </a:xfrm>
            <a:custGeom>
              <a:avLst/>
              <a:gdLst/>
              <a:ahLst/>
              <a:cxnLst/>
              <a:rect l="l" t="t" r="r" b="b"/>
              <a:pathLst>
                <a:path w="917575" h="1096010">
                  <a:moveTo>
                    <a:pt x="0" y="0"/>
                  </a:moveTo>
                  <a:lnTo>
                    <a:pt x="43180" y="23875"/>
                  </a:lnTo>
                  <a:lnTo>
                    <a:pt x="85598" y="48768"/>
                  </a:lnTo>
                  <a:lnTo>
                    <a:pt x="127508" y="74675"/>
                  </a:lnTo>
                  <a:lnTo>
                    <a:pt x="168401" y="101600"/>
                  </a:lnTo>
                  <a:lnTo>
                    <a:pt x="208661" y="129540"/>
                  </a:lnTo>
                  <a:lnTo>
                    <a:pt x="248031" y="158496"/>
                  </a:lnTo>
                  <a:lnTo>
                    <a:pt x="286512" y="188468"/>
                  </a:lnTo>
                  <a:lnTo>
                    <a:pt x="324358" y="219201"/>
                  </a:lnTo>
                  <a:lnTo>
                    <a:pt x="361442" y="250825"/>
                  </a:lnTo>
                  <a:lnTo>
                    <a:pt x="397510" y="283463"/>
                  </a:lnTo>
                  <a:lnTo>
                    <a:pt x="432689" y="316865"/>
                  </a:lnTo>
                  <a:lnTo>
                    <a:pt x="466979" y="351282"/>
                  </a:lnTo>
                  <a:lnTo>
                    <a:pt x="500507" y="386461"/>
                  </a:lnTo>
                  <a:lnTo>
                    <a:pt x="533019" y="422401"/>
                  </a:lnTo>
                  <a:lnTo>
                    <a:pt x="564515" y="459232"/>
                  </a:lnTo>
                  <a:lnTo>
                    <a:pt x="595376" y="496824"/>
                  </a:lnTo>
                  <a:lnTo>
                    <a:pt x="625094" y="535178"/>
                  </a:lnTo>
                  <a:lnTo>
                    <a:pt x="653796" y="574294"/>
                  </a:lnTo>
                  <a:lnTo>
                    <a:pt x="681609" y="614172"/>
                  </a:lnTo>
                  <a:lnTo>
                    <a:pt x="708279" y="654685"/>
                  </a:lnTo>
                  <a:lnTo>
                    <a:pt x="734060" y="695960"/>
                  </a:lnTo>
                  <a:lnTo>
                    <a:pt x="758698" y="737870"/>
                  </a:lnTo>
                  <a:lnTo>
                    <a:pt x="782320" y="780415"/>
                  </a:lnTo>
                  <a:lnTo>
                    <a:pt x="805053" y="823722"/>
                  </a:lnTo>
                  <a:lnTo>
                    <a:pt x="826643" y="867537"/>
                  </a:lnTo>
                  <a:lnTo>
                    <a:pt x="846963" y="911987"/>
                  </a:lnTo>
                  <a:lnTo>
                    <a:pt x="866267" y="957199"/>
                  </a:lnTo>
                  <a:lnTo>
                    <a:pt x="884555" y="1002792"/>
                  </a:lnTo>
                  <a:lnTo>
                    <a:pt x="901573" y="1048893"/>
                  </a:lnTo>
                  <a:lnTo>
                    <a:pt x="917448" y="1095629"/>
                  </a:lnTo>
                </a:path>
              </a:pathLst>
            </a:custGeom>
            <a:ln w="6350">
              <a:solidFill>
                <a:srgbClr val="EB7A2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85431" y="2895600"/>
              <a:ext cx="1786255" cy="1160145"/>
            </a:xfrm>
            <a:custGeom>
              <a:avLst/>
              <a:gdLst/>
              <a:ahLst/>
              <a:cxnLst/>
              <a:rect l="l" t="t" r="r" b="b"/>
              <a:pathLst>
                <a:path w="1786254" h="1160145">
                  <a:moveTo>
                    <a:pt x="1592579" y="0"/>
                  </a:moveTo>
                  <a:lnTo>
                    <a:pt x="193294" y="0"/>
                  </a:lnTo>
                  <a:lnTo>
                    <a:pt x="148971" y="5079"/>
                  </a:lnTo>
                  <a:lnTo>
                    <a:pt x="108203" y="19685"/>
                  </a:lnTo>
                  <a:lnTo>
                    <a:pt x="72390" y="42417"/>
                  </a:lnTo>
                  <a:lnTo>
                    <a:pt x="42418" y="72389"/>
                  </a:lnTo>
                  <a:lnTo>
                    <a:pt x="19685" y="108203"/>
                  </a:lnTo>
                  <a:lnTo>
                    <a:pt x="5079" y="148844"/>
                  </a:lnTo>
                  <a:lnTo>
                    <a:pt x="0" y="193166"/>
                  </a:lnTo>
                  <a:lnTo>
                    <a:pt x="0" y="966343"/>
                  </a:lnTo>
                  <a:lnTo>
                    <a:pt x="5079" y="1010666"/>
                  </a:lnTo>
                  <a:lnTo>
                    <a:pt x="19685" y="1051433"/>
                  </a:lnTo>
                  <a:lnTo>
                    <a:pt x="42418" y="1087247"/>
                  </a:lnTo>
                  <a:lnTo>
                    <a:pt x="72390" y="1117219"/>
                  </a:lnTo>
                  <a:lnTo>
                    <a:pt x="108203" y="1139952"/>
                  </a:lnTo>
                  <a:lnTo>
                    <a:pt x="148971" y="1154557"/>
                  </a:lnTo>
                  <a:lnTo>
                    <a:pt x="193294" y="1159637"/>
                  </a:lnTo>
                  <a:lnTo>
                    <a:pt x="1592579" y="1159637"/>
                  </a:lnTo>
                  <a:lnTo>
                    <a:pt x="1636902" y="1154557"/>
                  </a:lnTo>
                  <a:lnTo>
                    <a:pt x="1677670" y="1139952"/>
                  </a:lnTo>
                  <a:lnTo>
                    <a:pt x="1713484" y="1117219"/>
                  </a:lnTo>
                  <a:lnTo>
                    <a:pt x="1743456" y="1087247"/>
                  </a:lnTo>
                  <a:lnTo>
                    <a:pt x="1766189" y="1051433"/>
                  </a:lnTo>
                  <a:lnTo>
                    <a:pt x="1780794" y="1010666"/>
                  </a:lnTo>
                  <a:lnTo>
                    <a:pt x="1785874" y="966343"/>
                  </a:lnTo>
                  <a:lnTo>
                    <a:pt x="1785874" y="193166"/>
                  </a:lnTo>
                  <a:lnTo>
                    <a:pt x="1780794" y="148844"/>
                  </a:lnTo>
                  <a:lnTo>
                    <a:pt x="1766189" y="108203"/>
                  </a:lnTo>
                  <a:lnTo>
                    <a:pt x="1743456" y="72389"/>
                  </a:lnTo>
                  <a:lnTo>
                    <a:pt x="1713484" y="42417"/>
                  </a:lnTo>
                  <a:lnTo>
                    <a:pt x="1677670" y="19685"/>
                  </a:lnTo>
                  <a:lnTo>
                    <a:pt x="1636902" y="5079"/>
                  </a:lnTo>
                  <a:lnTo>
                    <a:pt x="1592579" y="0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040118" y="3249295"/>
            <a:ext cx="145542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dirty="0" sz="20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Interface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968240" y="4065904"/>
            <a:ext cx="2720340" cy="1906905"/>
            <a:chOff x="4968240" y="4065904"/>
            <a:chExt cx="2720340" cy="1906905"/>
          </a:xfrm>
        </p:grpSpPr>
        <p:sp>
          <p:nvSpPr>
            <p:cNvPr id="11" name="object 11"/>
            <p:cNvSpPr/>
            <p:nvPr/>
          </p:nvSpPr>
          <p:spPr>
            <a:xfrm>
              <a:off x="6766560" y="4069079"/>
              <a:ext cx="918844" cy="1096010"/>
            </a:xfrm>
            <a:custGeom>
              <a:avLst/>
              <a:gdLst/>
              <a:ahLst/>
              <a:cxnLst/>
              <a:rect l="l" t="t" r="r" b="b"/>
              <a:pathLst>
                <a:path w="918845" h="1096010">
                  <a:moveTo>
                    <a:pt x="918591" y="0"/>
                  </a:moveTo>
                  <a:lnTo>
                    <a:pt x="902716" y="46736"/>
                  </a:lnTo>
                  <a:lnTo>
                    <a:pt x="885571" y="92837"/>
                  </a:lnTo>
                  <a:lnTo>
                    <a:pt x="867410" y="138430"/>
                  </a:lnTo>
                  <a:lnTo>
                    <a:pt x="847979" y="183515"/>
                  </a:lnTo>
                  <a:lnTo>
                    <a:pt x="827532" y="228092"/>
                  </a:lnTo>
                  <a:lnTo>
                    <a:pt x="806069" y="271907"/>
                  </a:lnTo>
                  <a:lnTo>
                    <a:pt x="783463" y="315214"/>
                  </a:lnTo>
                  <a:lnTo>
                    <a:pt x="759714" y="357759"/>
                  </a:lnTo>
                  <a:lnTo>
                    <a:pt x="734949" y="399669"/>
                  </a:lnTo>
                  <a:lnTo>
                    <a:pt x="709168" y="440944"/>
                  </a:lnTo>
                  <a:lnTo>
                    <a:pt x="682371" y="481457"/>
                  </a:lnTo>
                  <a:lnTo>
                    <a:pt x="654685" y="521335"/>
                  </a:lnTo>
                  <a:lnTo>
                    <a:pt x="625856" y="560578"/>
                  </a:lnTo>
                  <a:lnTo>
                    <a:pt x="596138" y="598932"/>
                  </a:lnTo>
                  <a:lnTo>
                    <a:pt x="565404" y="636524"/>
                  </a:lnTo>
                  <a:lnTo>
                    <a:pt x="533781" y="673227"/>
                  </a:lnTo>
                  <a:lnTo>
                    <a:pt x="501142" y="709295"/>
                  </a:lnTo>
                  <a:lnTo>
                    <a:pt x="467614" y="744474"/>
                  </a:lnTo>
                  <a:lnTo>
                    <a:pt x="433197" y="778764"/>
                  </a:lnTo>
                  <a:lnTo>
                    <a:pt x="397891" y="812165"/>
                  </a:lnTo>
                  <a:lnTo>
                    <a:pt x="361696" y="844804"/>
                  </a:lnTo>
                  <a:lnTo>
                    <a:pt x="324739" y="876554"/>
                  </a:lnTo>
                  <a:lnTo>
                    <a:pt x="286893" y="907288"/>
                  </a:lnTo>
                  <a:lnTo>
                    <a:pt x="248285" y="937260"/>
                  </a:lnTo>
                  <a:lnTo>
                    <a:pt x="208788" y="966089"/>
                  </a:lnTo>
                  <a:lnTo>
                    <a:pt x="168529" y="994029"/>
                  </a:lnTo>
                  <a:lnTo>
                    <a:pt x="127508" y="1020953"/>
                  </a:lnTo>
                  <a:lnTo>
                    <a:pt x="85725" y="1046861"/>
                  </a:lnTo>
                  <a:lnTo>
                    <a:pt x="43307" y="1071753"/>
                  </a:lnTo>
                  <a:lnTo>
                    <a:pt x="0" y="1095629"/>
                  </a:lnTo>
                </a:path>
              </a:pathLst>
            </a:custGeom>
            <a:ln w="6350">
              <a:solidFill>
                <a:srgbClr val="A2A2A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968240" y="4812791"/>
              <a:ext cx="1786255" cy="1160145"/>
            </a:xfrm>
            <a:custGeom>
              <a:avLst/>
              <a:gdLst/>
              <a:ahLst/>
              <a:cxnLst/>
              <a:rect l="l" t="t" r="r" b="b"/>
              <a:pathLst>
                <a:path w="1786254" h="1160145">
                  <a:moveTo>
                    <a:pt x="1592580" y="0"/>
                  </a:moveTo>
                  <a:lnTo>
                    <a:pt x="193294" y="0"/>
                  </a:lnTo>
                  <a:lnTo>
                    <a:pt x="148971" y="5079"/>
                  </a:lnTo>
                  <a:lnTo>
                    <a:pt x="108204" y="19684"/>
                  </a:lnTo>
                  <a:lnTo>
                    <a:pt x="72389" y="42417"/>
                  </a:lnTo>
                  <a:lnTo>
                    <a:pt x="42418" y="72389"/>
                  </a:lnTo>
                  <a:lnTo>
                    <a:pt x="19685" y="108203"/>
                  </a:lnTo>
                  <a:lnTo>
                    <a:pt x="5080" y="148843"/>
                  </a:lnTo>
                  <a:lnTo>
                    <a:pt x="0" y="193166"/>
                  </a:lnTo>
                  <a:lnTo>
                    <a:pt x="0" y="966368"/>
                  </a:lnTo>
                  <a:lnTo>
                    <a:pt x="5080" y="1010678"/>
                  </a:lnTo>
                  <a:lnTo>
                    <a:pt x="19685" y="1051356"/>
                  </a:lnTo>
                  <a:lnTo>
                    <a:pt x="42418" y="1087246"/>
                  </a:lnTo>
                  <a:lnTo>
                    <a:pt x="72389" y="1117168"/>
                  </a:lnTo>
                  <a:lnTo>
                    <a:pt x="108204" y="1139990"/>
                  </a:lnTo>
                  <a:lnTo>
                    <a:pt x="148971" y="1154531"/>
                  </a:lnTo>
                  <a:lnTo>
                    <a:pt x="193294" y="1159636"/>
                  </a:lnTo>
                  <a:lnTo>
                    <a:pt x="1592580" y="1159636"/>
                  </a:lnTo>
                  <a:lnTo>
                    <a:pt x="1636903" y="1154531"/>
                  </a:lnTo>
                  <a:lnTo>
                    <a:pt x="1677669" y="1139990"/>
                  </a:lnTo>
                  <a:lnTo>
                    <a:pt x="1713484" y="1117168"/>
                  </a:lnTo>
                  <a:lnTo>
                    <a:pt x="1743456" y="1087246"/>
                  </a:lnTo>
                  <a:lnTo>
                    <a:pt x="1766189" y="1051356"/>
                  </a:lnTo>
                  <a:lnTo>
                    <a:pt x="1780793" y="1010678"/>
                  </a:lnTo>
                  <a:lnTo>
                    <a:pt x="1785874" y="966368"/>
                  </a:lnTo>
                  <a:lnTo>
                    <a:pt x="1785874" y="193166"/>
                  </a:lnTo>
                  <a:lnTo>
                    <a:pt x="1780793" y="148843"/>
                  </a:lnTo>
                  <a:lnTo>
                    <a:pt x="1766189" y="108203"/>
                  </a:lnTo>
                  <a:lnTo>
                    <a:pt x="1743456" y="72389"/>
                  </a:lnTo>
                  <a:lnTo>
                    <a:pt x="1713484" y="42417"/>
                  </a:lnTo>
                  <a:lnTo>
                    <a:pt x="1677669" y="19684"/>
                  </a:lnTo>
                  <a:lnTo>
                    <a:pt x="1636903" y="5079"/>
                  </a:lnTo>
                  <a:lnTo>
                    <a:pt x="159258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384038" y="5166486"/>
            <a:ext cx="9366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Back</a:t>
            </a:r>
            <a:r>
              <a:rPr dirty="0" sz="20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End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051048" y="2895600"/>
            <a:ext cx="1908175" cy="2272665"/>
            <a:chOff x="3051048" y="2895600"/>
            <a:chExt cx="1908175" cy="2272665"/>
          </a:xfrm>
        </p:grpSpPr>
        <p:sp>
          <p:nvSpPr>
            <p:cNvPr id="15" name="object 15"/>
            <p:cNvSpPr/>
            <p:nvPr/>
          </p:nvSpPr>
          <p:spPr>
            <a:xfrm>
              <a:off x="4038600" y="4069080"/>
              <a:ext cx="917575" cy="1096010"/>
            </a:xfrm>
            <a:custGeom>
              <a:avLst/>
              <a:gdLst/>
              <a:ahLst/>
              <a:cxnLst/>
              <a:rect l="l" t="t" r="r" b="b"/>
              <a:pathLst>
                <a:path w="917575" h="1096010">
                  <a:moveTo>
                    <a:pt x="917321" y="1095629"/>
                  </a:moveTo>
                  <a:lnTo>
                    <a:pt x="874140" y="1071753"/>
                  </a:lnTo>
                  <a:lnTo>
                    <a:pt x="831596" y="1046861"/>
                  </a:lnTo>
                  <a:lnTo>
                    <a:pt x="789939" y="1020953"/>
                  </a:lnTo>
                  <a:lnTo>
                    <a:pt x="748919" y="994029"/>
                  </a:lnTo>
                  <a:lnTo>
                    <a:pt x="708787" y="966089"/>
                  </a:lnTo>
                  <a:lnTo>
                    <a:pt x="669289" y="937260"/>
                  </a:lnTo>
                  <a:lnTo>
                    <a:pt x="630682" y="907288"/>
                  </a:lnTo>
                  <a:lnTo>
                    <a:pt x="592963" y="876554"/>
                  </a:lnTo>
                  <a:lnTo>
                    <a:pt x="556005" y="844804"/>
                  </a:lnTo>
                  <a:lnTo>
                    <a:pt x="519938" y="812165"/>
                  </a:lnTo>
                  <a:lnTo>
                    <a:pt x="484632" y="778764"/>
                  </a:lnTo>
                  <a:lnTo>
                    <a:pt x="450469" y="744474"/>
                  </a:lnTo>
                  <a:lnTo>
                    <a:pt x="416940" y="709295"/>
                  </a:lnTo>
                  <a:lnTo>
                    <a:pt x="384428" y="673227"/>
                  </a:lnTo>
                  <a:lnTo>
                    <a:pt x="352805" y="636524"/>
                  </a:lnTo>
                  <a:lnTo>
                    <a:pt x="322072" y="598932"/>
                  </a:lnTo>
                  <a:lnTo>
                    <a:pt x="292353" y="560578"/>
                  </a:lnTo>
                  <a:lnTo>
                    <a:pt x="263651" y="521335"/>
                  </a:lnTo>
                  <a:lnTo>
                    <a:pt x="235838" y="481457"/>
                  </a:lnTo>
                  <a:lnTo>
                    <a:pt x="209169" y="440944"/>
                  </a:lnTo>
                  <a:lnTo>
                    <a:pt x="183387" y="399669"/>
                  </a:lnTo>
                  <a:lnTo>
                    <a:pt x="158623" y="357759"/>
                  </a:lnTo>
                  <a:lnTo>
                    <a:pt x="135000" y="315214"/>
                  </a:lnTo>
                  <a:lnTo>
                    <a:pt x="112395" y="271907"/>
                  </a:lnTo>
                  <a:lnTo>
                    <a:pt x="90932" y="228092"/>
                  </a:lnTo>
                  <a:lnTo>
                    <a:pt x="70485" y="183515"/>
                  </a:lnTo>
                  <a:lnTo>
                    <a:pt x="51180" y="138430"/>
                  </a:lnTo>
                  <a:lnTo>
                    <a:pt x="32892" y="92837"/>
                  </a:lnTo>
                  <a:lnTo>
                    <a:pt x="15875" y="46736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051048" y="2895600"/>
              <a:ext cx="1786255" cy="1160145"/>
            </a:xfrm>
            <a:custGeom>
              <a:avLst/>
              <a:gdLst/>
              <a:ahLst/>
              <a:cxnLst/>
              <a:rect l="l" t="t" r="r" b="b"/>
              <a:pathLst>
                <a:path w="1786254" h="1160145">
                  <a:moveTo>
                    <a:pt x="1592579" y="0"/>
                  </a:moveTo>
                  <a:lnTo>
                    <a:pt x="193294" y="0"/>
                  </a:lnTo>
                  <a:lnTo>
                    <a:pt x="148970" y="5079"/>
                  </a:lnTo>
                  <a:lnTo>
                    <a:pt x="108203" y="19685"/>
                  </a:lnTo>
                  <a:lnTo>
                    <a:pt x="72389" y="42417"/>
                  </a:lnTo>
                  <a:lnTo>
                    <a:pt x="42418" y="72389"/>
                  </a:lnTo>
                  <a:lnTo>
                    <a:pt x="19684" y="108203"/>
                  </a:lnTo>
                  <a:lnTo>
                    <a:pt x="5079" y="148844"/>
                  </a:lnTo>
                  <a:lnTo>
                    <a:pt x="0" y="193166"/>
                  </a:lnTo>
                  <a:lnTo>
                    <a:pt x="0" y="966343"/>
                  </a:lnTo>
                  <a:lnTo>
                    <a:pt x="5079" y="1010666"/>
                  </a:lnTo>
                  <a:lnTo>
                    <a:pt x="19684" y="1051433"/>
                  </a:lnTo>
                  <a:lnTo>
                    <a:pt x="42418" y="1087247"/>
                  </a:lnTo>
                  <a:lnTo>
                    <a:pt x="72389" y="1117219"/>
                  </a:lnTo>
                  <a:lnTo>
                    <a:pt x="108203" y="1139952"/>
                  </a:lnTo>
                  <a:lnTo>
                    <a:pt x="148970" y="1154557"/>
                  </a:lnTo>
                  <a:lnTo>
                    <a:pt x="193294" y="1159637"/>
                  </a:lnTo>
                  <a:lnTo>
                    <a:pt x="1592579" y="1159637"/>
                  </a:lnTo>
                  <a:lnTo>
                    <a:pt x="1636902" y="1154557"/>
                  </a:lnTo>
                  <a:lnTo>
                    <a:pt x="1677669" y="1139952"/>
                  </a:lnTo>
                  <a:lnTo>
                    <a:pt x="1713484" y="1117219"/>
                  </a:lnTo>
                  <a:lnTo>
                    <a:pt x="1743455" y="1087247"/>
                  </a:lnTo>
                  <a:lnTo>
                    <a:pt x="1766189" y="1051433"/>
                  </a:lnTo>
                  <a:lnTo>
                    <a:pt x="1780793" y="1010666"/>
                  </a:lnTo>
                  <a:lnTo>
                    <a:pt x="1785874" y="966343"/>
                  </a:lnTo>
                  <a:lnTo>
                    <a:pt x="1785874" y="193166"/>
                  </a:lnTo>
                  <a:lnTo>
                    <a:pt x="1780793" y="148844"/>
                  </a:lnTo>
                  <a:lnTo>
                    <a:pt x="1766189" y="108203"/>
                  </a:lnTo>
                  <a:lnTo>
                    <a:pt x="1743455" y="72389"/>
                  </a:lnTo>
                  <a:lnTo>
                    <a:pt x="1713484" y="42417"/>
                  </a:lnTo>
                  <a:lnTo>
                    <a:pt x="1677669" y="19685"/>
                  </a:lnTo>
                  <a:lnTo>
                    <a:pt x="1636902" y="5079"/>
                  </a:lnTo>
                  <a:lnTo>
                    <a:pt x="1592579" y="0"/>
                  </a:lnTo>
                  <a:close/>
                </a:path>
              </a:pathLst>
            </a:custGeom>
            <a:solidFill>
              <a:srgbClr val="5B9BD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408045" y="3106293"/>
            <a:ext cx="1054735" cy="62230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 marR="5080" indent="17780">
              <a:lnSpc>
                <a:spcPts val="2290"/>
              </a:lnSpc>
              <a:spcBef>
                <a:spcPts val="270"/>
              </a:spcBef>
            </a:pP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Hardware 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Resources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038600" y="1784604"/>
            <a:ext cx="917575" cy="1096010"/>
          </a:xfrm>
          <a:custGeom>
            <a:avLst/>
            <a:gdLst/>
            <a:ahLst/>
            <a:cxnLst/>
            <a:rect l="l" t="t" r="r" b="b"/>
            <a:pathLst>
              <a:path w="917575" h="1096010">
                <a:moveTo>
                  <a:pt x="0" y="1095629"/>
                </a:moveTo>
                <a:lnTo>
                  <a:pt x="15875" y="1048893"/>
                </a:lnTo>
                <a:lnTo>
                  <a:pt x="32892" y="1002792"/>
                </a:lnTo>
                <a:lnTo>
                  <a:pt x="51180" y="957199"/>
                </a:lnTo>
                <a:lnTo>
                  <a:pt x="70485" y="911987"/>
                </a:lnTo>
                <a:lnTo>
                  <a:pt x="90932" y="867537"/>
                </a:lnTo>
                <a:lnTo>
                  <a:pt x="112395" y="823722"/>
                </a:lnTo>
                <a:lnTo>
                  <a:pt x="135000" y="780415"/>
                </a:lnTo>
                <a:lnTo>
                  <a:pt x="158623" y="737870"/>
                </a:lnTo>
                <a:lnTo>
                  <a:pt x="183387" y="695960"/>
                </a:lnTo>
                <a:lnTo>
                  <a:pt x="209169" y="654685"/>
                </a:lnTo>
                <a:lnTo>
                  <a:pt x="235838" y="614172"/>
                </a:lnTo>
                <a:lnTo>
                  <a:pt x="263651" y="574294"/>
                </a:lnTo>
                <a:lnTo>
                  <a:pt x="292353" y="535178"/>
                </a:lnTo>
                <a:lnTo>
                  <a:pt x="322072" y="496824"/>
                </a:lnTo>
                <a:lnTo>
                  <a:pt x="352805" y="459232"/>
                </a:lnTo>
                <a:lnTo>
                  <a:pt x="384428" y="422401"/>
                </a:lnTo>
                <a:lnTo>
                  <a:pt x="416940" y="386461"/>
                </a:lnTo>
                <a:lnTo>
                  <a:pt x="450469" y="351282"/>
                </a:lnTo>
                <a:lnTo>
                  <a:pt x="484632" y="316865"/>
                </a:lnTo>
                <a:lnTo>
                  <a:pt x="519938" y="283463"/>
                </a:lnTo>
                <a:lnTo>
                  <a:pt x="556005" y="250825"/>
                </a:lnTo>
                <a:lnTo>
                  <a:pt x="592963" y="219201"/>
                </a:lnTo>
                <a:lnTo>
                  <a:pt x="630682" y="188468"/>
                </a:lnTo>
                <a:lnTo>
                  <a:pt x="669289" y="158496"/>
                </a:lnTo>
                <a:lnTo>
                  <a:pt x="708787" y="129540"/>
                </a:lnTo>
                <a:lnTo>
                  <a:pt x="748919" y="101600"/>
                </a:lnTo>
                <a:lnTo>
                  <a:pt x="789939" y="74675"/>
                </a:lnTo>
                <a:lnTo>
                  <a:pt x="831596" y="48768"/>
                </a:lnTo>
                <a:lnTo>
                  <a:pt x="874140" y="23875"/>
                </a:lnTo>
                <a:lnTo>
                  <a:pt x="917321" y="0"/>
                </a:lnTo>
              </a:path>
            </a:pathLst>
          </a:custGeom>
          <a:ln w="6348">
            <a:solidFill>
              <a:srgbClr val="5B9BD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007355" y="3196844"/>
            <a:ext cx="1778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110" marR="5080" indent="-360045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latin typeface="Calibri"/>
                <a:cs typeface="Calibri"/>
              </a:rPr>
              <a:t>Anatomy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Mobile Application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90"/>
              <a:t>ANATOMY</a:t>
            </a:r>
            <a:r>
              <a:rPr dirty="0" spc="195"/>
              <a:t> </a:t>
            </a:r>
            <a:r>
              <a:rPr dirty="0"/>
              <a:t>OF</a:t>
            </a:r>
            <a:r>
              <a:rPr dirty="0" spc="160"/>
              <a:t> </a:t>
            </a:r>
            <a:r>
              <a:rPr dirty="0"/>
              <a:t>MOBILE</a:t>
            </a:r>
            <a:r>
              <a:rPr dirty="0" spc="-220"/>
              <a:t> </a:t>
            </a:r>
            <a:r>
              <a:rPr dirty="0" spc="-10"/>
              <a:t>APPLICATION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5640" y="1212341"/>
            <a:ext cx="6534150" cy="3850004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25"/>
              </a:spcBef>
            </a:pPr>
            <a:r>
              <a:rPr dirty="0" sz="2400" spc="-35" b="1">
                <a:latin typeface="Calibri"/>
                <a:cs typeface="Calibri"/>
              </a:rPr>
              <a:t>Operating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  <a:p>
            <a:pPr algn="just" marL="240029" marR="339725" indent="-227965">
              <a:lnSpc>
                <a:spcPct val="90200"/>
              </a:lnSpc>
              <a:spcBef>
                <a:spcPts val="11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Majority</a:t>
            </a:r>
            <a:r>
              <a:rPr dirty="0" sz="2400" spc="5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5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smart</a:t>
            </a:r>
            <a:r>
              <a:rPr dirty="0" sz="2400" spc="5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phones</a:t>
            </a:r>
            <a:r>
              <a:rPr dirty="0" sz="2400" spc="5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run</a:t>
            </a:r>
            <a:r>
              <a:rPr dirty="0" sz="2400" spc="5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either</a:t>
            </a:r>
            <a:r>
              <a:rPr dirty="0" sz="2400" spc="5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Android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(developed</a:t>
            </a:r>
            <a:r>
              <a:rPr dirty="0" sz="2400" spc="3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3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Google)</a:t>
            </a:r>
            <a:r>
              <a:rPr dirty="0" sz="2400" spc="3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3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iOS</a:t>
            </a:r>
            <a:r>
              <a:rPr dirty="0" sz="2400" spc="3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(Apple’s</a:t>
            </a:r>
            <a:r>
              <a:rPr dirty="0" sz="2400" spc="3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mobile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OS).</a:t>
            </a:r>
            <a:endParaRPr sz="2400">
              <a:latin typeface="Calibri"/>
              <a:cs typeface="Calibri"/>
            </a:endParaRPr>
          </a:p>
          <a:p>
            <a:pPr algn="just" marL="240029" marR="5080" indent="-227965">
              <a:lnSpc>
                <a:spcPct val="903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operating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system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controls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whole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phone,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in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particular</a:t>
            </a:r>
            <a:r>
              <a:rPr dirty="0" sz="2400" spc="2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providing</a:t>
            </a:r>
            <a:r>
              <a:rPr dirty="0" sz="2400" spc="2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access</a:t>
            </a:r>
            <a:r>
              <a:rPr dirty="0" sz="2400" spc="2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2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hardware</a:t>
            </a:r>
            <a:r>
              <a:rPr dirty="0" sz="2400" spc="2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functions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such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GPS,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data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network,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motion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sensors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storage.</a:t>
            </a:r>
            <a:endParaRPr sz="2400">
              <a:latin typeface="Calibri"/>
              <a:cs typeface="Calibri"/>
            </a:endParaRPr>
          </a:p>
          <a:p>
            <a:pPr algn="just" marL="240029" marR="342265" indent="-227965">
              <a:lnSpc>
                <a:spcPts val="27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also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35">
                <a:latin typeface="Calibri"/>
                <a:cs typeface="Calibri"/>
              </a:rPr>
              <a:t>coordinates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things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like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notifications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(more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those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later).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1171" y="2587751"/>
            <a:ext cx="4730496" cy="21000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90"/>
              <a:t>ANATOMY</a:t>
            </a:r>
            <a:r>
              <a:rPr dirty="0" spc="195"/>
              <a:t> </a:t>
            </a:r>
            <a:r>
              <a:rPr dirty="0"/>
              <a:t>OF</a:t>
            </a:r>
            <a:r>
              <a:rPr dirty="0" spc="160"/>
              <a:t> </a:t>
            </a:r>
            <a:r>
              <a:rPr dirty="0"/>
              <a:t>MOBILE</a:t>
            </a:r>
            <a:r>
              <a:rPr dirty="0" spc="-220"/>
              <a:t> </a:t>
            </a:r>
            <a:r>
              <a:rPr dirty="0" spc="-10"/>
              <a:t>APPLICATION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5640" y="1206530"/>
            <a:ext cx="6178550" cy="310007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b="1">
                <a:latin typeface="Calibri"/>
                <a:cs typeface="Calibri"/>
              </a:rPr>
              <a:t>User</a:t>
            </a:r>
            <a:r>
              <a:rPr dirty="0" sz="2800" spc="-15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Interface</a:t>
            </a:r>
            <a:endParaRPr sz="2800">
              <a:latin typeface="Calibri"/>
              <a:cs typeface="Calibri"/>
            </a:endParaRPr>
          </a:p>
          <a:p>
            <a:pPr marL="239395" marR="5080" indent="-227329">
              <a:lnSpc>
                <a:spcPct val="89300"/>
              </a:lnSpc>
              <a:spcBef>
                <a:spcPts val="11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user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interface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UI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combination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1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what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you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see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when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you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load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run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your</a:t>
            </a:r>
            <a:r>
              <a:rPr dirty="0" sz="2800" spc="-1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app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way</a:t>
            </a:r>
            <a:r>
              <a:rPr dirty="0" sz="2800" spc="-1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you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35">
                <a:latin typeface="Calibri"/>
                <a:cs typeface="Calibri"/>
              </a:rPr>
              <a:t>interact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it.</a:t>
            </a:r>
            <a:endParaRPr sz="2800">
              <a:latin typeface="Calibri"/>
              <a:cs typeface="Calibri"/>
            </a:endParaRPr>
          </a:p>
          <a:p>
            <a:pPr marL="239395" marR="56515" indent="-227329">
              <a:lnSpc>
                <a:spcPts val="300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45">
                <a:latin typeface="Calibri"/>
                <a:cs typeface="Calibri"/>
              </a:rPr>
              <a:t>different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elements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UI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combine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1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provide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you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1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good</a:t>
            </a:r>
            <a:r>
              <a:rPr dirty="0" sz="2800" spc="-14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user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experience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(or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UX).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8792" y="1214627"/>
            <a:ext cx="418795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90"/>
              <a:t>ANATOMY</a:t>
            </a:r>
            <a:r>
              <a:rPr dirty="0" spc="195"/>
              <a:t> </a:t>
            </a:r>
            <a:r>
              <a:rPr dirty="0"/>
              <a:t>OF</a:t>
            </a:r>
            <a:r>
              <a:rPr dirty="0" spc="160"/>
              <a:t> </a:t>
            </a:r>
            <a:r>
              <a:rPr dirty="0"/>
              <a:t>MOBILE</a:t>
            </a:r>
            <a:r>
              <a:rPr dirty="0" spc="-220"/>
              <a:t> </a:t>
            </a:r>
            <a:r>
              <a:rPr dirty="0" spc="-10"/>
              <a:t>APPLICATION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0692" y="1309077"/>
            <a:ext cx="5500370" cy="297116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 b="1">
                <a:latin typeface="Calibri"/>
                <a:cs typeface="Calibri"/>
              </a:rPr>
              <a:t>Back</a:t>
            </a:r>
            <a:r>
              <a:rPr dirty="0" sz="2800" spc="-105" b="1">
                <a:latin typeface="Calibri"/>
                <a:cs typeface="Calibri"/>
              </a:rPr>
              <a:t> </a:t>
            </a:r>
            <a:r>
              <a:rPr dirty="0" sz="2800" spc="-25" b="1">
                <a:latin typeface="Calibri"/>
                <a:cs typeface="Calibri"/>
              </a:rPr>
              <a:t>End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40">
                <a:latin typeface="Calibri"/>
                <a:cs typeface="Calibri"/>
              </a:rPr>
              <a:t>back-</a:t>
            </a:r>
            <a:r>
              <a:rPr dirty="0" sz="2800">
                <a:latin typeface="Calibri"/>
                <a:cs typeface="Calibri"/>
              </a:rPr>
              <a:t>end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service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provides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functionalities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app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needs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to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35">
                <a:latin typeface="Calibri"/>
                <a:cs typeface="Calibri"/>
              </a:rPr>
              <a:t>store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manage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data,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authenticate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users,</a:t>
            </a:r>
            <a:r>
              <a:rPr dirty="0" sz="2800" spc="-15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process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14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analyze</a:t>
            </a:r>
            <a:r>
              <a:rPr dirty="0" sz="2800" spc="-1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data,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and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35">
                <a:latin typeface="Calibri"/>
                <a:cs typeface="Calibri"/>
              </a:rPr>
              <a:t>communicate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with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other</a:t>
            </a:r>
            <a:r>
              <a:rPr dirty="0" sz="2800" spc="-145">
                <a:latin typeface="Calibri"/>
                <a:cs typeface="Calibri"/>
              </a:rPr>
              <a:t> </a:t>
            </a:r>
            <a:r>
              <a:rPr dirty="0" sz="2800" spc="-40">
                <a:latin typeface="Calibri"/>
                <a:cs typeface="Calibri"/>
              </a:rPr>
              <a:t>systems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or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services.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6708" y="1505711"/>
            <a:ext cx="5155692" cy="36103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90"/>
              <a:t>ANATOMY</a:t>
            </a:r>
            <a:r>
              <a:rPr dirty="0" spc="195"/>
              <a:t> </a:t>
            </a:r>
            <a:r>
              <a:rPr dirty="0"/>
              <a:t>OF</a:t>
            </a:r>
            <a:r>
              <a:rPr dirty="0" spc="160"/>
              <a:t> </a:t>
            </a:r>
            <a:r>
              <a:rPr dirty="0"/>
              <a:t>MOBILE</a:t>
            </a:r>
            <a:r>
              <a:rPr dirty="0" spc="-220"/>
              <a:t> </a:t>
            </a:r>
            <a:r>
              <a:rPr dirty="0" spc="-10"/>
              <a:t>APPLICATION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0692" y="1309077"/>
            <a:ext cx="5446395" cy="42506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 spc="-30" b="1">
                <a:latin typeface="Calibri"/>
                <a:cs typeface="Calibri"/>
              </a:rPr>
              <a:t>Hardware</a:t>
            </a:r>
            <a:r>
              <a:rPr dirty="0" sz="2800" spc="-11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Resources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most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modern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phones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there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a </a:t>
            </a:r>
            <a:r>
              <a:rPr dirty="0" sz="2800" spc="-5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huge</a:t>
            </a:r>
            <a:r>
              <a:rPr dirty="0" sz="2800" spc="-135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array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sensors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services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app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could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access.</a:t>
            </a:r>
            <a:endParaRPr sz="2800">
              <a:latin typeface="Calibri"/>
              <a:cs typeface="Calibri"/>
            </a:endParaRPr>
          </a:p>
          <a:p>
            <a:pPr marL="240029" marR="40005" indent="-227329">
              <a:lnSpc>
                <a:spcPct val="90000"/>
              </a:lnSpc>
              <a:spcBef>
                <a:spcPts val="96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20">
                <a:latin typeface="Calibri"/>
                <a:cs typeface="Calibri"/>
              </a:rPr>
              <a:t>These</a:t>
            </a:r>
            <a:r>
              <a:rPr dirty="0" sz="2800" spc="-140">
                <a:latin typeface="Calibri"/>
                <a:cs typeface="Calibri"/>
              </a:rPr>
              <a:t> </a:t>
            </a:r>
            <a:r>
              <a:rPr dirty="0" sz="2800" spc="-35">
                <a:latin typeface="Calibri"/>
                <a:cs typeface="Calibri"/>
              </a:rPr>
              <a:t>hardware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include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GPS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giving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your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position,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accelerometers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track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movement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your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phone,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speaker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other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audio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outputs,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the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microphone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camera(s)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3996" y="2577083"/>
            <a:ext cx="5890259" cy="232714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56182" y="184937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 h="0">
                <a:moveTo>
                  <a:pt x="0" y="0"/>
                </a:moveTo>
                <a:lnTo>
                  <a:pt x="9607296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7272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MOBILE</a:t>
            </a:r>
            <a:r>
              <a:rPr dirty="0" spc="-160"/>
              <a:t> </a:t>
            </a:r>
            <a:r>
              <a:rPr dirty="0"/>
              <a:t>APPLICATION</a:t>
            </a:r>
            <a:r>
              <a:rPr dirty="0" spc="405"/>
              <a:t> </a:t>
            </a:r>
            <a:r>
              <a:rPr dirty="0"/>
              <a:t>MARKET</a:t>
            </a:r>
            <a:r>
              <a:rPr dirty="0" spc="-150"/>
              <a:t> </a:t>
            </a:r>
            <a:r>
              <a:rPr dirty="0" spc="55"/>
              <a:t>TRENDS</a:t>
            </a:r>
            <a:r>
              <a:rPr dirty="0" spc="-165"/>
              <a:t> </a:t>
            </a:r>
            <a:r>
              <a:rPr dirty="0" spc="200"/>
              <a:t>AND</a:t>
            </a:r>
            <a:r>
              <a:rPr dirty="0" spc="580"/>
              <a:t> </a:t>
            </a:r>
            <a:r>
              <a:rPr dirty="0" spc="-10"/>
              <a:t>STATISTIC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183" y="969263"/>
            <a:ext cx="9441180" cy="47640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965440" y="1385391"/>
            <a:ext cx="7620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Android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4586" y="3171901"/>
            <a:ext cx="3276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libri"/>
                <a:cs typeface="Calibri"/>
              </a:rPr>
              <a:t>iOS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893052" y="1702307"/>
            <a:ext cx="2291080" cy="2152015"/>
          </a:xfrm>
          <a:custGeom>
            <a:avLst/>
            <a:gdLst/>
            <a:ahLst/>
            <a:cxnLst/>
            <a:rect l="l" t="t" r="r" b="b"/>
            <a:pathLst>
              <a:path w="2291079" h="2152015">
                <a:moveTo>
                  <a:pt x="1444371" y="11938"/>
                </a:moveTo>
                <a:lnTo>
                  <a:pt x="1440053" y="0"/>
                </a:lnTo>
                <a:lnTo>
                  <a:pt x="69723" y="485140"/>
                </a:lnTo>
                <a:lnTo>
                  <a:pt x="59055" y="455168"/>
                </a:lnTo>
                <a:lnTo>
                  <a:pt x="0" y="516509"/>
                </a:lnTo>
                <a:lnTo>
                  <a:pt x="84582" y="527050"/>
                </a:lnTo>
                <a:lnTo>
                  <a:pt x="73914" y="496951"/>
                </a:lnTo>
                <a:lnTo>
                  <a:pt x="1444371" y="11938"/>
                </a:lnTo>
                <a:close/>
              </a:path>
              <a:path w="2291079" h="2152015">
                <a:moveTo>
                  <a:pt x="2290572" y="1828165"/>
                </a:moveTo>
                <a:lnTo>
                  <a:pt x="2285238" y="1816481"/>
                </a:lnTo>
                <a:lnTo>
                  <a:pt x="1633728" y="2111121"/>
                </a:lnTo>
                <a:lnTo>
                  <a:pt x="1620647" y="2082165"/>
                </a:lnTo>
                <a:lnTo>
                  <a:pt x="1566926" y="2148205"/>
                </a:lnTo>
                <a:lnTo>
                  <a:pt x="1652016" y="2151507"/>
                </a:lnTo>
                <a:lnTo>
                  <a:pt x="1638935" y="2122678"/>
                </a:lnTo>
                <a:lnTo>
                  <a:pt x="2290572" y="1828165"/>
                </a:lnTo>
                <a:close/>
              </a:path>
            </a:pathLst>
          </a:custGeom>
          <a:solidFill>
            <a:srgbClr val="446F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49123" y="5709615"/>
            <a:ext cx="65182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Source</a:t>
            </a:r>
            <a:r>
              <a:rPr dirty="0" sz="1800">
                <a:latin typeface="Calibri"/>
                <a:cs typeface="Calibri"/>
              </a:rPr>
              <a:t>:</a:t>
            </a:r>
            <a:r>
              <a:rPr dirty="0" sz="1800" spc="330">
                <a:latin typeface="Calibri"/>
                <a:cs typeface="Calibri"/>
              </a:rPr>
              <a:t> </a:t>
            </a:r>
            <a:r>
              <a:rPr dirty="0" u="sng" sz="1800" spc="-50">
                <a:solidFill>
                  <a:srgbClr val="F82B5C"/>
                </a:solidFill>
                <a:uFill>
                  <a:solidFill>
                    <a:srgbClr val="0460C1"/>
                  </a:solidFill>
                </a:uFill>
                <a:latin typeface="Calibri"/>
                <a:cs typeface="Calibri"/>
                <a:hlinkClick r:id="rId3"/>
              </a:rPr>
              <a:t>https://gs.statcounter.com/os-</a:t>
            </a:r>
            <a:r>
              <a:rPr dirty="0" u="sng" sz="1800" spc="-55">
                <a:solidFill>
                  <a:srgbClr val="F82B5C"/>
                </a:solidFill>
                <a:uFill>
                  <a:solidFill>
                    <a:srgbClr val="0460C1"/>
                  </a:solidFill>
                </a:uFill>
                <a:latin typeface="Calibri"/>
                <a:cs typeface="Calibri"/>
                <a:hlinkClick r:id="rId3"/>
              </a:rPr>
              <a:t>market-</a:t>
            </a:r>
            <a:r>
              <a:rPr dirty="0" u="sng" sz="1800" spc="-10">
                <a:solidFill>
                  <a:srgbClr val="F82B5C"/>
                </a:solidFill>
                <a:uFill>
                  <a:solidFill>
                    <a:srgbClr val="0460C1"/>
                  </a:solidFill>
                </a:uFill>
                <a:latin typeface="Calibri"/>
                <a:cs typeface="Calibri"/>
                <a:hlinkClick r:id="rId3"/>
              </a:rPr>
              <a:t>share/mobile/worldwide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5"/>
              <a:t>MOBILE</a:t>
            </a:r>
            <a:r>
              <a:rPr dirty="0" spc="-175"/>
              <a:t> </a:t>
            </a:r>
            <a:r>
              <a:rPr dirty="0"/>
              <a:t>APPLICATION</a:t>
            </a:r>
            <a:r>
              <a:rPr dirty="0" spc="409"/>
              <a:t> </a:t>
            </a:r>
            <a:r>
              <a:rPr dirty="0"/>
              <a:t>MARKET</a:t>
            </a:r>
            <a:r>
              <a:rPr dirty="0" spc="-150"/>
              <a:t> </a:t>
            </a:r>
            <a:r>
              <a:rPr dirty="0" spc="55"/>
              <a:t>TRENDS</a:t>
            </a:r>
            <a:r>
              <a:rPr dirty="0" spc="-170"/>
              <a:t> </a:t>
            </a:r>
            <a:r>
              <a:rPr dirty="0" spc="200"/>
              <a:t>AND</a:t>
            </a:r>
            <a:r>
              <a:rPr dirty="0" spc="565"/>
              <a:t> </a:t>
            </a:r>
            <a:r>
              <a:rPr dirty="0" spc="-10"/>
              <a:t>STATISTIC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7983" y="1498091"/>
            <a:ext cx="7414259" cy="39151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5"/>
              <a:t>MOBILE</a:t>
            </a:r>
            <a:r>
              <a:rPr dirty="0" spc="-175"/>
              <a:t> </a:t>
            </a:r>
            <a:r>
              <a:rPr dirty="0"/>
              <a:t>APPLICATION</a:t>
            </a:r>
            <a:r>
              <a:rPr dirty="0" spc="409"/>
              <a:t> </a:t>
            </a:r>
            <a:r>
              <a:rPr dirty="0"/>
              <a:t>MARKET</a:t>
            </a:r>
            <a:r>
              <a:rPr dirty="0" spc="-150"/>
              <a:t> </a:t>
            </a:r>
            <a:r>
              <a:rPr dirty="0" spc="55"/>
              <a:t>TRENDS</a:t>
            </a:r>
            <a:r>
              <a:rPr dirty="0" spc="-170"/>
              <a:t> </a:t>
            </a:r>
            <a:r>
              <a:rPr dirty="0" spc="200"/>
              <a:t>AND</a:t>
            </a:r>
            <a:r>
              <a:rPr dirty="0" spc="565"/>
              <a:t> </a:t>
            </a:r>
            <a:r>
              <a:rPr dirty="0" spc="-10"/>
              <a:t>STATISTIC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7651" y="1316736"/>
            <a:ext cx="8083296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8285">
              <a:lnSpc>
                <a:spcPct val="100000"/>
              </a:lnSpc>
              <a:spcBef>
                <a:spcPts val="95"/>
              </a:spcBef>
            </a:pPr>
            <a:r>
              <a:rPr dirty="0" spc="-15"/>
              <a:t>MOBILE</a:t>
            </a:r>
            <a:r>
              <a:rPr dirty="0" spc="-175"/>
              <a:t> </a:t>
            </a:r>
            <a:r>
              <a:rPr dirty="0"/>
              <a:t>APPLICATION</a:t>
            </a:r>
            <a:r>
              <a:rPr dirty="0" spc="409"/>
              <a:t> </a:t>
            </a:r>
            <a:r>
              <a:rPr dirty="0"/>
              <a:t>MARKET</a:t>
            </a:r>
            <a:r>
              <a:rPr dirty="0" spc="-150"/>
              <a:t> </a:t>
            </a:r>
            <a:r>
              <a:rPr dirty="0" spc="55"/>
              <a:t>TRENDS</a:t>
            </a:r>
            <a:r>
              <a:rPr dirty="0" spc="-170"/>
              <a:t> </a:t>
            </a:r>
            <a:r>
              <a:rPr dirty="0" spc="200"/>
              <a:t>AND</a:t>
            </a:r>
            <a:r>
              <a:rPr dirty="0" spc="565"/>
              <a:t> </a:t>
            </a:r>
            <a:r>
              <a:rPr dirty="0" spc="-10"/>
              <a:t>STATISTIC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4539" y="1101852"/>
            <a:ext cx="8404860" cy="48691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2813" y="1063497"/>
            <a:ext cx="11014075" cy="197612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239395" marR="5080" indent="-227329">
              <a:lnSpc>
                <a:spcPts val="3500"/>
              </a:lnSpc>
              <a:spcBef>
                <a:spcPts val="50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3200" spc="-45">
                <a:latin typeface="Calibri"/>
                <a:cs typeface="Calibri"/>
              </a:rPr>
              <a:t>Market</a:t>
            </a:r>
            <a:r>
              <a:rPr dirty="0" sz="3200" spc="-18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research</a:t>
            </a:r>
            <a:r>
              <a:rPr dirty="0" sz="3200" spc="-1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1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first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step</a:t>
            </a:r>
            <a:r>
              <a:rPr dirty="0" sz="3200" spc="-1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every</a:t>
            </a:r>
            <a:r>
              <a:rPr dirty="0" sz="3200" spc="-1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mobile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app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development 	project.</a:t>
            </a:r>
            <a:endParaRPr sz="3200">
              <a:latin typeface="Calibri"/>
              <a:cs typeface="Calibri"/>
            </a:endParaRPr>
          </a:p>
          <a:p>
            <a:pPr marL="240665" marR="814069" indent="-228600">
              <a:lnSpc>
                <a:spcPts val="351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3200">
                <a:latin typeface="Calibri"/>
                <a:cs typeface="Calibri"/>
              </a:rPr>
              <a:t>Mobile</a:t>
            </a:r>
            <a:r>
              <a:rPr dirty="0" sz="3200" spc="-1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app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 spc="-45">
                <a:latin typeface="Calibri"/>
                <a:cs typeface="Calibri"/>
              </a:rPr>
              <a:t>market</a:t>
            </a:r>
            <a:r>
              <a:rPr dirty="0" sz="3200" spc="-160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research</a:t>
            </a:r>
            <a:r>
              <a:rPr dirty="0" sz="3200" spc="-1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helps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validate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your</a:t>
            </a:r>
            <a:r>
              <a:rPr dirty="0" sz="3200" spc="-1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app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idea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and </a:t>
            </a:r>
            <a:r>
              <a:rPr dirty="0" sz="3200" spc="-10">
                <a:latin typeface="Calibri"/>
                <a:cs typeface="Calibri"/>
              </a:rPr>
              <a:t>ensures</a:t>
            </a:r>
            <a:r>
              <a:rPr dirty="0" sz="3200" spc="-1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your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app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addressing</a:t>
            </a:r>
            <a:r>
              <a:rPr dirty="0" sz="3200" spc="-12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existing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45">
                <a:latin typeface="Calibri"/>
                <a:cs typeface="Calibri"/>
              </a:rPr>
              <a:t>market</a:t>
            </a:r>
            <a:r>
              <a:rPr dirty="0" sz="3200" spc="-15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needs.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MOBILE</a:t>
            </a:r>
            <a:r>
              <a:rPr dirty="0" spc="-120"/>
              <a:t> </a:t>
            </a:r>
            <a:r>
              <a:rPr dirty="0"/>
              <a:t>APPLICATION</a:t>
            </a:r>
            <a:r>
              <a:rPr dirty="0" spc="484"/>
              <a:t> </a:t>
            </a:r>
            <a:r>
              <a:rPr dirty="0" spc="-25"/>
              <a:t>RESEARCH</a:t>
            </a:r>
            <a:r>
              <a:rPr dirty="0" spc="-114"/>
              <a:t> </a:t>
            </a:r>
            <a:r>
              <a:rPr dirty="0" spc="200"/>
              <a:t>AND</a:t>
            </a:r>
            <a:r>
              <a:rPr dirty="0" spc="610"/>
              <a:t> </a:t>
            </a:r>
            <a:r>
              <a:rPr dirty="0" spc="45"/>
              <a:t>DESIGN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8828" y="3429000"/>
            <a:ext cx="3651504" cy="243382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08254" y="825246"/>
            <a:ext cx="11068050" cy="2543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Calibri"/>
                <a:cs typeface="Calibri"/>
              </a:rPr>
              <a:t>User</a:t>
            </a:r>
            <a:r>
              <a:rPr dirty="0" sz="3000" spc="-11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Experience</a:t>
            </a:r>
            <a:r>
              <a:rPr dirty="0" sz="3000" spc="-10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(UX)</a:t>
            </a:r>
            <a:r>
              <a:rPr dirty="0" sz="3000" spc="-114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and</a:t>
            </a:r>
            <a:r>
              <a:rPr dirty="0" sz="3000" spc="-12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UX</a:t>
            </a:r>
            <a:r>
              <a:rPr dirty="0" sz="3000" spc="-110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Research</a:t>
            </a:r>
            <a:endParaRPr sz="3000">
              <a:latin typeface="Calibri"/>
              <a:cs typeface="Calibri"/>
            </a:endParaRPr>
          </a:p>
          <a:p>
            <a:pPr marL="240665" indent="-227965">
              <a:lnSpc>
                <a:spcPts val="2380"/>
              </a:lnSpc>
              <a:spcBef>
                <a:spcPts val="4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Calibri"/>
                <a:cs typeface="Calibri"/>
              </a:rPr>
              <a:t>User</a:t>
            </a:r>
            <a:r>
              <a:rPr dirty="0" sz="2200" spc="-9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Experience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55">
                <a:latin typeface="Calibri"/>
                <a:cs typeface="Calibri"/>
              </a:rPr>
              <a:t>refers</a:t>
            </a:r>
            <a:r>
              <a:rPr dirty="0" sz="2200" spc="-135"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dirty="0" sz="22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2200" spc="-8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0000"/>
                </a:solidFill>
                <a:latin typeface="Calibri"/>
                <a:cs typeface="Calibri"/>
              </a:rPr>
              <a:t>feeling</a:t>
            </a:r>
            <a:r>
              <a:rPr dirty="0" sz="22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0000"/>
                </a:solidFill>
                <a:latin typeface="Calibri"/>
                <a:cs typeface="Calibri"/>
              </a:rPr>
              <a:t>users</a:t>
            </a:r>
            <a:r>
              <a:rPr dirty="0" sz="2200" spc="-8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0000"/>
                </a:solidFill>
                <a:latin typeface="Calibri"/>
                <a:cs typeface="Calibri"/>
              </a:rPr>
              <a:t>experience</a:t>
            </a:r>
            <a:r>
              <a:rPr dirty="0" sz="2200" spc="-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0000"/>
                </a:solidFill>
                <a:latin typeface="Calibri"/>
                <a:cs typeface="Calibri"/>
              </a:rPr>
              <a:t>when</a:t>
            </a:r>
            <a:r>
              <a:rPr dirty="0" sz="22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0000"/>
                </a:solidFill>
                <a:latin typeface="Calibri"/>
                <a:cs typeface="Calibri"/>
              </a:rPr>
              <a:t>using</a:t>
            </a:r>
            <a:r>
              <a:rPr dirty="0" sz="2200" spc="-7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dirty="0" sz="2200" spc="-7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200" spc="-30">
                <a:solidFill>
                  <a:srgbClr val="FF0000"/>
                </a:solidFill>
                <a:latin typeface="Calibri"/>
                <a:cs typeface="Calibri"/>
              </a:rPr>
              <a:t>product,</a:t>
            </a:r>
            <a:r>
              <a:rPr dirty="0" sz="2200" spc="-9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FF0000"/>
                </a:solidFill>
                <a:latin typeface="Calibri"/>
                <a:cs typeface="Calibri"/>
              </a:rPr>
              <a:t>application,</a:t>
            </a:r>
            <a:r>
              <a:rPr dirty="0" sz="2200" spc="-7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0000"/>
                </a:solidFill>
                <a:latin typeface="Calibri"/>
                <a:cs typeface="Calibri"/>
              </a:rPr>
              <a:t>system,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300"/>
              </a:lnSpc>
            </a:pPr>
            <a:r>
              <a:rPr dirty="0" sz="220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dirty="0" sz="22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0000"/>
                </a:solidFill>
                <a:latin typeface="Calibri"/>
                <a:cs typeface="Calibri"/>
              </a:rPr>
              <a:t>service.</a:t>
            </a:r>
            <a:endParaRPr sz="2200">
              <a:latin typeface="Calibri"/>
              <a:cs typeface="Calibri"/>
            </a:endParaRPr>
          </a:p>
          <a:p>
            <a:pPr marL="241300" marR="176530" indent="-228600">
              <a:lnSpc>
                <a:spcPts val="2210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UX</a:t>
            </a:r>
            <a:r>
              <a:rPr dirty="0" sz="2200" spc="-1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(user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experience)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research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35">
                <a:latin typeface="Calibri"/>
                <a:cs typeface="Calibri"/>
              </a:rPr>
              <a:t>systematic</a:t>
            </a:r>
            <a:r>
              <a:rPr dirty="0" sz="2200" spc="-100">
                <a:latin typeface="Calibri"/>
                <a:cs typeface="Calibri"/>
              </a:rPr>
              <a:t> </a:t>
            </a:r>
            <a:r>
              <a:rPr dirty="0" sz="2200" spc="-40">
                <a:latin typeface="Calibri"/>
                <a:cs typeface="Calibri"/>
              </a:rPr>
              <a:t>investigation</a:t>
            </a:r>
            <a:r>
              <a:rPr dirty="0" sz="2200" spc="-1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114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users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9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their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requirements,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in </a:t>
            </a:r>
            <a:r>
              <a:rPr dirty="0" sz="2200">
                <a:latin typeface="Calibri"/>
                <a:cs typeface="Calibri"/>
              </a:rPr>
              <a:t>order</a:t>
            </a:r>
            <a:r>
              <a:rPr dirty="0" sz="2200" spc="-1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add</a:t>
            </a:r>
            <a:r>
              <a:rPr dirty="0" sz="2200" spc="-11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context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11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insight</a:t>
            </a:r>
            <a:r>
              <a:rPr dirty="0" sz="2200" spc="-9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into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0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process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designing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user</a:t>
            </a:r>
            <a:r>
              <a:rPr dirty="0" sz="2200" spc="-10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experience.</a:t>
            </a:r>
            <a:endParaRPr sz="2200">
              <a:latin typeface="Calibri"/>
              <a:cs typeface="Calibri"/>
            </a:endParaRPr>
          </a:p>
          <a:p>
            <a:pPr marL="241300" marR="32384" indent="-228600">
              <a:lnSpc>
                <a:spcPct val="70000"/>
              </a:lnSpc>
              <a:spcBef>
                <a:spcPts val="11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UX</a:t>
            </a:r>
            <a:r>
              <a:rPr dirty="0" sz="2200" spc="-10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research</a:t>
            </a:r>
            <a:r>
              <a:rPr dirty="0" sz="2200" spc="-1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employs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10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variety</a:t>
            </a:r>
            <a:r>
              <a:rPr dirty="0" sz="2200" spc="-9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9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techniques,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tools,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12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methodologies</a:t>
            </a:r>
            <a:r>
              <a:rPr dirty="0" sz="2200" spc="-9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reach</a:t>
            </a:r>
            <a:r>
              <a:rPr dirty="0" sz="2200" spc="-114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conclusions, determine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facts,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100">
                <a:latin typeface="Calibri"/>
                <a:cs typeface="Calibri"/>
              </a:rPr>
              <a:t> </a:t>
            </a:r>
            <a:r>
              <a:rPr dirty="0" sz="2200" spc="-30">
                <a:latin typeface="Calibri"/>
                <a:cs typeface="Calibri"/>
              </a:rPr>
              <a:t>uncover</a:t>
            </a:r>
            <a:r>
              <a:rPr dirty="0" sz="2200" spc="-9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problems,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thereby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30">
                <a:latin typeface="Calibri"/>
                <a:cs typeface="Calibri"/>
              </a:rPr>
              <a:t>revealing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valuable</a:t>
            </a:r>
            <a:r>
              <a:rPr dirty="0" sz="2200" spc="-120">
                <a:latin typeface="Calibri"/>
                <a:cs typeface="Calibri"/>
              </a:rPr>
              <a:t> </a:t>
            </a:r>
            <a:r>
              <a:rPr dirty="0" sz="2200" spc="-30">
                <a:latin typeface="Calibri"/>
                <a:cs typeface="Calibri"/>
              </a:rPr>
              <a:t>information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1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10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9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fed </a:t>
            </a:r>
            <a:r>
              <a:rPr dirty="0" sz="2200" spc="-10">
                <a:latin typeface="Calibri"/>
                <a:cs typeface="Calibri"/>
              </a:rPr>
              <a:t>into</a:t>
            </a:r>
            <a:r>
              <a:rPr dirty="0" sz="2200" spc="-114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9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design</a:t>
            </a:r>
            <a:r>
              <a:rPr dirty="0" sz="2200" spc="-10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process.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MOBILE</a:t>
            </a:r>
            <a:r>
              <a:rPr dirty="0" spc="-120"/>
              <a:t> </a:t>
            </a:r>
            <a:r>
              <a:rPr dirty="0"/>
              <a:t>APPLICATION</a:t>
            </a:r>
            <a:r>
              <a:rPr dirty="0" spc="484"/>
              <a:t> </a:t>
            </a:r>
            <a:r>
              <a:rPr dirty="0" spc="-25"/>
              <a:t>RESEARCH</a:t>
            </a:r>
            <a:r>
              <a:rPr dirty="0" spc="-114"/>
              <a:t> </a:t>
            </a:r>
            <a:r>
              <a:rPr dirty="0" spc="200"/>
              <a:t>AND</a:t>
            </a:r>
            <a:r>
              <a:rPr dirty="0" spc="610"/>
              <a:t> </a:t>
            </a:r>
            <a:r>
              <a:rPr dirty="0" spc="45"/>
              <a:t>DESIGN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9700" y="3692652"/>
            <a:ext cx="5963411" cy="231343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MOBILE</a:t>
            </a:r>
            <a:r>
              <a:rPr dirty="0" spc="-120"/>
              <a:t> </a:t>
            </a:r>
            <a:r>
              <a:rPr dirty="0"/>
              <a:t>APPLICATION</a:t>
            </a:r>
            <a:r>
              <a:rPr dirty="0" spc="484"/>
              <a:t> </a:t>
            </a:r>
            <a:r>
              <a:rPr dirty="0" spc="-25"/>
              <a:t>RESEARCH</a:t>
            </a:r>
            <a:r>
              <a:rPr dirty="0" spc="-114"/>
              <a:t> </a:t>
            </a:r>
            <a:r>
              <a:rPr dirty="0" spc="200"/>
              <a:t>AND</a:t>
            </a:r>
            <a:r>
              <a:rPr dirty="0" spc="610"/>
              <a:t> </a:t>
            </a:r>
            <a:r>
              <a:rPr dirty="0" spc="45"/>
              <a:t>DESIGN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878835" y="1208532"/>
            <a:ext cx="6198235" cy="4356100"/>
            <a:chOff x="2878835" y="1208532"/>
            <a:chExt cx="6198235" cy="43561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8835" y="1208532"/>
              <a:ext cx="6192012" cy="435559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74079" y="2435352"/>
              <a:ext cx="3096895" cy="3042285"/>
            </a:xfrm>
            <a:custGeom>
              <a:avLst/>
              <a:gdLst/>
              <a:ahLst/>
              <a:cxnLst/>
              <a:rect l="l" t="t" r="r" b="b"/>
              <a:pathLst>
                <a:path w="3096895" h="3042285">
                  <a:moveTo>
                    <a:pt x="3096514" y="0"/>
                  </a:moveTo>
                  <a:lnTo>
                    <a:pt x="0" y="0"/>
                  </a:lnTo>
                  <a:lnTo>
                    <a:pt x="0" y="3041777"/>
                  </a:lnTo>
                  <a:lnTo>
                    <a:pt x="3096514" y="3041777"/>
                  </a:lnTo>
                  <a:lnTo>
                    <a:pt x="30965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74079" y="2435352"/>
              <a:ext cx="3096895" cy="3042285"/>
            </a:xfrm>
            <a:custGeom>
              <a:avLst/>
              <a:gdLst/>
              <a:ahLst/>
              <a:cxnLst/>
              <a:rect l="l" t="t" r="r" b="b"/>
              <a:pathLst>
                <a:path w="3096895" h="3042285">
                  <a:moveTo>
                    <a:pt x="0" y="3041777"/>
                  </a:moveTo>
                  <a:lnTo>
                    <a:pt x="3096514" y="3041777"/>
                  </a:lnTo>
                  <a:lnTo>
                    <a:pt x="3096514" y="0"/>
                  </a:lnTo>
                  <a:lnTo>
                    <a:pt x="0" y="0"/>
                  </a:lnTo>
                  <a:lnTo>
                    <a:pt x="0" y="3041777"/>
                  </a:lnTo>
                  <a:close/>
                </a:path>
              </a:pathLst>
            </a:custGeom>
            <a:ln w="12700">
              <a:solidFill>
                <a:srgbClr val="2C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56182" y="1849373"/>
            <a:ext cx="9607550" cy="0"/>
          </a:xfrm>
          <a:custGeom>
            <a:avLst/>
            <a:gdLst/>
            <a:ahLst/>
            <a:cxnLst/>
            <a:rect l="l" t="t" r="r" b="b"/>
            <a:pathLst>
              <a:path w="9607550" h="0">
                <a:moveTo>
                  <a:pt x="0" y="0"/>
                </a:moveTo>
                <a:lnTo>
                  <a:pt x="9607296" y="0"/>
                </a:lnTo>
              </a:path>
            </a:pathLst>
          </a:custGeom>
          <a:ln w="31750">
            <a:solidFill>
              <a:srgbClr val="B71E4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MOBILE</a:t>
            </a:r>
            <a:r>
              <a:rPr dirty="0" spc="-120"/>
              <a:t> </a:t>
            </a:r>
            <a:r>
              <a:rPr dirty="0"/>
              <a:t>APPLICATION</a:t>
            </a:r>
            <a:r>
              <a:rPr dirty="0" spc="484"/>
              <a:t> </a:t>
            </a:r>
            <a:r>
              <a:rPr dirty="0" spc="-25"/>
              <a:t>RESEARCH</a:t>
            </a:r>
            <a:r>
              <a:rPr dirty="0" spc="-110"/>
              <a:t> </a:t>
            </a:r>
            <a:r>
              <a:rPr dirty="0" spc="200"/>
              <a:t>AND</a:t>
            </a:r>
            <a:r>
              <a:rPr dirty="0" spc="615"/>
              <a:t> </a:t>
            </a:r>
            <a:r>
              <a:rPr dirty="0" spc="45"/>
              <a:t>DESIGN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916" y="1165860"/>
            <a:ext cx="9726168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3051" y="1684020"/>
            <a:ext cx="5638800" cy="43434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557142" y="1031494"/>
            <a:ext cx="448119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solidFill>
                  <a:srgbClr val="000000"/>
                </a:solidFill>
                <a:latin typeface="Calibri"/>
                <a:cs typeface="Calibri"/>
              </a:rPr>
              <a:t>Example</a:t>
            </a:r>
            <a:r>
              <a:rPr dirty="0" sz="2400" spc="-10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dirty="0" sz="2400" spc="-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good</a:t>
            </a:r>
            <a:r>
              <a:rPr dirty="0" sz="2400" spc="-13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dirty="0" sz="2400" spc="-7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bad</a:t>
            </a:r>
            <a:r>
              <a:rPr dirty="0" sz="2400" spc="-8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UX</a:t>
            </a:r>
            <a:r>
              <a:rPr dirty="0" sz="2400" spc="-9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0000"/>
                </a:solidFill>
                <a:latin typeface="Calibri"/>
                <a:cs typeface="Calibri"/>
              </a:rPr>
              <a:t>design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34003" y="982217"/>
            <a:ext cx="448119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solidFill>
                  <a:srgbClr val="000000"/>
                </a:solidFill>
                <a:latin typeface="Calibri"/>
                <a:cs typeface="Calibri"/>
              </a:rPr>
              <a:t>Example</a:t>
            </a:r>
            <a:r>
              <a:rPr dirty="0" sz="2400" spc="-10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dirty="0" sz="2400" spc="-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good</a:t>
            </a:r>
            <a:r>
              <a:rPr dirty="0" sz="2400" spc="-13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dirty="0" sz="2400" spc="-7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bad</a:t>
            </a:r>
            <a:r>
              <a:rPr dirty="0" sz="2400" spc="-8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UX</a:t>
            </a:r>
            <a:r>
              <a:rPr dirty="0" sz="2400" spc="-8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0000"/>
                </a:solidFill>
                <a:latin typeface="Calibri"/>
                <a:cs typeface="Calibri"/>
              </a:rPr>
              <a:t>design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5147" y="1588008"/>
            <a:ext cx="8217408" cy="439064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42740" y="1258011"/>
            <a:ext cx="448627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solidFill>
                  <a:srgbClr val="000000"/>
                </a:solidFill>
                <a:latin typeface="Calibri"/>
                <a:cs typeface="Calibri"/>
              </a:rPr>
              <a:t>Example</a:t>
            </a:r>
            <a:r>
              <a:rPr dirty="0" sz="2400" spc="-9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dirty="0" sz="2400" spc="-8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good</a:t>
            </a:r>
            <a:r>
              <a:rPr dirty="0" sz="2400" spc="-13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dirty="0" sz="2400" spc="-3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bad</a:t>
            </a:r>
            <a:r>
              <a:rPr dirty="0" sz="2400" spc="-4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UX</a:t>
            </a:r>
            <a:r>
              <a:rPr dirty="0" sz="2400" spc="-9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0000"/>
                </a:solidFill>
                <a:latin typeface="Calibri"/>
                <a:cs typeface="Calibri"/>
              </a:rPr>
              <a:t>design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9408" y="1973579"/>
            <a:ext cx="9211056" cy="370179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MOBILE</a:t>
            </a:r>
            <a:r>
              <a:rPr dirty="0" spc="-120"/>
              <a:t> </a:t>
            </a:r>
            <a:r>
              <a:rPr dirty="0"/>
              <a:t>APPLICATION</a:t>
            </a:r>
            <a:r>
              <a:rPr dirty="0" spc="484"/>
              <a:t> </a:t>
            </a:r>
            <a:r>
              <a:rPr dirty="0" spc="-25"/>
              <a:t>RESEARCH</a:t>
            </a:r>
            <a:r>
              <a:rPr dirty="0" spc="-114"/>
              <a:t> </a:t>
            </a:r>
            <a:r>
              <a:rPr dirty="0" spc="200"/>
              <a:t>AND</a:t>
            </a:r>
            <a:r>
              <a:rPr dirty="0" spc="610"/>
              <a:t> </a:t>
            </a:r>
            <a:r>
              <a:rPr dirty="0" spc="45"/>
              <a:t>DESIGN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0608" y="969086"/>
            <a:ext cx="7255509" cy="48437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latin typeface="Calibri"/>
                <a:cs typeface="Calibri"/>
              </a:rPr>
              <a:t>User</a:t>
            </a:r>
            <a:r>
              <a:rPr dirty="0" sz="2600" spc="-60" b="1">
                <a:latin typeface="Calibri"/>
                <a:cs typeface="Calibri"/>
              </a:rPr>
              <a:t> </a:t>
            </a:r>
            <a:r>
              <a:rPr dirty="0" sz="2600" spc="-35" b="1">
                <a:latin typeface="Calibri"/>
                <a:cs typeface="Calibri"/>
              </a:rPr>
              <a:t>Research</a:t>
            </a:r>
            <a:r>
              <a:rPr dirty="0" sz="2600" spc="-114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for</a:t>
            </a:r>
            <a:r>
              <a:rPr dirty="0" sz="2600" spc="-10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Mobile</a:t>
            </a:r>
            <a:r>
              <a:rPr dirty="0" sz="2600" spc="-70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Applications.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600" spc="-35" b="1">
                <a:latin typeface="Calibri"/>
                <a:cs typeface="Calibri"/>
              </a:rPr>
              <a:t>Qualitative</a:t>
            </a:r>
            <a:r>
              <a:rPr dirty="0" sz="2600" spc="-114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User</a:t>
            </a:r>
            <a:r>
              <a:rPr dirty="0" sz="2600" spc="-80" b="1">
                <a:latin typeface="Calibri"/>
                <a:cs typeface="Calibri"/>
              </a:rPr>
              <a:t> </a:t>
            </a:r>
            <a:r>
              <a:rPr dirty="0" sz="2600" spc="-35" b="1">
                <a:latin typeface="Calibri"/>
                <a:cs typeface="Calibri"/>
              </a:rPr>
              <a:t>Research</a:t>
            </a:r>
            <a:r>
              <a:rPr dirty="0" sz="2600" spc="-110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Methods</a:t>
            </a:r>
            <a:r>
              <a:rPr dirty="0" sz="2600" spc="-9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for</a:t>
            </a:r>
            <a:r>
              <a:rPr dirty="0" sz="2600" spc="-9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Mobile</a:t>
            </a:r>
            <a:r>
              <a:rPr dirty="0" sz="2600" spc="-85" b="1">
                <a:latin typeface="Calibri"/>
                <a:cs typeface="Calibri"/>
              </a:rPr>
              <a:t> </a:t>
            </a:r>
            <a:r>
              <a:rPr dirty="0" sz="2600" spc="-20" b="1">
                <a:latin typeface="Calibri"/>
                <a:cs typeface="Calibri"/>
              </a:rPr>
              <a:t>Apps</a:t>
            </a:r>
            <a:endParaRPr sz="26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469265" algn="l"/>
              </a:tabLst>
            </a:pPr>
            <a:r>
              <a:rPr dirty="0" sz="2600">
                <a:latin typeface="Calibri"/>
                <a:cs typeface="Calibri"/>
              </a:rPr>
              <a:t>Lab</a:t>
            </a:r>
            <a:r>
              <a:rPr dirty="0" sz="2600" spc="-11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Studies</a:t>
            </a:r>
            <a:endParaRPr sz="26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469265" algn="l"/>
              </a:tabLst>
            </a:pPr>
            <a:r>
              <a:rPr dirty="0" sz="2600" spc="-10">
                <a:latin typeface="Calibri"/>
                <a:cs typeface="Calibri"/>
              </a:rPr>
              <a:t>Journal/Diary</a:t>
            </a:r>
            <a:r>
              <a:rPr dirty="0" sz="2600" spc="-10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Studies</a:t>
            </a:r>
            <a:endParaRPr sz="26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469265" algn="l"/>
              </a:tabLst>
            </a:pPr>
            <a:r>
              <a:rPr dirty="0" sz="2600" spc="-25">
                <a:latin typeface="Calibri"/>
                <a:cs typeface="Calibri"/>
              </a:rPr>
              <a:t>Observational/Field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Studies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600" spc="-40" b="1">
                <a:latin typeface="Calibri"/>
                <a:cs typeface="Calibri"/>
              </a:rPr>
              <a:t>Quantitative</a:t>
            </a:r>
            <a:r>
              <a:rPr dirty="0" sz="2600" spc="-10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User</a:t>
            </a:r>
            <a:r>
              <a:rPr dirty="0" sz="2600" spc="-60" b="1">
                <a:latin typeface="Calibri"/>
                <a:cs typeface="Calibri"/>
              </a:rPr>
              <a:t> </a:t>
            </a:r>
            <a:r>
              <a:rPr dirty="0" sz="2600" spc="-35" b="1">
                <a:latin typeface="Calibri"/>
                <a:cs typeface="Calibri"/>
              </a:rPr>
              <a:t>Research</a:t>
            </a:r>
            <a:r>
              <a:rPr dirty="0" sz="2600" spc="-110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Methods</a:t>
            </a:r>
            <a:r>
              <a:rPr dirty="0" sz="2600" spc="-7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for</a:t>
            </a:r>
            <a:r>
              <a:rPr dirty="0" sz="2600" spc="-8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Mobile</a:t>
            </a:r>
            <a:r>
              <a:rPr dirty="0" sz="2600" spc="-65" b="1">
                <a:latin typeface="Calibri"/>
                <a:cs typeface="Calibri"/>
              </a:rPr>
              <a:t> </a:t>
            </a:r>
            <a:r>
              <a:rPr dirty="0" sz="2600" spc="-20" b="1">
                <a:latin typeface="Calibri"/>
                <a:cs typeface="Calibri"/>
              </a:rPr>
              <a:t>Apps</a:t>
            </a:r>
            <a:endParaRPr sz="26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469265" algn="l"/>
              </a:tabLst>
            </a:pPr>
            <a:r>
              <a:rPr dirty="0" sz="2600" spc="-10">
                <a:latin typeface="Calibri"/>
                <a:cs typeface="Calibri"/>
              </a:rPr>
              <a:t>Online</a:t>
            </a:r>
            <a:r>
              <a:rPr dirty="0" sz="2600" spc="-1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Surveys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(including</a:t>
            </a:r>
            <a:r>
              <a:rPr dirty="0" sz="2600" spc="-130">
                <a:latin typeface="Calibri"/>
                <a:cs typeface="Calibri"/>
              </a:rPr>
              <a:t> </a:t>
            </a:r>
            <a:r>
              <a:rPr dirty="0" sz="2600" spc="-35">
                <a:latin typeface="Calibri"/>
                <a:cs typeface="Calibri"/>
              </a:rPr>
              <a:t>Behavioral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Tracking)</a:t>
            </a:r>
            <a:endParaRPr sz="26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469265" algn="l"/>
              </a:tabLst>
            </a:pPr>
            <a:r>
              <a:rPr dirty="0" sz="2600" spc="-30">
                <a:latin typeface="Calibri"/>
                <a:cs typeface="Calibri"/>
              </a:rPr>
              <a:t>Behavioural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Analysis</a:t>
            </a:r>
            <a:endParaRPr sz="26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469265" algn="l"/>
              </a:tabLst>
            </a:pPr>
            <a:r>
              <a:rPr dirty="0" sz="2600">
                <a:latin typeface="Calibri"/>
                <a:cs typeface="Calibri"/>
              </a:rPr>
              <a:t>Experience</a:t>
            </a:r>
            <a:r>
              <a:rPr dirty="0" sz="2600" spc="-1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Sampling</a:t>
            </a:r>
            <a:r>
              <a:rPr dirty="0" sz="2600" spc="-1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Method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(ESM)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MOBILE</a:t>
            </a:r>
            <a:r>
              <a:rPr dirty="0" spc="-120"/>
              <a:t> </a:t>
            </a:r>
            <a:r>
              <a:rPr dirty="0"/>
              <a:t>APPLICATION</a:t>
            </a:r>
            <a:r>
              <a:rPr dirty="0" spc="484"/>
              <a:t> </a:t>
            </a:r>
            <a:r>
              <a:rPr dirty="0" spc="-25"/>
              <a:t>RESEARCH</a:t>
            </a:r>
            <a:r>
              <a:rPr dirty="0" spc="-114"/>
              <a:t> </a:t>
            </a:r>
            <a:r>
              <a:rPr dirty="0" spc="200"/>
              <a:t>AND</a:t>
            </a:r>
            <a:r>
              <a:rPr dirty="0" spc="610"/>
              <a:t> </a:t>
            </a:r>
            <a:r>
              <a:rPr dirty="0" spc="45"/>
              <a:t>DESIGN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8604" y="1058418"/>
            <a:ext cx="5671820" cy="441007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 marR="163195">
              <a:lnSpc>
                <a:spcPts val="2510"/>
              </a:lnSpc>
              <a:spcBef>
                <a:spcPts val="695"/>
              </a:spcBef>
            </a:pPr>
            <a:r>
              <a:rPr dirty="0" sz="2600" spc="-35" b="1">
                <a:latin typeface="Calibri"/>
                <a:cs typeface="Calibri"/>
              </a:rPr>
              <a:t>Qualitative</a:t>
            </a:r>
            <a:r>
              <a:rPr dirty="0" sz="2600" spc="-8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User</a:t>
            </a:r>
            <a:r>
              <a:rPr dirty="0" sz="2600" spc="-50" b="1">
                <a:latin typeface="Calibri"/>
                <a:cs typeface="Calibri"/>
              </a:rPr>
              <a:t> </a:t>
            </a:r>
            <a:r>
              <a:rPr dirty="0" sz="2600" spc="-30" b="1">
                <a:latin typeface="Calibri"/>
                <a:cs typeface="Calibri"/>
              </a:rPr>
              <a:t>Research</a:t>
            </a:r>
            <a:r>
              <a:rPr dirty="0" sz="2600" spc="-85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Methods</a:t>
            </a:r>
            <a:r>
              <a:rPr dirty="0" sz="2600" spc="-7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:</a:t>
            </a:r>
            <a:r>
              <a:rPr dirty="0" sz="2600" spc="-55" b="1">
                <a:latin typeface="Calibri"/>
                <a:cs typeface="Calibri"/>
              </a:rPr>
              <a:t> </a:t>
            </a:r>
            <a:r>
              <a:rPr dirty="0" sz="2600" spc="-25" b="1">
                <a:latin typeface="Calibri"/>
                <a:cs typeface="Calibri"/>
              </a:rPr>
              <a:t>Lab </a:t>
            </a:r>
            <a:r>
              <a:rPr dirty="0" sz="2600" spc="-10" b="1">
                <a:latin typeface="Calibri"/>
                <a:cs typeface="Calibri"/>
              </a:rPr>
              <a:t>Studies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2600">
              <a:latin typeface="Calibri"/>
              <a:cs typeface="Calibri"/>
            </a:endParaRPr>
          </a:p>
          <a:p>
            <a:pPr marL="241300" marR="52705" indent="-228600">
              <a:lnSpc>
                <a:spcPct val="8000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Lab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studies</a:t>
            </a:r>
            <a:r>
              <a:rPr dirty="0" sz="2600" spc="-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designed</a:t>
            </a:r>
            <a:r>
              <a:rPr dirty="0" sz="2600" spc="-1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test</a:t>
            </a:r>
            <a:r>
              <a:rPr dirty="0" sz="2600" spc="-1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whether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user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actually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</a:t>
            </a:r>
            <a:r>
              <a:rPr dirty="0" sz="2600" spc="-1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product.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lab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study</a:t>
            </a:r>
            <a:r>
              <a:rPr dirty="0" sz="2600" spc="-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20">
                <a:latin typeface="Calibri"/>
                <a:cs typeface="Calibri"/>
              </a:rPr>
              <a:t> conducted</a:t>
            </a:r>
            <a:r>
              <a:rPr dirty="0" sz="2600" spc="-1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using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mobile </a:t>
            </a:r>
            <a:r>
              <a:rPr dirty="0" sz="2600">
                <a:latin typeface="Calibri"/>
                <a:cs typeface="Calibri"/>
              </a:rPr>
              <a:t>device</a:t>
            </a:r>
            <a:r>
              <a:rPr dirty="0" sz="2600" spc="-1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35">
                <a:latin typeface="Calibri"/>
                <a:cs typeface="Calibri"/>
              </a:rPr>
              <a:t>environment</a:t>
            </a:r>
            <a:r>
              <a:rPr dirty="0" sz="2600" spc="-1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where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user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-10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observed</a:t>
            </a:r>
            <a:r>
              <a:rPr dirty="0" sz="2600" spc="-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by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research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team.</a:t>
            </a:r>
            <a:endParaRPr sz="2600">
              <a:latin typeface="Calibri"/>
              <a:cs typeface="Calibri"/>
            </a:endParaRPr>
          </a:p>
          <a:p>
            <a:pPr marL="241300" marR="16510" indent="-228600">
              <a:lnSpc>
                <a:spcPct val="8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-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will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often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 spc="-35">
                <a:latin typeface="Calibri"/>
                <a:cs typeface="Calibri"/>
              </a:rPr>
              <a:t>involve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researcher </a:t>
            </a:r>
            <a:r>
              <a:rPr dirty="0" sz="2600">
                <a:latin typeface="Calibri"/>
                <a:cs typeface="Calibri"/>
              </a:rPr>
              <a:t>remaining</a:t>
            </a:r>
            <a:r>
              <a:rPr dirty="0" sz="2600" spc="-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45">
                <a:latin typeface="Calibri"/>
                <a:cs typeface="Calibri"/>
              </a:rPr>
              <a:t>different</a:t>
            </a:r>
            <a:r>
              <a:rPr dirty="0" sz="2600" spc="-1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room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observing </a:t>
            </a:r>
            <a:r>
              <a:rPr dirty="0" sz="2600" spc="-25">
                <a:latin typeface="Calibri"/>
                <a:cs typeface="Calibri"/>
              </a:rPr>
              <a:t>remotely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while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user</a:t>
            </a:r>
            <a:r>
              <a:rPr dirty="0" sz="2600" spc="-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goes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about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their tasks.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7956" y="1001267"/>
            <a:ext cx="3768852" cy="25161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67956" y="3668267"/>
            <a:ext cx="3787140" cy="23698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MOBILE</a:t>
            </a:r>
            <a:r>
              <a:rPr dirty="0" spc="-120"/>
              <a:t> </a:t>
            </a:r>
            <a:r>
              <a:rPr dirty="0"/>
              <a:t>APPLICATION</a:t>
            </a:r>
            <a:r>
              <a:rPr dirty="0" spc="484"/>
              <a:t> </a:t>
            </a:r>
            <a:r>
              <a:rPr dirty="0" spc="-25"/>
              <a:t>RESEARCH</a:t>
            </a:r>
            <a:r>
              <a:rPr dirty="0" spc="-114"/>
              <a:t> </a:t>
            </a:r>
            <a:r>
              <a:rPr dirty="0" spc="200"/>
              <a:t>AND</a:t>
            </a:r>
            <a:r>
              <a:rPr dirty="0" spc="610"/>
              <a:t> </a:t>
            </a:r>
            <a:r>
              <a:rPr dirty="0" spc="45"/>
              <a:t>DESIGN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7489" y="1224153"/>
            <a:ext cx="6068060" cy="374269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12700" marR="807085">
              <a:lnSpc>
                <a:spcPts val="3000"/>
              </a:lnSpc>
              <a:spcBef>
                <a:spcPts val="495"/>
              </a:spcBef>
            </a:pPr>
            <a:r>
              <a:rPr dirty="0" sz="2800" spc="-30" b="1">
                <a:latin typeface="Calibri"/>
                <a:cs typeface="Calibri"/>
              </a:rPr>
              <a:t>Qualitative</a:t>
            </a:r>
            <a:r>
              <a:rPr dirty="0" sz="2800" spc="-7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User</a:t>
            </a:r>
            <a:r>
              <a:rPr dirty="0" sz="2800" spc="-120" b="1">
                <a:latin typeface="Calibri"/>
                <a:cs typeface="Calibri"/>
              </a:rPr>
              <a:t> </a:t>
            </a:r>
            <a:r>
              <a:rPr dirty="0" sz="2800" spc="-30" b="1">
                <a:latin typeface="Calibri"/>
                <a:cs typeface="Calibri"/>
              </a:rPr>
              <a:t>Research</a:t>
            </a:r>
            <a:r>
              <a:rPr dirty="0" sz="2800" spc="-114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Methods: </a:t>
            </a:r>
            <a:r>
              <a:rPr dirty="0" sz="2800" spc="-25" b="1">
                <a:latin typeface="Calibri"/>
                <a:cs typeface="Calibri"/>
              </a:rPr>
              <a:t>Observational/Field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Studies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10"/>
              </a:spcBef>
            </a:pP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2800" spc="-35">
                <a:latin typeface="Calibri"/>
                <a:cs typeface="Calibri"/>
              </a:rPr>
              <a:t>Researchers</a:t>
            </a:r>
            <a:r>
              <a:rPr dirty="0" sz="2800" spc="-1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meet</a:t>
            </a:r>
            <a:r>
              <a:rPr dirty="0" sz="2800" spc="-1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test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participants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their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natural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35">
                <a:latin typeface="Calibri"/>
                <a:cs typeface="Calibri"/>
              </a:rPr>
              <a:t>environment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(where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they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would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most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35">
                <a:latin typeface="Calibri"/>
                <a:cs typeface="Calibri"/>
              </a:rPr>
              <a:t>likely</a:t>
            </a:r>
            <a:r>
              <a:rPr dirty="0" sz="2800" spc="-175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encounter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	product),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observe</a:t>
            </a:r>
            <a:r>
              <a:rPr dirty="0" sz="2800" spc="-1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how</a:t>
            </a:r>
            <a:r>
              <a:rPr dirty="0" sz="2800" spc="-1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users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interact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product,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ask</a:t>
            </a:r>
            <a:r>
              <a:rPr dirty="0" sz="2800" spc="-1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related 	questions.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30795" y="1854707"/>
            <a:ext cx="4404359" cy="330403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MOBILE</a:t>
            </a:r>
            <a:r>
              <a:rPr dirty="0" spc="-120"/>
              <a:t> </a:t>
            </a:r>
            <a:r>
              <a:rPr dirty="0"/>
              <a:t>APPLICATION</a:t>
            </a:r>
            <a:r>
              <a:rPr dirty="0" spc="484"/>
              <a:t> </a:t>
            </a:r>
            <a:r>
              <a:rPr dirty="0" spc="-25"/>
              <a:t>RESEARCH</a:t>
            </a:r>
            <a:r>
              <a:rPr dirty="0" spc="-114"/>
              <a:t> </a:t>
            </a:r>
            <a:r>
              <a:rPr dirty="0" spc="200"/>
              <a:t>AND</a:t>
            </a:r>
            <a:r>
              <a:rPr dirty="0" spc="610"/>
              <a:t> </a:t>
            </a:r>
            <a:r>
              <a:rPr dirty="0" spc="45"/>
              <a:t>DESIGN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7139" y="977646"/>
            <a:ext cx="5672455" cy="341249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 marR="1165860">
              <a:lnSpc>
                <a:spcPts val="2700"/>
              </a:lnSpc>
              <a:spcBef>
                <a:spcPts val="340"/>
              </a:spcBef>
            </a:pPr>
            <a:r>
              <a:rPr dirty="0" sz="2400" spc="-25" b="1">
                <a:latin typeface="Calibri"/>
                <a:cs typeface="Calibri"/>
              </a:rPr>
              <a:t>Qualitative </a:t>
            </a:r>
            <a:r>
              <a:rPr dirty="0" sz="2400" spc="-10" b="1">
                <a:latin typeface="Calibri"/>
                <a:cs typeface="Calibri"/>
              </a:rPr>
              <a:t>User</a:t>
            </a:r>
            <a:r>
              <a:rPr dirty="0" sz="2400" spc="-105" b="1">
                <a:latin typeface="Calibri"/>
                <a:cs typeface="Calibri"/>
              </a:rPr>
              <a:t> </a:t>
            </a:r>
            <a:r>
              <a:rPr dirty="0" sz="2400" spc="-30" b="1">
                <a:latin typeface="Calibri"/>
                <a:cs typeface="Calibri"/>
              </a:rPr>
              <a:t>Research</a:t>
            </a:r>
            <a:r>
              <a:rPr dirty="0" sz="2400" spc="-12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Methods: Journal/Diary</a:t>
            </a:r>
            <a:r>
              <a:rPr dirty="0" sz="2400" spc="-10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Studies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30"/>
              </a:spcBef>
            </a:pPr>
            <a:endParaRPr sz="2400">
              <a:latin typeface="Calibri"/>
              <a:cs typeface="Calibri"/>
            </a:endParaRPr>
          </a:p>
          <a:p>
            <a:pPr marL="239395" marR="264795" indent="-227329">
              <a:lnSpc>
                <a:spcPts val="2600"/>
              </a:lnSpc>
              <a:buFont typeface="Arial MT"/>
              <a:buChar char="•"/>
              <a:tabLst>
                <a:tab pos="240665" algn="l"/>
              </a:tabLst>
            </a:pPr>
            <a:r>
              <a:rPr dirty="0" sz="2400" spc="-105">
                <a:latin typeface="Calibri"/>
                <a:cs typeface="Calibri"/>
              </a:rPr>
              <a:t>Test</a:t>
            </a:r>
            <a:r>
              <a:rPr dirty="0" sz="2400" spc="-195">
                <a:latin typeface="Calibri"/>
                <a:cs typeface="Calibri"/>
              </a:rPr>
              <a:t> </a:t>
            </a:r>
            <a:r>
              <a:rPr dirty="0" sz="2400" spc="-35">
                <a:latin typeface="Calibri"/>
                <a:cs typeface="Calibri"/>
              </a:rPr>
              <a:t>participants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given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mechanism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45">
                <a:latin typeface="Calibri"/>
                <a:cs typeface="Calibri"/>
              </a:rPr>
              <a:t>record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describe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aspects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their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lives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 spc="-35">
                <a:latin typeface="Calibri"/>
                <a:cs typeface="Calibri"/>
              </a:rPr>
              <a:t>relevant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product.</a:t>
            </a:r>
            <a:endParaRPr sz="2400">
              <a:latin typeface="Calibri"/>
              <a:cs typeface="Calibri"/>
            </a:endParaRPr>
          </a:p>
          <a:p>
            <a:pPr marL="239395" marR="5080" indent="-227329">
              <a:lnSpc>
                <a:spcPct val="90200"/>
              </a:lnSpc>
              <a:spcBef>
                <a:spcPts val="97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diary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45">
                <a:latin typeface="Calibri"/>
                <a:cs typeface="Calibri"/>
              </a:rPr>
              <a:t>physical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online.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Typically, </a:t>
            </a:r>
            <a:r>
              <a:rPr dirty="0" sz="2400" spc="-30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test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participants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document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their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activities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over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prolonged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period.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0276" y="1879092"/>
            <a:ext cx="4613148" cy="344576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MOBILE</a:t>
            </a:r>
            <a:r>
              <a:rPr dirty="0" spc="-120"/>
              <a:t> </a:t>
            </a:r>
            <a:r>
              <a:rPr dirty="0"/>
              <a:t>APPLICATION</a:t>
            </a:r>
            <a:r>
              <a:rPr dirty="0" spc="484"/>
              <a:t> </a:t>
            </a:r>
            <a:r>
              <a:rPr dirty="0" spc="-25"/>
              <a:t>RESEARCH</a:t>
            </a:r>
            <a:r>
              <a:rPr dirty="0" spc="-114"/>
              <a:t> </a:t>
            </a:r>
            <a:r>
              <a:rPr dirty="0" spc="200"/>
              <a:t>AND</a:t>
            </a:r>
            <a:r>
              <a:rPr dirty="0" spc="610"/>
              <a:t> </a:t>
            </a:r>
            <a:r>
              <a:rPr dirty="0" spc="45"/>
              <a:t>DESIGN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9214" y="1100785"/>
            <a:ext cx="6162040" cy="430149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12700" marR="513080">
              <a:lnSpc>
                <a:spcPts val="2510"/>
              </a:lnSpc>
              <a:spcBef>
                <a:spcPts val="495"/>
              </a:spcBef>
            </a:pPr>
            <a:r>
              <a:rPr dirty="0" sz="2400" spc="-35" b="1">
                <a:latin typeface="Calibri"/>
                <a:cs typeface="Calibri"/>
              </a:rPr>
              <a:t>Quantitative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User</a:t>
            </a:r>
            <a:r>
              <a:rPr dirty="0" sz="2400" spc="-95" b="1">
                <a:latin typeface="Calibri"/>
                <a:cs typeface="Calibri"/>
              </a:rPr>
              <a:t> </a:t>
            </a:r>
            <a:r>
              <a:rPr dirty="0" sz="2400" spc="-30" b="1">
                <a:latin typeface="Calibri"/>
                <a:cs typeface="Calibri"/>
              </a:rPr>
              <a:t>Research</a:t>
            </a:r>
            <a:r>
              <a:rPr dirty="0" sz="2400" spc="-7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Methods</a:t>
            </a:r>
            <a:r>
              <a:rPr dirty="0" sz="2400" spc="-8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: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Online </a:t>
            </a:r>
            <a:r>
              <a:rPr dirty="0" sz="2400" spc="-20" b="1">
                <a:latin typeface="Calibri"/>
                <a:cs typeface="Calibri"/>
              </a:rPr>
              <a:t>Surveys</a:t>
            </a:r>
            <a:r>
              <a:rPr dirty="0" sz="2400" spc="-8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(including</a:t>
            </a:r>
            <a:r>
              <a:rPr dirty="0" sz="2400" spc="-70" b="1">
                <a:latin typeface="Calibri"/>
                <a:cs typeface="Calibri"/>
              </a:rPr>
              <a:t> </a:t>
            </a:r>
            <a:r>
              <a:rPr dirty="0" sz="2400" spc="-35" b="1">
                <a:latin typeface="Calibri"/>
                <a:cs typeface="Calibri"/>
              </a:rPr>
              <a:t>Behavioural</a:t>
            </a:r>
            <a:r>
              <a:rPr dirty="0" sz="2400" spc="-9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Tracking)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2400">
              <a:latin typeface="Calibri"/>
              <a:cs typeface="Calibri"/>
            </a:endParaRPr>
          </a:p>
          <a:p>
            <a:pPr marL="238760" marR="27305" indent="-226060">
              <a:lnSpc>
                <a:spcPct val="7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 spc="-10">
                <a:latin typeface="Calibri"/>
                <a:cs typeface="Calibri"/>
              </a:rPr>
              <a:t>Online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surveys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will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involve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using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questionnaire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 spc="-25">
                <a:latin typeface="Calibri"/>
                <a:cs typeface="Calibri"/>
              </a:rPr>
              <a:t>combined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automated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data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collection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 spc="-30">
                <a:latin typeface="Calibri"/>
                <a:cs typeface="Calibri"/>
              </a:rPr>
              <a:t>reflecting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user’s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actual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behaviour.</a:t>
            </a:r>
            <a:endParaRPr sz="2400">
              <a:latin typeface="Calibri"/>
              <a:cs typeface="Calibri"/>
            </a:endParaRPr>
          </a:p>
          <a:p>
            <a:pPr marL="238760" indent="-226060">
              <a:lnSpc>
                <a:spcPts val="2450"/>
              </a:lnSpc>
              <a:spcBef>
                <a:spcPts val="145"/>
              </a:spcBef>
              <a:buFont typeface="Arial MT"/>
              <a:buChar char="•"/>
              <a:tabLst>
                <a:tab pos="238760" algn="l"/>
              </a:tabLst>
            </a:pPr>
            <a:r>
              <a:rPr dirty="0" sz="2400">
                <a:latin typeface="Calibri"/>
                <a:cs typeface="Calibri"/>
              </a:rPr>
              <a:t>They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designed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to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answer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questions;</a:t>
            </a:r>
            <a:endParaRPr sz="2400">
              <a:latin typeface="Calibri"/>
              <a:cs typeface="Calibri"/>
            </a:endParaRPr>
          </a:p>
          <a:p>
            <a:pPr marL="241300" marR="244475">
              <a:lnSpc>
                <a:spcPct val="70000"/>
              </a:lnSpc>
              <a:spcBef>
                <a:spcPts val="430"/>
              </a:spcBef>
            </a:pPr>
            <a:r>
              <a:rPr dirty="0" sz="2400">
                <a:latin typeface="Calibri"/>
                <a:cs typeface="Calibri"/>
              </a:rPr>
              <a:t>“What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users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think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our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product?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What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do </a:t>
            </a:r>
            <a:r>
              <a:rPr dirty="0" sz="2400" spc="-10">
                <a:latin typeface="Calibri"/>
                <a:cs typeface="Calibri"/>
              </a:rPr>
              <a:t>they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perceive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value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be?”</a:t>
            </a:r>
            <a:endParaRPr sz="2400">
              <a:latin typeface="Calibri"/>
              <a:cs typeface="Calibri"/>
            </a:endParaRPr>
          </a:p>
          <a:p>
            <a:pPr marL="238760" marR="5080" indent="-226060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 spc="-10">
                <a:latin typeface="Calibri"/>
                <a:cs typeface="Calibri"/>
              </a:rPr>
              <a:t>Online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surveys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incredibly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cost-</a:t>
            </a:r>
            <a:r>
              <a:rPr dirty="0" sz="2400" spc="-40">
                <a:latin typeface="Calibri"/>
                <a:cs typeface="Calibri"/>
              </a:rPr>
              <a:t>effective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35">
                <a:latin typeface="Calibri"/>
                <a:cs typeface="Calibri"/>
              </a:rPr>
              <a:t>create</a:t>
            </a:r>
            <a:r>
              <a:rPr dirty="0" sz="2400" spc="-140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large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amounts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data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a </a:t>
            </a:r>
            <a:r>
              <a:rPr dirty="0" sz="2400" spc="-50">
                <a:latin typeface="Calibri"/>
                <a:cs typeface="Calibri"/>
              </a:rPr>
              <a:t>	</a:t>
            </a:r>
            <a:r>
              <a:rPr dirty="0" sz="2400" spc="-35">
                <a:latin typeface="Calibri"/>
                <a:cs typeface="Calibri"/>
              </a:rPr>
              <a:t>geographically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35">
                <a:latin typeface="Calibri"/>
                <a:cs typeface="Calibri"/>
              </a:rPr>
              <a:t>diverse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basis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which,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turn,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leads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35">
                <a:latin typeface="Calibri"/>
                <a:cs typeface="Calibri"/>
              </a:rPr>
              <a:t>statistically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significant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sample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sizes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results.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8188" y="1909572"/>
            <a:ext cx="5234940" cy="274777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MOBILE</a:t>
            </a:r>
            <a:r>
              <a:rPr dirty="0" spc="-120"/>
              <a:t> </a:t>
            </a:r>
            <a:r>
              <a:rPr dirty="0"/>
              <a:t>APPLICATION</a:t>
            </a:r>
            <a:r>
              <a:rPr dirty="0" spc="484"/>
              <a:t> </a:t>
            </a:r>
            <a:r>
              <a:rPr dirty="0" spc="-25"/>
              <a:t>RESEARCH</a:t>
            </a:r>
            <a:r>
              <a:rPr dirty="0" spc="-114"/>
              <a:t> </a:t>
            </a:r>
            <a:r>
              <a:rPr dirty="0" spc="200"/>
              <a:t>AND</a:t>
            </a:r>
            <a:r>
              <a:rPr dirty="0" spc="610"/>
              <a:t> </a:t>
            </a:r>
            <a:r>
              <a:rPr dirty="0" spc="45"/>
              <a:t>DESIGN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4434" y="1140079"/>
            <a:ext cx="4518660" cy="79502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2700" marR="5080">
              <a:lnSpc>
                <a:spcPts val="2700"/>
              </a:lnSpc>
              <a:spcBef>
                <a:spcPts val="735"/>
              </a:spcBef>
            </a:pPr>
            <a:r>
              <a:rPr dirty="0" sz="2800" spc="-35" b="1">
                <a:latin typeface="Calibri"/>
                <a:cs typeface="Calibri"/>
              </a:rPr>
              <a:t>Quantitative</a:t>
            </a:r>
            <a:r>
              <a:rPr dirty="0" sz="2800" spc="-10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User</a:t>
            </a:r>
            <a:r>
              <a:rPr dirty="0" sz="2800" spc="-6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Research Methods:</a:t>
            </a:r>
            <a:r>
              <a:rPr dirty="0" sz="2800" spc="-120" b="1">
                <a:latin typeface="Calibri"/>
                <a:cs typeface="Calibri"/>
              </a:rPr>
              <a:t> </a:t>
            </a:r>
            <a:r>
              <a:rPr dirty="0" sz="2800" spc="-30" b="1">
                <a:latin typeface="Calibri"/>
                <a:cs typeface="Calibri"/>
              </a:rPr>
              <a:t>Behavioural</a:t>
            </a:r>
            <a:r>
              <a:rPr dirty="0" sz="2800" spc="-12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Analysis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4434" y="2363216"/>
            <a:ext cx="5293360" cy="302641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240029" marR="78740" indent="-227965">
              <a:lnSpc>
                <a:spcPct val="85900"/>
              </a:lnSpc>
              <a:spcBef>
                <a:spcPts val="5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40">
                <a:latin typeface="Calibri"/>
                <a:cs typeface="Calibri"/>
              </a:rPr>
              <a:t>Behavioral</a:t>
            </a:r>
            <a:r>
              <a:rPr dirty="0" sz="2800" spc="-1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analysis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works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to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30">
                <a:latin typeface="Calibri"/>
                <a:cs typeface="Calibri"/>
              </a:rPr>
              <a:t>determine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answer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“How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do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people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our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app?”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question.</a:t>
            </a:r>
            <a:endParaRPr sz="2800">
              <a:latin typeface="Calibri"/>
              <a:cs typeface="Calibri"/>
            </a:endParaRPr>
          </a:p>
          <a:p>
            <a:pPr marL="240029" marR="5080" indent="-227965">
              <a:lnSpc>
                <a:spcPct val="8000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conducted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via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installed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 spc="-35">
                <a:latin typeface="Calibri"/>
                <a:cs typeface="Calibri"/>
              </a:rPr>
              <a:t>software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-1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users’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devices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that 	tracks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how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people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45">
                <a:latin typeface="Calibri"/>
                <a:cs typeface="Calibri"/>
              </a:rPr>
              <a:t>navigate</a:t>
            </a:r>
            <a:r>
              <a:rPr dirty="0" sz="2800" spc="-1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app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1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how</a:t>
            </a:r>
            <a:r>
              <a:rPr dirty="0" sz="2800" spc="-1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they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conduct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the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tasks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on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your</a:t>
            </a:r>
            <a:r>
              <a:rPr dirty="0" sz="2800" spc="-13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app.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753100" y="1021080"/>
            <a:ext cx="6189345" cy="4753610"/>
            <a:chOff x="5753100" y="1021080"/>
            <a:chExt cx="6189345" cy="475361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3100" y="2350008"/>
              <a:ext cx="6188963" cy="34244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6464" y="1021080"/>
              <a:ext cx="2784348" cy="15468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82555" y="3044952"/>
              <a:ext cx="77722" cy="8382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826752" y="2563368"/>
              <a:ext cx="426720" cy="510540"/>
            </a:xfrm>
            <a:custGeom>
              <a:avLst/>
              <a:gdLst/>
              <a:ahLst/>
              <a:cxnLst/>
              <a:rect l="l" t="t" r="r" b="b"/>
              <a:pathLst>
                <a:path w="426720" h="510539">
                  <a:moveTo>
                    <a:pt x="416814" y="0"/>
                  </a:moveTo>
                  <a:lnTo>
                    <a:pt x="0" y="502285"/>
                  </a:lnTo>
                  <a:lnTo>
                    <a:pt x="9778" y="510413"/>
                  </a:lnTo>
                  <a:lnTo>
                    <a:pt x="426593" y="8128"/>
                  </a:lnTo>
                  <a:lnTo>
                    <a:pt x="4168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103109" y="1660905"/>
            <a:ext cx="1887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latin typeface="Calibri"/>
                <a:cs typeface="Calibri"/>
              </a:rPr>
              <a:t>Interaction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heatmap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520" y="168021"/>
            <a:ext cx="6106795" cy="53524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2800" spc="-1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2800" spc="-1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30" b="1">
                <a:solidFill>
                  <a:srgbClr val="FFFFFF"/>
                </a:solidFill>
                <a:latin typeface="Calibri"/>
                <a:cs typeface="Calibri"/>
              </a:rPr>
              <a:t>Research</a:t>
            </a:r>
            <a:r>
              <a:rPr dirty="0" sz="2800" spc="-1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1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2800">
              <a:latin typeface="Calibri"/>
              <a:cs typeface="Calibri"/>
            </a:endParaRPr>
          </a:p>
          <a:p>
            <a:pPr marL="200025" marR="438784">
              <a:lnSpc>
                <a:spcPts val="3000"/>
              </a:lnSpc>
              <a:spcBef>
                <a:spcPts val="2740"/>
              </a:spcBef>
            </a:pPr>
            <a:r>
              <a:rPr dirty="0" sz="2800" spc="-35" b="1">
                <a:latin typeface="Calibri"/>
                <a:cs typeface="Calibri"/>
              </a:rPr>
              <a:t>Quantitative</a:t>
            </a:r>
            <a:r>
              <a:rPr dirty="0" sz="2800" spc="-12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User</a:t>
            </a:r>
            <a:r>
              <a:rPr dirty="0" sz="2800" spc="-85" b="1">
                <a:latin typeface="Calibri"/>
                <a:cs typeface="Calibri"/>
              </a:rPr>
              <a:t> </a:t>
            </a:r>
            <a:r>
              <a:rPr dirty="0" sz="2800" spc="-30" b="1">
                <a:latin typeface="Calibri"/>
                <a:cs typeface="Calibri"/>
              </a:rPr>
              <a:t>Research</a:t>
            </a:r>
            <a:r>
              <a:rPr dirty="0" sz="2800" spc="-7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Methods: </a:t>
            </a:r>
            <a:r>
              <a:rPr dirty="0" sz="2800" spc="-20" b="1">
                <a:latin typeface="Calibri"/>
                <a:cs typeface="Calibri"/>
              </a:rPr>
              <a:t>Experience</a:t>
            </a:r>
            <a:r>
              <a:rPr dirty="0" sz="2800" spc="-75" b="1">
                <a:latin typeface="Calibri"/>
                <a:cs typeface="Calibri"/>
              </a:rPr>
              <a:t> </a:t>
            </a:r>
            <a:r>
              <a:rPr dirty="0" sz="2800" spc="-25" b="1">
                <a:latin typeface="Calibri"/>
                <a:cs typeface="Calibri"/>
              </a:rPr>
              <a:t>Sampling</a:t>
            </a:r>
            <a:r>
              <a:rPr dirty="0" sz="2800" spc="-11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Method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(ESM)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10"/>
              </a:spcBef>
            </a:pPr>
            <a:endParaRPr sz="2800">
              <a:latin typeface="Calibri"/>
              <a:cs typeface="Calibri"/>
            </a:endParaRPr>
          </a:p>
          <a:p>
            <a:pPr marL="425450" marR="5080" indent="-226060">
              <a:lnSpc>
                <a:spcPct val="90000"/>
              </a:lnSpc>
              <a:buFont typeface="Arial MT"/>
              <a:buChar char="•"/>
              <a:tabLst>
                <a:tab pos="428625" algn="l"/>
              </a:tabLst>
            </a:pP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-1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method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beneficial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mobile</a:t>
            </a:r>
            <a:r>
              <a:rPr dirty="0" sz="2800" spc="-13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user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 spc="-30">
                <a:latin typeface="Calibri"/>
                <a:cs typeface="Calibri"/>
              </a:rPr>
              <a:t>research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because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consists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sending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 spc="-35">
                <a:latin typeface="Calibri"/>
                <a:cs typeface="Calibri"/>
              </a:rPr>
              <a:t>automated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messages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study 	participants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at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point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they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carry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out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action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ask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about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their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experience.</a:t>
            </a:r>
            <a:endParaRPr sz="2800">
              <a:latin typeface="Calibri"/>
              <a:cs typeface="Calibri"/>
            </a:endParaRPr>
          </a:p>
          <a:p>
            <a:pPr marL="426084" indent="-226060">
              <a:lnSpc>
                <a:spcPts val="3180"/>
              </a:lnSpc>
              <a:spcBef>
                <a:spcPts val="635"/>
              </a:spcBef>
              <a:buFont typeface="Arial MT"/>
              <a:buChar char="•"/>
              <a:tabLst>
                <a:tab pos="426084" algn="l"/>
              </a:tabLst>
            </a:pP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1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helps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answer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two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main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questions;</a:t>
            </a:r>
            <a:endParaRPr sz="2800">
              <a:latin typeface="Calibri"/>
              <a:cs typeface="Calibri"/>
            </a:endParaRPr>
          </a:p>
          <a:p>
            <a:pPr marL="428625" marR="134620">
              <a:lnSpc>
                <a:spcPts val="3000"/>
              </a:lnSpc>
              <a:spcBef>
                <a:spcPts val="220"/>
              </a:spcBef>
            </a:pPr>
            <a:r>
              <a:rPr dirty="0" sz="2800">
                <a:latin typeface="Calibri"/>
                <a:cs typeface="Calibri"/>
              </a:rPr>
              <a:t>“How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does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user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our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app?”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and </a:t>
            </a:r>
            <a:r>
              <a:rPr dirty="0" sz="2800">
                <a:latin typeface="Calibri"/>
                <a:cs typeface="Calibri"/>
              </a:rPr>
              <a:t>“What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do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they</a:t>
            </a:r>
            <a:r>
              <a:rPr dirty="0" sz="2800" spc="-1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think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about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that?”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5476" y="1775460"/>
            <a:ext cx="5626608" cy="355396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CLASS</a:t>
            </a:r>
            <a:r>
              <a:rPr dirty="0" spc="100"/>
              <a:t> </a:t>
            </a:r>
            <a:r>
              <a:rPr dirty="0" spc="80"/>
              <a:t>DISCUSSION</a:t>
            </a:r>
            <a:r>
              <a:rPr dirty="0" spc="225"/>
              <a:t> </a:t>
            </a:r>
            <a:r>
              <a:rPr dirty="0"/>
              <a:t>:WHAT</a:t>
            </a:r>
            <a:r>
              <a:rPr dirty="0" spc="85"/>
              <a:t> </a:t>
            </a:r>
            <a:r>
              <a:rPr dirty="0" spc="-60"/>
              <a:t>IS</a:t>
            </a:r>
            <a:r>
              <a:rPr dirty="0" spc="-550"/>
              <a:t> </a:t>
            </a:r>
            <a:r>
              <a:rPr dirty="0" spc="65"/>
              <a:t>YOUR</a:t>
            </a:r>
            <a:r>
              <a:rPr dirty="0" spc="130"/>
              <a:t> </a:t>
            </a:r>
            <a:r>
              <a:rPr dirty="0" spc="90"/>
              <a:t>DREAM</a:t>
            </a:r>
            <a:r>
              <a:rPr dirty="0" spc="-185"/>
              <a:t> </a:t>
            </a:r>
            <a:r>
              <a:rPr dirty="0" spc="-20"/>
              <a:t>APP?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7555" y="1319741"/>
            <a:ext cx="9712325" cy="3483610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402590" indent="-389890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402590" algn="l"/>
              </a:tabLst>
            </a:pPr>
            <a:r>
              <a:rPr dirty="0" sz="2800">
                <a:latin typeface="Calibri"/>
                <a:cs typeface="Calibri"/>
              </a:rPr>
              <a:t>What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current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issue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problem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need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solve?</a:t>
            </a:r>
            <a:endParaRPr sz="2800">
              <a:latin typeface="Calibri"/>
              <a:cs typeface="Calibri"/>
            </a:endParaRPr>
          </a:p>
          <a:p>
            <a:pPr marL="402590" indent="-389890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402590" algn="l"/>
              </a:tabLst>
            </a:pP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1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possible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1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solve</a:t>
            </a:r>
            <a:r>
              <a:rPr dirty="0" sz="2800" spc="-1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using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mobile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application?</a:t>
            </a:r>
            <a:endParaRPr sz="2800">
              <a:latin typeface="Calibri"/>
              <a:cs typeface="Calibri"/>
            </a:endParaRPr>
          </a:p>
          <a:p>
            <a:pPr marL="240665" marR="5080" indent="-228600">
              <a:lnSpc>
                <a:spcPts val="3000"/>
              </a:lnSpc>
              <a:spcBef>
                <a:spcPts val="1035"/>
              </a:spcBef>
              <a:buFont typeface="Wingdings"/>
              <a:buChar char=""/>
              <a:tabLst>
                <a:tab pos="240665" algn="l"/>
                <a:tab pos="402590" algn="l"/>
              </a:tabLst>
            </a:pP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2800" spc="-40">
                <a:latin typeface="Calibri"/>
                <a:cs typeface="Calibri"/>
              </a:rPr>
              <a:t>Write</a:t>
            </a:r>
            <a:r>
              <a:rPr dirty="0" sz="2800" spc="-1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note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state</a:t>
            </a:r>
            <a:r>
              <a:rPr dirty="0" sz="2800" spc="-1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current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issue,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your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idea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what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is </a:t>
            </a:r>
            <a:r>
              <a:rPr dirty="0" sz="2800" spc="-10">
                <a:latin typeface="Calibri"/>
                <a:cs typeface="Calibri"/>
              </a:rPr>
              <a:t>possible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solution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you</a:t>
            </a:r>
            <a:r>
              <a:rPr dirty="0" sz="2800" spc="-1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have?</a:t>
            </a:r>
            <a:endParaRPr sz="2800">
              <a:latin typeface="Calibri"/>
              <a:cs typeface="Calibri"/>
            </a:endParaRPr>
          </a:p>
          <a:p>
            <a:pPr marL="402590" indent="-389890">
              <a:lnSpc>
                <a:spcPct val="100000"/>
              </a:lnSpc>
              <a:spcBef>
                <a:spcPts val="560"/>
              </a:spcBef>
              <a:buFont typeface="Wingdings"/>
              <a:buChar char=""/>
              <a:tabLst>
                <a:tab pos="402590" algn="l"/>
              </a:tabLst>
            </a:pPr>
            <a:r>
              <a:rPr dirty="0" sz="2800">
                <a:latin typeface="Calibri"/>
                <a:cs typeface="Calibri"/>
              </a:rPr>
              <a:t>All</a:t>
            </a:r>
            <a:r>
              <a:rPr dirty="0" sz="2800" spc="-1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student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1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share</a:t>
            </a:r>
            <a:r>
              <a:rPr dirty="0" sz="2800" spc="-1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their</a:t>
            </a:r>
            <a:r>
              <a:rPr dirty="0" sz="2800" spc="-1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opinion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perspective.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2800">
              <a:latin typeface="Calibri"/>
              <a:cs typeface="Calibri"/>
            </a:endParaRPr>
          </a:p>
          <a:p>
            <a:pPr algn="ctr" marL="59055">
              <a:lnSpc>
                <a:spcPct val="100000"/>
              </a:lnSpc>
            </a:pPr>
            <a:r>
              <a:rPr dirty="0" u="heavy" sz="2800" spc="-55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libri"/>
                <a:cs typeface="Calibri"/>
              </a:rPr>
              <a:t>-</a:t>
            </a:r>
            <a:r>
              <a:rPr dirty="0" u="heavy" sz="280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Calibri"/>
                <a:cs typeface="Calibri"/>
              </a:rPr>
              <a:t>padlet-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5"/>
              <a:t>MOBILE</a:t>
            </a:r>
            <a:r>
              <a:rPr dirty="0" spc="-210"/>
              <a:t> </a:t>
            </a:r>
            <a:r>
              <a:rPr dirty="0"/>
              <a:t>APP</a:t>
            </a:r>
            <a:r>
              <a:rPr dirty="0" spc="90"/>
              <a:t> </a:t>
            </a:r>
            <a:r>
              <a:rPr dirty="0"/>
              <a:t>DEVELOPMENT</a:t>
            </a:r>
            <a:r>
              <a:rPr dirty="0" spc="290"/>
              <a:t> </a:t>
            </a:r>
            <a:r>
              <a:rPr dirty="0" spc="70"/>
              <a:t>FRAMEWORK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2956" y="1177938"/>
            <a:ext cx="5923915" cy="457708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2400" spc="-25" b="1">
                <a:latin typeface="Calibri"/>
                <a:cs typeface="Calibri"/>
              </a:rPr>
              <a:t>Native</a:t>
            </a:r>
            <a:r>
              <a:rPr dirty="0" sz="2400" spc="-9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App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Framework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spc="-10" b="1">
                <a:latin typeface="Calibri"/>
                <a:cs typeface="Calibri"/>
              </a:rPr>
              <a:t>Flutter</a:t>
            </a:r>
            <a:endParaRPr sz="2400">
              <a:latin typeface="Calibri"/>
              <a:cs typeface="Calibri"/>
            </a:endParaRPr>
          </a:p>
          <a:p>
            <a:pPr lvl="1" marL="698500" marR="76200" indent="-228600">
              <a:lnSpc>
                <a:spcPct val="91700"/>
              </a:lnSpc>
              <a:spcBef>
                <a:spcPts val="725"/>
              </a:spcBef>
              <a:buFont typeface="Wingdings"/>
              <a:buChar char=""/>
              <a:tabLst>
                <a:tab pos="698500" algn="l"/>
              </a:tabLst>
            </a:pPr>
            <a:r>
              <a:rPr dirty="0" sz="2000" spc="-25">
                <a:latin typeface="Calibri"/>
                <a:cs typeface="Calibri"/>
              </a:rPr>
              <a:t>Flutter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free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5">
                <a:latin typeface="Calibri"/>
                <a:cs typeface="Calibri"/>
              </a:rPr>
              <a:t>open-</a:t>
            </a:r>
            <a:r>
              <a:rPr dirty="0" sz="2000" spc="-20">
                <a:latin typeface="Calibri"/>
                <a:cs typeface="Calibri"/>
              </a:rPr>
              <a:t>source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mobile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UI </a:t>
            </a:r>
            <a:r>
              <a:rPr dirty="0" sz="2000" spc="-30">
                <a:latin typeface="Calibri"/>
                <a:cs typeface="Calibri"/>
              </a:rPr>
              <a:t>framework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created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Google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released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May </a:t>
            </a:r>
            <a:r>
              <a:rPr dirty="0" sz="2000" spc="-20">
                <a:latin typeface="Calibri"/>
                <a:cs typeface="Calibri"/>
              </a:rPr>
              <a:t>2017</a:t>
            </a:r>
            <a:endParaRPr sz="2000">
              <a:latin typeface="Calibri"/>
              <a:cs typeface="Calibri"/>
            </a:endParaRPr>
          </a:p>
          <a:p>
            <a:pPr lvl="1" marL="697865" indent="-227965">
              <a:lnSpc>
                <a:spcPts val="2300"/>
              </a:lnSpc>
              <a:spcBef>
                <a:spcPts val="300"/>
              </a:spcBef>
              <a:buFont typeface="Wingdings"/>
              <a:buChar char=""/>
              <a:tabLst>
                <a:tab pos="697865" algn="l"/>
              </a:tabLst>
            </a:pPr>
            <a:r>
              <a:rPr dirty="0" sz="2000" spc="-25">
                <a:latin typeface="Calibri"/>
                <a:cs typeface="Calibri"/>
              </a:rPr>
              <a:t>Flutter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developers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organizations</a:t>
            </a:r>
            <a:endParaRPr sz="2000">
              <a:latin typeface="Calibri"/>
              <a:cs typeface="Calibri"/>
            </a:endParaRPr>
          </a:p>
          <a:p>
            <a:pPr marL="698500">
              <a:lnSpc>
                <a:spcPts val="2300"/>
              </a:lnSpc>
            </a:pPr>
            <a:r>
              <a:rPr dirty="0" sz="2000" spc="-20">
                <a:latin typeface="Calibri"/>
                <a:cs typeface="Calibri"/>
              </a:rPr>
              <a:t>worldwide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free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open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source.</a:t>
            </a:r>
            <a:endParaRPr sz="2000">
              <a:latin typeface="Calibri"/>
              <a:cs typeface="Calibri"/>
            </a:endParaRPr>
          </a:p>
          <a:p>
            <a:pPr lvl="1" marL="698500" marR="5080" indent="-22860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698500" algn="l"/>
              </a:tabLst>
            </a:pPr>
            <a:r>
              <a:rPr dirty="0" sz="2000" spc="-90">
                <a:latin typeface="Calibri"/>
                <a:cs typeface="Calibri"/>
              </a:rPr>
              <a:t>To</a:t>
            </a:r>
            <a:r>
              <a:rPr dirty="0" sz="2000" spc="-2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develop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55">
                <a:latin typeface="Calibri"/>
                <a:cs typeface="Calibri"/>
              </a:rPr>
              <a:t>Flutter,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you</a:t>
            </a:r>
            <a:r>
              <a:rPr dirty="0" sz="2000" spc="-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programming </a:t>
            </a:r>
            <a:r>
              <a:rPr dirty="0" sz="2000" spc="-20">
                <a:latin typeface="Calibri"/>
                <a:cs typeface="Calibri"/>
              </a:rPr>
              <a:t>language</a:t>
            </a:r>
            <a:r>
              <a:rPr dirty="0" sz="2000" spc="-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0000"/>
                </a:solidFill>
                <a:latin typeface="Calibri"/>
                <a:cs typeface="Calibri"/>
              </a:rPr>
              <a:t>Dart.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05"/>
              </a:spcBef>
            </a:pPr>
            <a:endParaRPr sz="2000">
              <a:latin typeface="Calibri"/>
              <a:cs typeface="Calibri"/>
            </a:endParaRPr>
          </a:p>
          <a:p>
            <a:pPr algn="ctr" marR="2231390">
              <a:lnSpc>
                <a:spcPct val="100000"/>
              </a:lnSpc>
            </a:pPr>
            <a:r>
              <a:rPr dirty="0" u="sng" sz="2800" spc="-10">
                <a:solidFill>
                  <a:srgbClr val="F82B5C"/>
                </a:solidFill>
                <a:uFill>
                  <a:solidFill>
                    <a:srgbClr val="0460C1"/>
                  </a:solidFill>
                </a:uFill>
                <a:latin typeface="Calibri"/>
                <a:cs typeface="Calibri"/>
                <a:hlinkClick r:id="rId2"/>
              </a:rPr>
              <a:t>https://flutter.dev/</a:t>
            </a:r>
            <a:endParaRPr sz="2800">
              <a:latin typeface="Calibri"/>
              <a:cs typeface="Calibri"/>
            </a:endParaRPr>
          </a:p>
          <a:p>
            <a:pPr algn="ctr" marR="2232660">
              <a:lnSpc>
                <a:spcPct val="100000"/>
              </a:lnSpc>
              <a:spcBef>
                <a:spcPts val="1375"/>
              </a:spcBef>
            </a:pPr>
            <a:r>
              <a:rPr dirty="0" sz="1800" spc="-20">
                <a:solidFill>
                  <a:srgbClr val="00AD50"/>
                </a:solidFill>
                <a:latin typeface="Calibri"/>
                <a:cs typeface="Calibri"/>
              </a:rPr>
              <a:t>Official</a:t>
            </a:r>
            <a:r>
              <a:rPr dirty="0" sz="1800" spc="-40">
                <a:solidFill>
                  <a:srgbClr val="00AD5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AD50"/>
                </a:solidFill>
                <a:latin typeface="Calibri"/>
                <a:cs typeface="Calibri"/>
              </a:rPr>
              <a:t>Website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22947" y="2403348"/>
            <a:ext cx="4815840" cy="205587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5"/>
              <a:t>MOBILE</a:t>
            </a:r>
            <a:r>
              <a:rPr dirty="0" spc="-210"/>
              <a:t> </a:t>
            </a:r>
            <a:r>
              <a:rPr dirty="0"/>
              <a:t>APP</a:t>
            </a:r>
            <a:r>
              <a:rPr dirty="0" spc="90"/>
              <a:t> </a:t>
            </a:r>
            <a:r>
              <a:rPr dirty="0"/>
              <a:t>DEVELOPMENT</a:t>
            </a:r>
            <a:r>
              <a:rPr dirty="0" spc="290"/>
              <a:t> </a:t>
            </a:r>
            <a:r>
              <a:rPr dirty="0" spc="70"/>
              <a:t>FRAMEWORK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2956" y="1177938"/>
            <a:ext cx="6288405" cy="306387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2400" spc="-35" b="1">
                <a:latin typeface="Calibri"/>
                <a:cs typeface="Calibri"/>
              </a:rPr>
              <a:t>Why</a:t>
            </a:r>
            <a:r>
              <a:rPr dirty="0" sz="2400" spc="-9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Flutter?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b="1">
                <a:latin typeface="Calibri"/>
                <a:cs typeface="Calibri"/>
              </a:rPr>
              <a:t>One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codebase</a:t>
            </a:r>
            <a:r>
              <a:rPr dirty="0" sz="2400" spc="-11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for</a:t>
            </a:r>
            <a:r>
              <a:rPr dirty="0" sz="2400" spc="-114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all</a:t>
            </a:r>
            <a:r>
              <a:rPr dirty="0" sz="2400" spc="-7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platforms</a:t>
            </a:r>
            <a:endParaRPr sz="2400">
              <a:latin typeface="Calibri"/>
              <a:cs typeface="Calibri"/>
            </a:endParaRPr>
          </a:p>
          <a:p>
            <a:pPr lvl="1" marL="698500" marR="170180" indent="-228600">
              <a:lnSpc>
                <a:spcPts val="2300"/>
              </a:lnSpc>
              <a:spcBef>
                <a:spcPts val="480"/>
              </a:spcBef>
              <a:buFont typeface="Wingdings"/>
              <a:buChar char=""/>
              <a:tabLst>
                <a:tab pos="698500" algn="l"/>
              </a:tabLst>
            </a:pP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necessarily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writing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code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Android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another </a:t>
            </a:r>
            <a:r>
              <a:rPr dirty="0" sz="2000" spc="-20">
                <a:latin typeface="Calibri"/>
                <a:cs typeface="Calibri"/>
              </a:rPr>
              <a:t>codebase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for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iOS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devices.</a:t>
            </a:r>
            <a:endParaRPr sz="2000">
              <a:latin typeface="Calibri"/>
              <a:cs typeface="Calibri"/>
            </a:endParaRPr>
          </a:p>
          <a:p>
            <a:pPr lvl="1" marL="698500" marR="122555" indent="-228600">
              <a:lnSpc>
                <a:spcPct val="92100"/>
              </a:lnSpc>
              <a:spcBef>
                <a:spcPts val="335"/>
              </a:spcBef>
              <a:buFont typeface="Wingdings"/>
              <a:buChar char=""/>
              <a:tabLst>
                <a:tab pos="698500" algn="l"/>
              </a:tabLst>
            </a:pPr>
            <a:r>
              <a:rPr dirty="0" sz="2000" spc="-35">
                <a:latin typeface="Calibri"/>
                <a:cs typeface="Calibri"/>
              </a:rPr>
              <a:t>Flutter’s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code</a:t>
            </a:r>
            <a:r>
              <a:rPr dirty="0" sz="2000" spc="-1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reusability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you</a:t>
            </a:r>
            <a:r>
              <a:rPr dirty="0" sz="2000" spc="-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write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just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one </a:t>
            </a:r>
            <a:r>
              <a:rPr dirty="0" sz="2000" spc="-20">
                <a:latin typeface="Calibri"/>
                <a:cs typeface="Calibri"/>
              </a:rPr>
              <a:t>codebase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for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mobile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Android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iOS,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web, desktop,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more.</a:t>
            </a:r>
            <a:endParaRPr sz="2000">
              <a:latin typeface="Calibri"/>
              <a:cs typeface="Calibri"/>
            </a:endParaRPr>
          </a:p>
          <a:p>
            <a:pPr lvl="1" marL="698500" marR="5080" indent="-228600">
              <a:lnSpc>
                <a:spcPts val="2300"/>
              </a:lnSpc>
              <a:spcBef>
                <a:spcPts val="160"/>
              </a:spcBef>
              <a:buFont typeface="Wingdings"/>
              <a:buChar char=""/>
              <a:tabLst>
                <a:tab pos="698500" algn="l"/>
              </a:tabLst>
            </a:pP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significantly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cuts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development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time,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removes costs,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enables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you</a:t>
            </a:r>
            <a:r>
              <a:rPr dirty="0" sz="2000" spc="-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launch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your</a:t>
            </a:r>
            <a:r>
              <a:rPr dirty="0" sz="2000" spc="-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much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faster.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1735" y="1712976"/>
            <a:ext cx="4648200" cy="296265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5"/>
              <a:t>MOBILE</a:t>
            </a:r>
            <a:r>
              <a:rPr dirty="0" spc="-210"/>
              <a:t> </a:t>
            </a:r>
            <a:r>
              <a:rPr dirty="0"/>
              <a:t>APP</a:t>
            </a:r>
            <a:r>
              <a:rPr dirty="0" spc="90"/>
              <a:t> </a:t>
            </a:r>
            <a:r>
              <a:rPr dirty="0"/>
              <a:t>DEVELOPMENT</a:t>
            </a:r>
            <a:r>
              <a:rPr dirty="0" spc="290"/>
              <a:t> </a:t>
            </a:r>
            <a:r>
              <a:rPr dirty="0" spc="70"/>
              <a:t>FRAMEWORK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2956" y="1177938"/>
            <a:ext cx="6073775" cy="157480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2400" spc="-35" b="1">
                <a:latin typeface="Calibri"/>
                <a:cs typeface="Calibri"/>
              </a:rPr>
              <a:t>Why</a:t>
            </a:r>
            <a:r>
              <a:rPr dirty="0" sz="2400" spc="-9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Flutter?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b="1">
                <a:latin typeface="Calibri"/>
                <a:cs typeface="Calibri"/>
              </a:rPr>
              <a:t>Rich</a:t>
            </a:r>
            <a:r>
              <a:rPr dirty="0" sz="2400" spc="-9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libraries</a:t>
            </a:r>
            <a:endParaRPr sz="2400">
              <a:latin typeface="Calibri"/>
              <a:cs typeface="Calibri"/>
            </a:endParaRPr>
          </a:p>
          <a:p>
            <a:pPr lvl="1" marL="697865" marR="5080" indent="-240029">
              <a:lnSpc>
                <a:spcPts val="2300"/>
              </a:lnSpc>
              <a:spcBef>
                <a:spcPts val="480"/>
              </a:spcBef>
              <a:buFont typeface="Wingdings"/>
              <a:buChar char=""/>
              <a:tabLst>
                <a:tab pos="724535" algn="l"/>
              </a:tabLst>
            </a:pP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rich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graphics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55">
                <a:latin typeface="Calibri"/>
                <a:cs typeface="Calibri"/>
              </a:rPr>
              <a:t>library,</a:t>
            </a:r>
            <a:r>
              <a:rPr dirty="0" sz="2000" spc="-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fast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mature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enough</a:t>
            </a:r>
            <a:r>
              <a:rPr dirty="0" sz="2000" spc="-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create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stunning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interfaces.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24471" y="1527047"/>
            <a:ext cx="4956048" cy="330403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5"/>
              <a:t>MOBILE</a:t>
            </a:r>
            <a:r>
              <a:rPr dirty="0" spc="-210"/>
              <a:t> </a:t>
            </a:r>
            <a:r>
              <a:rPr dirty="0"/>
              <a:t>APP</a:t>
            </a:r>
            <a:r>
              <a:rPr dirty="0" spc="90"/>
              <a:t> </a:t>
            </a:r>
            <a:r>
              <a:rPr dirty="0"/>
              <a:t>DEVELOPMENT</a:t>
            </a:r>
            <a:r>
              <a:rPr dirty="0" spc="290"/>
              <a:t> </a:t>
            </a:r>
            <a:r>
              <a:rPr dirty="0" spc="70"/>
              <a:t>FRAMEWORK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2956" y="1177938"/>
            <a:ext cx="6222365" cy="376237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2400" spc="-35" b="1">
                <a:latin typeface="Calibri"/>
                <a:cs typeface="Calibri"/>
              </a:rPr>
              <a:t>Why</a:t>
            </a:r>
            <a:r>
              <a:rPr dirty="0" sz="2400" spc="-9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Flutter?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spc="-45" b="1">
                <a:latin typeface="Calibri"/>
                <a:cs typeface="Calibri"/>
              </a:rPr>
              <a:t>Fast</a:t>
            </a:r>
            <a:r>
              <a:rPr dirty="0" sz="2400" spc="-14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testing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with</a:t>
            </a:r>
            <a:r>
              <a:rPr dirty="0" sz="2400" spc="-9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hot</a:t>
            </a:r>
            <a:r>
              <a:rPr dirty="0" sz="2400" spc="-9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reload</a:t>
            </a:r>
            <a:endParaRPr sz="2400">
              <a:latin typeface="Calibri"/>
              <a:cs typeface="Calibri"/>
            </a:endParaRPr>
          </a:p>
          <a:p>
            <a:pPr lvl="1" marL="698500" marR="273685" indent="-228600">
              <a:lnSpc>
                <a:spcPts val="2300"/>
              </a:lnSpc>
              <a:spcBef>
                <a:spcPts val="480"/>
              </a:spcBef>
              <a:buFont typeface="Wingdings"/>
              <a:buChar char=""/>
              <a:tabLst>
                <a:tab pos="69850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hot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reload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feature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makes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development </a:t>
            </a:r>
            <a:r>
              <a:rPr dirty="0" sz="2000">
                <a:latin typeface="Calibri"/>
                <a:cs typeface="Calibri"/>
              </a:rPr>
              <a:t>much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quicker.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05"/>
              </a:spcBef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lvl="1" marL="697865" indent="-227965">
              <a:lnSpc>
                <a:spcPts val="2300"/>
              </a:lnSpc>
              <a:buFont typeface="Wingdings"/>
              <a:buChar char=""/>
              <a:tabLst>
                <a:tab pos="697865" algn="l"/>
              </a:tabLst>
            </a:pP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70">
                <a:latin typeface="Calibri"/>
                <a:cs typeface="Calibri"/>
              </a:rPr>
              <a:t> Flutter,</a:t>
            </a:r>
            <a:r>
              <a:rPr dirty="0" sz="2000" spc="-114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reloading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every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change</a:t>
            </a:r>
            <a:endParaRPr sz="2000">
              <a:latin typeface="Calibri"/>
              <a:cs typeface="Calibri"/>
            </a:endParaRPr>
          </a:p>
          <a:p>
            <a:pPr marL="698500">
              <a:lnSpc>
                <a:spcPts val="2300"/>
              </a:lnSpc>
            </a:pPr>
            <a:r>
              <a:rPr dirty="0" sz="2000" spc="-10">
                <a:latin typeface="Calibri"/>
                <a:cs typeface="Calibri"/>
              </a:rPr>
              <a:t>you</a:t>
            </a:r>
            <a:r>
              <a:rPr dirty="0" sz="2000" spc="-11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make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code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unnecessary.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2000">
              <a:latin typeface="Calibri"/>
              <a:cs typeface="Calibri"/>
            </a:endParaRPr>
          </a:p>
          <a:p>
            <a:pPr lvl="1" marL="698500" marR="5715" indent="-228600">
              <a:lnSpc>
                <a:spcPts val="2210"/>
              </a:lnSpc>
              <a:buFont typeface="Wingdings"/>
              <a:buChar char=""/>
              <a:tabLst>
                <a:tab pos="698500" algn="l"/>
              </a:tabLst>
            </a:pPr>
            <a:r>
              <a:rPr dirty="0" sz="2000" spc="-65">
                <a:latin typeface="Calibri"/>
                <a:cs typeface="Calibri"/>
              </a:rPr>
              <a:t>You</a:t>
            </a:r>
            <a:r>
              <a:rPr dirty="0" sz="2000" spc="-21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can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easily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make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your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45">
                <a:latin typeface="Calibri"/>
                <a:cs typeface="Calibri"/>
              </a:rPr>
              <a:t>real-</a:t>
            </a:r>
            <a:r>
              <a:rPr dirty="0" sz="2000" spc="-10">
                <a:latin typeface="Calibri"/>
                <a:cs typeface="Calibri"/>
              </a:rPr>
              <a:t>time, allowing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experiment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code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fix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bugs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go.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1235" y="1819655"/>
            <a:ext cx="4968239" cy="279501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2956" y="1267459"/>
            <a:ext cx="1637664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5" b="1">
                <a:solidFill>
                  <a:srgbClr val="000000"/>
                </a:solidFill>
                <a:latin typeface="Calibri"/>
                <a:cs typeface="Calibri"/>
              </a:rPr>
              <a:t>Why</a:t>
            </a:r>
            <a:r>
              <a:rPr dirty="0" sz="2400" spc="-9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0000"/>
                </a:solidFill>
                <a:latin typeface="Calibri"/>
                <a:cs typeface="Calibri"/>
              </a:rPr>
              <a:t>Flutter?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9370" rIns="0" bIns="0" rtlCol="0" vert="horz">
            <a:spAutoFit/>
          </a:bodyPr>
          <a:lstStyle/>
          <a:p>
            <a:pPr algn="just" marL="240665" indent="-227965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pc="-10"/>
              <a:t>Popularity</a:t>
            </a:r>
          </a:p>
          <a:p>
            <a:pPr algn="just" lvl="1" marL="698500" marR="30480" indent="-233045">
              <a:lnSpc>
                <a:spcPct val="90000"/>
              </a:lnSpc>
              <a:spcBef>
                <a:spcPts val="505"/>
              </a:spcBef>
              <a:buSzPct val="91666"/>
              <a:buFont typeface="Wingdings"/>
              <a:buChar char=""/>
              <a:tabLst>
                <a:tab pos="698500" algn="l"/>
                <a:tab pos="700405" algn="l"/>
              </a:tabLst>
            </a:pPr>
            <a:r>
              <a:rPr dirty="0" sz="2400">
                <a:latin typeface="Calibri"/>
                <a:cs typeface="Calibri"/>
              </a:rPr>
              <a:t>	One</a:t>
            </a:r>
            <a:r>
              <a:rPr dirty="0" sz="2400" spc="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most</a:t>
            </a:r>
            <a:r>
              <a:rPr dirty="0" sz="2400" spc="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popular</a:t>
            </a:r>
            <a:r>
              <a:rPr dirty="0" sz="2400" spc="75">
                <a:latin typeface="Calibri"/>
                <a:cs typeface="Calibri"/>
              </a:rPr>
              <a:t> </a:t>
            </a:r>
            <a:r>
              <a:rPr dirty="0" sz="2400" spc="-45">
                <a:latin typeface="Calibri"/>
                <a:cs typeface="Calibri"/>
              </a:rPr>
              <a:t>cross-</a:t>
            </a:r>
            <a:r>
              <a:rPr dirty="0" sz="2400" spc="-10">
                <a:latin typeface="Calibri"/>
                <a:cs typeface="Calibri"/>
              </a:rPr>
              <a:t>platform </a:t>
            </a:r>
            <a:r>
              <a:rPr dirty="0" sz="2400">
                <a:latin typeface="Calibri"/>
                <a:cs typeface="Calibri"/>
              </a:rPr>
              <a:t>mobile</a:t>
            </a:r>
            <a:r>
              <a:rPr dirty="0" sz="2400" spc="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frameworks</a:t>
            </a:r>
            <a:r>
              <a:rPr dirty="0" sz="2400" spc="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used</a:t>
            </a:r>
            <a:r>
              <a:rPr dirty="0" sz="2400" spc="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10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developers worldwide.</a:t>
            </a:r>
            <a:endParaRPr sz="2400">
              <a:latin typeface="Calibri"/>
              <a:cs typeface="Calibri"/>
            </a:endParaRPr>
          </a:p>
          <a:p>
            <a:pPr lvl="1" marL="698500" marR="5080" indent="-233045">
              <a:lnSpc>
                <a:spcPts val="2590"/>
              </a:lnSpc>
              <a:spcBef>
                <a:spcPts val="655"/>
              </a:spcBef>
              <a:buSzPct val="91666"/>
              <a:buFont typeface="Wingdings"/>
              <a:buChar char=""/>
              <a:tabLst>
                <a:tab pos="698500" algn="l"/>
                <a:tab pos="700405" algn="l"/>
              </a:tabLst>
            </a:pPr>
            <a:r>
              <a:rPr dirty="0" sz="2400">
                <a:latin typeface="Calibri"/>
                <a:cs typeface="Calibri"/>
              </a:rPr>
              <a:t>	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popularity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increasing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year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 </a:t>
            </a:r>
            <a:r>
              <a:rPr dirty="0" sz="2400" spc="-10">
                <a:latin typeface="Calibri"/>
                <a:cs typeface="Calibri"/>
              </a:rPr>
              <a:t>year.</a:t>
            </a:r>
            <a:endParaRPr sz="2400">
              <a:latin typeface="Calibri"/>
              <a:cs typeface="Calibri"/>
            </a:endParaRPr>
          </a:p>
          <a:p>
            <a:pPr lvl="1" marL="698500" marR="297180" indent="-233045">
              <a:lnSpc>
                <a:spcPts val="2590"/>
              </a:lnSpc>
              <a:spcBef>
                <a:spcPts val="509"/>
              </a:spcBef>
              <a:buSzPct val="91666"/>
              <a:buFont typeface="Wingdings"/>
              <a:buChar char=""/>
              <a:tabLst>
                <a:tab pos="698500" algn="l"/>
                <a:tab pos="700405" algn="l"/>
              </a:tabLst>
            </a:pPr>
            <a:r>
              <a:rPr dirty="0" sz="2400">
                <a:latin typeface="Calibri"/>
                <a:cs typeface="Calibri"/>
              </a:rPr>
              <a:t>	This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means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Flutter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has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very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large </a:t>
            </a:r>
            <a:r>
              <a:rPr dirty="0" sz="2400" spc="-20">
                <a:latin typeface="Calibri"/>
                <a:cs typeface="Calibri"/>
              </a:rPr>
              <a:t>community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group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where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we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easily </a:t>
            </a:r>
            <a:r>
              <a:rPr dirty="0" sz="2400">
                <a:latin typeface="Calibri"/>
                <a:cs typeface="Calibri"/>
              </a:rPr>
              <a:t>get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support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troubleshoot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some </a:t>
            </a:r>
            <a:r>
              <a:rPr dirty="0" sz="2400" spc="-30">
                <a:latin typeface="Calibri"/>
                <a:cs typeface="Calibri"/>
              </a:rPr>
              <a:t>development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issues.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8984" y="1976627"/>
            <a:ext cx="5637275" cy="36469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647815" y="1201292"/>
            <a:ext cx="490982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35" b="1">
                <a:latin typeface="Calibri"/>
                <a:cs typeface="Calibri"/>
              </a:rPr>
              <a:t>Cross-</a:t>
            </a:r>
            <a:r>
              <a:rPr dirty="0" sz="1800" spc="-30" b="1">
                <a:latin typeface="Calibri"/>
                <a:cs typeface="Calibri"/>
              </a:rPr>
              <a:t>platform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mobile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frameworks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used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software</a:t>
            </a:r>
            <a:endParaRPr sz="1800">
              <a:latin typeface="Calibri"/>
              <a:cs typeface="Calibri"/>
            </a:endParaRPr>
          </a:p>
          <a:p>
            <a:pPr algn="ctr" marR="9525">
              <a:lnSpc>
                <a:spcPct val="100000"/>
              </a:lnSpc>
            </a:pPr>
            <a:r>
              <a:rPr dirty="0" sz="1800" spc="-25" b="1">
                <a:latin typeface="Calibri"/>
                <a:cs typeface="Calibri"/>
              </a:rPr>
              <a:t>developers</a:t>
            </a:r>
            <a:r>
              <a:rPr dirty="0" sz="1800" spc="-145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worldwide</a:t>
            </a:r>
            <a:r>
              <a:rPr dirty="0" sz="1800" spc="-10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from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2019 to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2022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5"/>
              <a:t>MOBILE</a:t>
            </a:r>
            <a:r>
              <a:rPr dirty="0" spc="-210"/>
              <a:t> </a:t>
            </a:r>
            <a:r>
              <a:rPr dirty="0"/>
              <a:t>APP</a:t>
            </a:r>
            <a:r>
              <a:rPr dirty="0" spc="90"/>
              <a:t> </a:t>
            </a:r>
            <a:r>
              <a:rPr dirty="0"/>
              <a:t>DEVELOPMENT</a:t>
            </a:r>
            <a:r>
              <a:rPr dirty="0" spc="290"/>
              <a:t> </a:t>
            </a:r>
            <a:r>
              <a:rPr dirty="0" spc="70"/>
              <a:t>FRAMEWORK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2956" y="1209547"/>
            <a:ext cx="4342130" cy="435292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2400" spc="-35" b="1">
                <a:latin typeface="Calibri"/>
                <a:cs typeface="Calibri"/>
              </a:rPr>
              <a:t>Why</a:t>
            </a:r>
            <a:r>
              <a:rPr dirty="0" sz="2400" spc="-9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Flutter?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 spc="-30" b="1">
                <a:latin typeface="Calibri"/>
                <a:cs typeface="Calibri"/>
              </a:rPr>
              <a:t>Great</a:t>
            </a:r>
            <a:r>
              <a:rPr dirty="0" sz="2400" spc="-10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Job</a:t>
            </a:r>
            <a:r>
              <a:rPr dirty="0" sz="2400" spc="-11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Opportunities</a:t>
            </a:r>
            <a:endParaRPr sz="2400">
              <a:latin typeface="Calibri"/>
              <a:cs typeface="Calibri"/>
            </a:endParaRPr>
          </a:p>
          <a:p>
            <a:pPr lvl="1" marL="698500" marR="502284" indent="-232410">
              <a:lnSpc>
                <a:spcPct val="80000"/>
              </a:lnSpc>
              <a:spcBef>
                <a:spcPts val="755"/>
              </a:spcBef>
              <a:buSzPct val="91666"/>
              <a:buFont typeface="Wingdings"/>
              <a:buChar char=""/>
              <a:tabLst>
                <a:tab pos="698500" algn="l"/>
                <a:tab pos="701040" algn="l"/>
              </a:tabLst>
            </a:pPr>
            <a:r>
              <a:rPr dirty="0" sz="2400">
                <a:latin typeface="Calibri"/>
                <a:cs typeface="Calibri"/>
              </a:rPr>
              <a:t>	A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high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demand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skill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current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job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market</a:t>
            </a:r>
            <a:r>
              <a:rPr dirty="0" sz="2400" spc="-17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for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a </a:t>
            </a:r>
            <a:r>
              <a:rPr dirty="0" sz="2400">
                <a:latin typeface="Calibri"/>
                <a:cs typeface="Calibri"/>
              </a:rPr>
              <a:t>mobile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developer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45"/>
              </a:spcBef>
              <a:buFont typeface="Wingdings"/>
              <a:buChar char=""/>
            </a:pPr>
            <a:endParaRPr sz="2400">
              <a:latin typeface="Calibri"/>
              <a:cs typeface="Calibri"/>
            </a:endParaRPr>
          </a:p>
          <a:p>
            <a:pPr lvl="1" marL="698500" marR="627380" indent="-232410">
              <a:lnSpc>
                <a:spcPct val="80100"/>
              </a:lnSpc>
              <a:spcBef>
                <a:spcPts val="5"/>
              </a:spcBef>
              <a:buSzPct val="91666"/>
              <a:buFont typeface="Wingdings"/>
              <a:buChar char=""/>
              <a:tabLst>
                <a:tab pos="698500" algn="l"/>
                <a:tab pos="701040" algn="l"/>
              </a:tabLst>
            </a:pP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30">
                <a:latin typeface="Calibri"/>
                <a:cs typeface="Calibri"/>
              </a:rPr>
              <a:t>Flutter</a:t>
            </a:r>
            <a:r>
              <a:rPr dirty="0" sz="2400" spc="-1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React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Native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is </a:t>
            </a:r>
            <a:r>
              <a:rPr dirty="0" sz="2400" spc="-20">
                <a:latin typeface="Calibri"/>
                <a:cs typeface="Calibri"/>
              </a:rPr>
              <a:t>commonly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50">
                <a:latin typeface="Calibri"/>
                <a:cs typeface="Calibri"/>
              </a:rPr>
              <a:t>preferable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skills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required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25"/>
              </a:spcBef>
              <a:buFont typeface="Wingdings"/>
              <a:buChar char=""/>
            </a:pPr>
            <a:endParaRPr sz="2400">
              <a:latin typeface="Calibri"/>
              <a:cs typeface="Calibri"/>
            </a:endParaRPr>
          </a:p>
          <a:p>
            <a:pPr lvl="1" marL="698500" marR="5080" indent="-232410">
              <a:lnSpc>
                <a:spcPts val="2310"/>
              </a:lnSpc>
              <a:buSzPct val="91666"/>
              <a:buFont typeface="Wingdings"/>
              <a:buChar char=""/>
              <a:tabLst>
                <a:tab pos="698500" algn="l"/>
                <a:tab pos="701040" algn="l"/>
              </a:tabLst>
            </a:pP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Stand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35">
                <a:latin typeface="Calibri"/>
                <a:cs typeface="Calibri"/>
              </a:rPr>
              <a:t>better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chance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get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a </a:t>
            </a:r>
            <a:r>
              <a:rPr dirty="0" sz="2400">
                <a:latin typeface="Calibri"/>
                <a:cs typeface="Calibri"/>
              </a:rPr>
              <a:t>high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salary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job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years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of </a:t>
            </a:r>
            <a:r>
              <a:rPr dirty="0" sz="2400" spc="-10">
                <a:latin typeface="Calibri"/>
                <a:cs typeface="Calibri"/>
              </a:rPr>
              <a:t>experience.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0555" y="1082039"/>
            <a:ext cx="2511552" cy="22402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17235" y="3710940"/>
            <a:ext cx="2410967" cy="216865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993380" y="1260347"/>
            <a:ext cx="3992879" cy="2038985"/>
            <a:chOff x="7993380" y="1260347"/>
            <a:chExt cx="3992879" cy="203898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93380" y="1260347"/>
              <a:ext cx="3992879" cy="199643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156448" y="3102863"/>
              <a:ext cx="2982595" cy="187325"/>
            </a:xfrm>
            <a:custGeom>
              <a:avLst/>
              <a:gdLst/>
              <a:ahLst/>
              <a:cxnLst/>
              <a:rect l="l" t="t" r="r" b="b"/>
              <a:pathLst>
                <a:path w="2982595" h="187325">
                  <a:moveTo>
                    <a:pt x="0" y="186944"/>
                  </a:moveTo>
                  <a:lnTo>
                    <a:pt x="2982086" y="186944"/>
                  </a:lnTo>
                  <a:lnTo>
                    <a:pt x="2982086" y="0"/>
                  </a:lnTo>
                  <a:lnTo>
                    <a:pt x="0" y="0"/>
                  </a:lnTo>
                  <a:lnTo>
                    <a:pt x="0" y="186944"/>
                  </a:lnTo>
                  <a:close/>
                </a:path>
              </a:pathLst>
            </a:custGeom>
            <a:ln w="1904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31352" y="3643884"/>
            <a:ext cx="2907792" cy="221284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5"/>
              <a:t>MOBILE</a:t>
            </a:r>
            <a:r>
              <a:rPr dirty="0" spc="-210"/>
              <a:t> </a:t>
            </a:r>
            <a:r>
              <a:rPr dirty="0"/>
              <a:t>APP</a:t>
            </a:r>
            <a:r>
              <a:rPr dirty="0" spc="90"/>
              <a:t> </a:t>
            </a:r>
            <a:r>
              <a:rPr dirty="0"/>
              <a:t>DEVELOPMENT</a:t>
            </a:r>
            <a:r>
              <a:rPr dirty="0" spc="290"/>
              <a:t> </a:t>
            </a:r>
            <a:r>
              <a:rPr dirty="0" spc="70"/>
              <a:t>FRAMEWORK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6848" y="1338148"/>
            <a:ext cx="65385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5" b="1">
                <a:latin typeface="Calibri"/>
                <a:cs typeface="Calibri"/>
              </a:rPr>
              <a:t>Hardware</a:t>
            </a:r>
            <a:r>
              <a:rPr dirty="0" sz="2800" spc="-85" b="1">
                <a:latin typeface="Calibri"/>
                <a:cs typeface="Calibri"/>
              </a:rPr>
              <a:t> </a:t>
            </a:r>
            <a:r>
              <a:rPr dirty="0" sz="2800" spc="-35" b="1">
                <a:latin typeface="Calibri"/>
                <a:cs typeface="Calibri"/>
              </a:rPr>
              <a:t>Requirement</a:t>
            </a:r>
            <a:r>
              <a:rPr dirty="0" sz="2800" spc="-114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of</a:t>
            </a:r>
            <a:r>
              <a:rPr dirty="0" sz="2800" spc="-12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Flutter</a:t>
            </a:r>
            <a:r>
              <a:rPr dirty="0" sz="2800" spc="-9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(Windows)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2311" y="2359151"/>
            <a:ext cx="9703308" cy="246583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5">
                <a:moveTo>
                  <a:pt x="12192000" y="0"/>
                </a:moveTo>
                <a:lnTo>
                  <a:pt x="0" y="0"/>
                </a:lnTo>
                <a:lnTo>
                  <a:pt x="0" y="702437"/>
                </a:lnTo>
                <a:lnTo>
                  <a:pt x="12192000" y="7024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8716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5"/>
              <a:t>MOBILE</a:t>
            </a:r>
            <a:r>
              <a:rPr dirty="0" spc="-240"/>
              <a:t> </a:t>
            </a:r>
            <a:r>
              <a:rPr dirty="0"/>
              <a:t>APP</a:t>
            </a:r>
            <a:r>
              <a:rPr dirty="0" spc="85"/>
              <a:t> </a:t>
            </a:r>
            <a:r>
              <a:rPr dirty="0"/>
              <a:t>DEVELOPMENT</a:t>
            </a:r>
            <a:r>
              <a:rPr dirty="0" spc="240"/>
              <a:t> </a:t>
            </a:r>
            <a:r>
              <a:rPr dirty="0" spc="80"/>
              <a:t>ENVIRONMENT</a:t>
            </a:r>
            <a:r>
              <a:rPr dirty="0" spc="195"/>
              <a:t> </a:t>
            </a:r>
            <a:r>
              <a:rPr dirty="0" spc="-10"/>
              <a:t>SETUP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6848" y="1338148"/>
            <a:ext cx="61995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5" b="1">
                <a:latin typeface="Calibri"/>
                <a:cs typeface="Calibri"/>
              </a:rPr>
              <a:t>Hardware</a:t>
            </a:r>
            <a:r>
              <a:rPr dirty="0" sz="2800" spc="-100" b="1">
                <a:latin typeface="Calibri"/>
                <a:cs typeface="Calibri"/>
              </a:rPr>
              <a:t> </a:t>
            </a:r>
            <a:r>
              <a:rPr dirty="0" sz="2800" spc="-30" b="1">
                <a:latin typeface="Calibri"/>
                <a:cs typeface="Calibri"/>
              </a:rPr>
              <a:t>Requirement</a:t>
            </a:r>
            <a:r>
              <a:rPr dirty="0" sz="2800" spc="-12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of</a:t>
            </a:r>
            <a:r>
              <a:rPr dirty="0" sz="2800" spc="-14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Flutter</a:t>
            </a:r>
            <a:r>
              <a:rPr dirty="0" sz="2800" spc="-9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(MacOS)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2411" y="2446020"/>
            <a:ext cx="8666988" cy="220065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279394" y="2623820"/>
            <a:ext cx="3961765" cy="16719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5400">
                <a:solidFill>
                  <a:srgbClr val="000000"/>
                </a:solidFill>
                <a:latin typeface="Calibri"/>
                <a:cs typeface="Calibri"/>
              </a:rPr>
              <a:t>SEE</a:t>
            </a:r>
            <a:r>
              <a:rPr dirty="0" sz="5400" spc="-229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000000"/>
                </a:solidFill>
                <a:latin typeface="Calibri"/>
                <a:cs typeface="Calibri"/>
              </a:rPr>
              <a:t>YOU</a:t>
            </a:r>
            <a:r>
              <a:rPr dirty="0" sz="5400" spc="-22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5400" spc="-20">
                <a:solidFill>
                  <a:srgbClr val="000000"/>
                </a:solidFill>
                <a:latin typeface="Calibri"/>
                <a:cs typeface="Calibri"/>
              </a:rPr>
              <a:t>NEXT </a:t>
            </a:r>
            <a:r>
              <a:rPr dirty="0" sz="5400" spc="-10">
                <a:solidFill>
                  <a:srgbClr val="000000"/>
                </a:solidFill>
                <a:latin typeface="Calibri"/>
                <a:cs typeface="Calibri"/>
              </a:rPr>
              <a:t>CLASS</a:t>
            </a:r>
            <a:endParaRPr sz="5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82B5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Bee Guan Teo</dc:creator>
  <dc:title>PowerPoint Presentation</dc:title>
  <dcterms:created xsi:type="dcterms:W3CDTF">2026-06-19T09:37:54Z</dcterms:created>
  <dcterms:modified xsi:type="dcterms:W3CDTF">2026-06-19T09:37:54Z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2025-04-07T00:00:00Z</vt:filetime>
  </property>
  <property fmtid="{D5CDD505-2E9C-101B-9397-08002B2CF9AE}" pid="4" name="Creator">
    <vt:lpwstr>Microsoft® PowerPoint® LTSC</vt:lpwstr>
  </property>
  <property fmtid="{D5CDD505-2E9C-101B-9397-08002B2CF9AE}" pid="5" name="LastSaved">
    <vt:filetime>2026-06-19T00:00:00Z</vt:filetime>
  </property>
  <property fmtid="{D5CDD505-2E9C-101B-9397-08002B2CF9AE}" pid="6" name="Producer">
    <vt:lpwstr>Microsoft® PowerPoint® LTSC</vt:lpwstr>
  </property>
</Properties>
</file>