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Default Extension="png" ContentType="image/png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81971" y="6095"/>
            <a:ext cx="2510028" cy="95097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6095"/>
            <a:ext cx="9680575" cy="951230"/>
          </a:xfrm>
          <a:custGeom>
            <a:avLst/>
            <a:gdLst/>
            <a:ahLst/>
            <a:cxnLst/>
            <a:rect l="l" t="t" r="r" b="b"/>
            <a:pathLst>
              <a:path w="9680575" h="951230">
                <a:moveTo>
                  <a:pt x="9680448" y="0"/>
                </a:moveTo>
                <a:lnTo>
                  <a:pt x="0" y="0"/>
                </a:lnTo>
                <a:lnTo>
                  <a:pt x="0" y="950976"/>
                </a:lnTo>
                <a:lnTo>
                  <a:pt x="9680448" y="950976"/>
                </a:lnTo>
                <a:lnTo>
                  <a:pt x="9680448" y="0"/>
                </a:lnTo>
                <a:close/>
              </a:path>
            </a:pathLst>
          </a:custGeom>
          <a:solidFill>
            <a:srgbClr val="1F39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946907" y="2430526"/>
            <a:ext cx="6433820" cy="574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810"/>
              </a:lnSpc>
            </a:pPr>
            <a:r>
              <a:rPr dirty="0"/>
              <a:t>Mobile</a:t>
            </a:r>
            <a:r>
              <a:rPr dirty="0" spc="-40"/>
              <a:t> </a:t>
            </a:r>
            <a:r>
              <a:rPr dirty="0" spc="-20"/>
              <a:t>Application </a:t>
            </a:r>
            <a:r>
              <a:rPr dirty="0" spc="-10"/>
              <a:t>System</a:t>
            </a:r>
            <a:r>
              <a:rPr dirty="0" spc="-95"/>
              <a:t> </a:t>
            </a:r>
            <a:r>
              <a:rPr dirty="0" spc="-10"/>
              <a:t>Design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810"/>
              </a:lnSpc>
            </a:pPr>
            <a:r>
              <a:rPr dirty="0"/>
              <a:t>Mobile</a:t>
            </a:r>
            <a:r>
              <a:rPr dirty="0" spc="-40"/>
              <a:t> </a:t>
            </a:r>
            <a:r>
              <a:rPr dirty="0" spc="-20"/>
              <a:t>Application </a:t>
            </a:r>
            <a:r>
              <a:rPr dirty="0" spc="-10"/>
              <a:t>System</a:t>
            </a:r>
            <a:r>
              <a:rPr dirty="0" spc="-95"/>
              <a:t> </a:t>
            </a:r>
            <a:r>
              <a:rPr dirty="0" spc="-10"/>
              <a:t>Design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810"/>
              </a:lnSpc>
            </a:pPr>
            <a:r>
              <a:rPr dirty="0"/>
              <a:t>Mobile</a:t>
            </a:r>
            <a:r>
              <a:rPr dirty="0" spc="-40"/>
              <a:t> </a:t>
            </a:r>
            <a:r>
              <a:rPr dirty="0" spc="-20"/>
              <a:t>Application </a:t>
            </a:r>
            <a:r>
              <a:rPr dirty="0" spc="-10"/>
              <a:t>System</a:t>
            </a:r>
            <a:r>
              <a:rPr dirty="0" spc="-95"/>
              <a:t> </a:t>
            </a:r>
            <a:r>
              <a:rPr dirty="0" spc="-10"/>
              <a:t>Design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810"/>
              </a:lnSpc>
            </a:pPr>
            <a:r>
              <a:rPr dirty="0"/>
              <a:t>Mobile</a:t>
            </a:r>
            <a:r>
              <a:rPr dirty="0" spc="-40"/>
              <a:t> </a:t>
            </a:r>
            <a:r>
              <a:rPr dirty="0" spc="-20"/>
              <a:t>Application </a:t>
            </a:r>
            <a:r>
              <a:rPr dirty="0" spc="-10"/>
              <a:t>System</a:t>
            </a:r>
            <a:r>
              <a:rPr dirty="0" spc="-95"/>
              <a:t> </a:t>
            </a:r>
            <a:r>
              <a:rPr dirty="0" spc="-10"/>
              <a:t>Design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810"/>
              </a:lnSpc>
            </a:pPr>
            <a:r>
              <a:rPr dirty="0"/>
              <a:t>Mobile</a:t>
            </a:r>
            <a:r>
              <a:rPr dirty="0" spc="-40"/>
              <a:t> </a:t>
            </a:r>
            <a:r>
              <a:rPr dirty="0" spc="-20"/>
              <a:t>Application </a:t>
            </a:r>
            <a:r>
              <a:rPr dirty="0" spc="-10"/>
              <a:t>System</a:t>
            </a:r>
            <a:r>
              <a:rPr dirty="0" spc="-95"/>
              <a:t> </a:t>
            </a:r>
            <a:r>
              <a:rPr dirty="0" spc="-10"/>
              <a:t>Design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439400" y="6268206"/>
            <a:ext cx="1752600" cy="589787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6268209"/>
            <a:ext cx="10439400" cy="589915"/>
          </a:xfrm>
          <a:custGeom>
            <a:avLst/>
            <a:gdLst/>
            <a:ahLst/>
            <a:cxnLst/>
            <a:rect l="l" t="t" r="r" b="b"/>
            <a:pathLst>
              <a:path w="10439400" h="589915">
                <a:moveTo>
                  <a:pt x="10439400" y="0"/>
                </a:moveTo>
                <a:lnTo>
                  <a:pt x="0" y="0"/>
                </a:lnTo>
                <a:lnTo>
                  <a:pt x="0" y="589788"/>
                </a:lnTo>
                <a:lnTo>
                  <a:pt x="10439400" y="589788"/>
                </a:lnTo>
                <a:lnTo>
                  <a:pt x="10439400" y="0"/>
                </a:lnTo>
                <a:close/>
              </a:path>
            </a:pathLst>
          </a:custGeom>
          <a:solidFill>
            <a:srgbClr val="1F39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0" y="164592"/>
            <a:ext cx="12192000" cy="702945"/>
          </a:xfrm>
          <a:custGeom>
            <a:avLst/>
            <a:gdLst/>
            <a:ahLst/>
            <a:cxnLst/>
            <a:rect l="l" t="t" r="r" b="b"/>
            <a:pathLst>
              <a:path w="12192000" h="702944">
                <a:moveTo>
                  <a:pt x="12192000" y="0"/>
                </a:moveTo>
                <a:lnTo>
                  <a:pt x="0" y="0"/>
                </a:lnTo>
                <a:lnTo>
                  <a:pt x="0" y="702564"/>
                </a:lnTo>
                <a:lnTo>
                  <a:pt x="12192000" y="702564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386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130" y="121793"/>
            <a:ext cx="12035739" cy="599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2140" y="1322578"/>
            <a:ext cx="8037195" cy="43656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094734" y="6444640"/>
            <a:ext cx="3142615" cy="254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810"/>
              </a:lnSpc>
            </a:pPr>
            <a:r>
              <a:rPr dirty="0"/>
              <a:t>Mobile</a:t>
            </a:r>
            <a:r>
              <a:rPr dirty="0" spc="-40"/>
              <a:t> </a:t>
            </a:r>
            <a:r>
              <a:rPr dirty="0" spc="-20"/>
              <a:t>Application </a:t>
            </a:r>
            <a:r>
              <a:rPr dirty="0" spc="-10"/>
              <a:t>System</a:t>
            </a:r>
            <a:r>
              <a:rPr dirty="0" spc="-95"/>
              <a:t> </a:t>
            </a:r>
            <a:r>
              <a:rPr dirty="0" spc="-10"/>
              <a:t>Design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jpg"/><Relationship Id="rId3" Type="http://schemas.openxmlformats.org/officeDocument/2006/relationships/image" Target="../media/image7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jpg"/><Relationship Id="rId3" Type="http://schemas.openxmlformats.org/officeDocument/2006/relationships/image" Target="../media/image8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jpg"/><Relationship Id="rId3" Type="http://schemas.openxmlformats.org/officeDocument/2006/relationships/image" Target="../media/image10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7.jpg"/><Relationship Id="rId3" Type="http://schemas.openxmlformats.org/officeDocument/2006/relationships/image" Target="../media/image1.jpg"/><Relationship Id="rId4" Type="http://schemas.openxmlformats.org/officeDocument/2006/relationships/image" Target="../media/image18.jp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18.jp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jpg"/><Relationship Id="rId3" Type="http://schemas.openxmlformats.org/officeDocument/2006/relationships/image" Target="../media/image22.jpg"/><Relationship Id="rId4" Type="http://schemas.openxmlformats.org/officeDocument/2006/relationships/image" Target="../media/image18.jp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jpg"/><Relationship Id="rId3" Type="http://schemas.openxmlformats.org/officeDocument/2006/relationships/image" Target="../media/image23.jpg"/><Relationship Id="rId4" Type="http://schemas.openxmlformats.org/officeDocument/2006/relationships/image" Target="../media/image24.jp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jpg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image" Target="../media/image30.jpg"/><Relationship Id="rId5" Type="http://schemas.openxmlformats.org/officeDocument/2006/relationships/image" Target="../media/image31.pn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3" Type="http://schemas.openxmlformats.org/officeDocument/2006/relationships/image" Target="../media/image1.jpg"/><Relationship Id="rId4" Type="http://schemas.openxmlformats.org/officeDocument/2006/relationships/image" Target="../media/image37.jp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jpg"/><Relationship Id="rId3" Type="http://schemas.openxmlformats.org/officeDocument/2006/relationships/image" Target="../media/image39.jp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jpg"/><Relationship Id="rId3" Type="http://schemas.openxmlformats.org/officeDocument/2006/relationships/image" Target="../media/image1.jpg"/><Relationship Id="rId4" Type="http://schemas.openxmlformats.org/officeDocument/2006/relationships/image" Target="../media/image41.jp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jpg"/><Relationship Id="rId3" Type="http://schemas.openxmlformats.org/officeDocument/2006/relationships/image" Target="../media/image1.jpg"/><Relationship Id="rId4" Type="http://schemas.openxmlformats.org/officeDocument/2006/relationships/image" Target="../media/image43.jpg"/><Relationship Id="rId5" Type="http://schemas.openxmlformats.org/officeDocument/2006/relationships/image" Target="../media/image44.jpg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png"/><Relationship Id="rId3" Type="http://schemas.openxmlformats.org/officeDocument/2006/relationships/image" Target="../media/image46.jp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jpg"/><Relationship Id="rId3" Type="http://schemas.openxmlformats.org/officeDocument/2006/relationships/image" Target="../media/image1.jpg"/><Relationship Id="rId4" Type="http://schemas.openxmlformats.org/officeDocument/2006/relationships/image" Target="../media/image48.jp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.jpg"/><Relationship Id="rId3" Type="http://schemas.openxmlformats.org/officeDocument/2006/relationships/image" Target="../media/image50.jpg"/><Relationship Id="rId4" Type="http://schemas.openxmlformats.org/officeDocument/2006/relationships/image" Target="../media/image51.pn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.jpg"/><Relationship Id="rId3" Type="http://schemas.openxmlformats.org/officeDocument/2006/relationships/image" Target="../media/image53.jpg"/><Relationship Id="rId4" Type="http://schemas.openxmlformats.org/officeDocument/2006/relationships/image" Target="../media/image54.png"/><Relationship Id="rId5" Type="http://schemas.openxmlformats.org/officeDocument/2006/relationships/image" Target="../media/image55.jpg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6.png"/><Relationship Id="rId3" Type="http://schemas.openxmlformats.org/officeDocument/2006/relationships/image" Target="../media/image1.jpg"/><Relationship Id="rId4" Type="http://schemas.openxmlformats.org/officeDocument/2006/relationships/image" Target="../media/image53.jpg"/><Relationship Id="rId5" Type="http://schemas.openxmlformats.org/officeDocument/2006/relationships/image" Target="../media/image57.jpg"/><Relationship Id="rId6" Type="http://schemas.openxmlformats.org/officeDocument/2006/relationships/image" Target="../media/image58.jpg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20">
                <a:solidFill>
                  <a:srgbClr val="202020"/>
                </a:solidFill>
              </a:rPr>
              <a:t>Mobile</a:t>
            </a:r>
            <a:r>
              <a:rPr dirty="0" sz="3600" spc="-145">
                <a:solidFill>
                  <a:srgbClr val="202020"/>
                </a:solidFill>
              </a:rPr>
              <a:t> </a:t>
            </a:r>
            <a:r>
              <a:rPr dirty="0" sz="3600" spc="-25">
                <a:solidFill>
                  <a:srgbClr val="202020"/>
                </a:solidFill>
              </a:rPr>
              <a:t>Application</a:t>
            </a:r>
            <a:r>
              <a:rPr dirty="0" sz="3600" spc="-135">
                <a:solidFill>
                  <a:srgbClr val="202020"/>
                </a:solidFill>
              </a:rPr>
              <a:t> </a:t>
            </a:r>
            <a:r>
              <a:rPr dirty="0" sz="3600">
                <a:solidFill>
                  <a:srgbClr val="202020"/>
                </a:solidFill>
              </a:rPr>
              <a:t>System</a:t>
            </a:r>
            <a:r>
              <a:rPr dirty="0" sz="3600" spc="-165">
                <a:solidFill>
                  <a:srgbClr val="202020"/>
                </a:solidFill>
              </a:rPr>
              <a:t> </a:t>
            </a:r>
            <a:r>
              <a:rPr dirty="0" sz="3600" spc="-10">
                <a:solidFill>
                  <a:srgbClr val="202020"/>
                </a:solidFill>
              </a:rPr>
              <a:t>Design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706239" y="3400805"/>
            <a:ext cx="278511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20" b="1">
                <a:solidFill>
                  <a:srgbClr val="202020"/>
                </a:solidFill>
                <a:latin typeface="Calibri"/>
                <a:cs typeface="Calibri"/>
              </a:rPr>
              <a:t>(Chap</a:t>
            </a:r>
            <a:r>
              <a:rPr dirty="0" sz="3600" spc="-185" b="1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dirty="0" sz="3600" b="1">
                <a:solidFill>
                  <a:srgbClr val="202020"/>
                </a:solidFill>
                <a:latin typeface="Calibri"/>
                <a:cs typeface="Calibri"/>
              </a:rPr>
              <a:t>3</a:t>
            </a:r>
            <a:r>
              <a:rPr dirty="0" sz="3600" spc="-100" b="1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dirty="0" sz="3600" b="1">
                <a:solidFill>
                  <a:srgbClr val="202020"/>
                </a:solidFill>
                <a:latin typeface="Calibri"/>
                <a:cs typeface="Calibri"/>
              </a:rPr>
              <a:t>Part</a:t>
            </a:r>
            <a:r>
              <a:rPr dirty="0" sz="3600" spc="-105" b="1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dirty="0" sz="3600" spc="-25" b="1">
                <a:solidFill>
                  <a:srgbClr val="202020"/>
                </a:solidFill>
                <a:latin typeface="Calibri"/>
                <a:cs typeface="Calibri"/>
              </a:rPr>
              <a:t>1)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140" y="1561846"/>
            <a:ext cx="3783329" cy="3592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 MT"/>
                <a:cs typeface="Arial MT"/>
              </a:rPr>
              <a:t>Key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Concepts: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18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dirty="0" sz="1800">
                <a:latin typeface="Arial MT"/>
                <a:cs typeface="Arial MT"/>
              </a:rPr>
              <a:t>Widgets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Widgets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Trees</a:t>
            </a:r>
            <a:endParaRPr sz="18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354965" algn="l"/>
              </a:tabLst>
            </a:pPr>
            <a:r>
              <a:rPr dirty="0" sz="1800">
                <a:latin typeface="Arial MT"/>
                <a:cs typeface="Arial MT"/>
              </a:rPr>
              <a:t>Function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Arguments</a:t>
            </a:r>
            <a:endParaRPr sz="18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354965" algn="l"/>
              </a:tabLst>
            </a:pPr>
            <a:r>
              <a:rPr dirty="0" sz="1800">
                <a:latin typeface="Arial MT"/>
                <a:cs typeface="Arial MT"/>
              </a:rPr>
              <a:t>Property and </a:t>
            </a:r>
            <a:r>
              <a:rPr dirty="0" sz="1800" spc="-10">
                <a:latin typeface="Arial MT"/>
                <a:cs typeface="Arial MT"/>
              </a:rPr>
              <a:t>Values</a:t>
            </a:r>
            <a:endParaRPr sz="18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085"/>
              </a:spcBef>
              <a:buAutoNum type="arabicPeriod"/>
              <a:tabLst>
                <a:tab pos="354965" algn="l"/>
              </a:tabLst>
            </a:pPr>
            <a:r>
              <a:rPr dirty="0" sz="1800">
                <a:latin typeface="Arial MT"/>
                <a:cs typeface="Arial MT"/>
              </a:rPr>
              <a:t>MaterialApp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Scaffold</a:t>
            </a:r>
            <a:endParaRPr sz="18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354965" algn="l"/>
              </a:tabLst>
            </a:pPr>
            <a:r>
              <a:rPr dirty="0" sz="1800">
                <a:latin typeface="Arial MT"/>
                <a:cs typeface="Arial MT"/>
              </a:rPr>
              <a:t>Container,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Center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&amp;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Text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Widgets</a:t>
            </a:r>
            <a:endParaRPr sz="18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354965" algn="l"/>
              </a:tabLst>
            </a:pPr>
            <a:r>
              <a:rPr dirty="0" sz="1800">
                <a:latin typeface="Arial MT"/>
                <a:cs typeface="Arial MT"/>
              </a:rPr>
              <a:t>const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 </a:t>
            </a:r>
            <a:r>
              <a:rPr dirty="0" sz="1800" spc="-10">
                <a:latin typeface="Arial MT"/>
                <a:cs typeface="Arial MT"/>
              </a:rPr>
              <a:t>final</a:t>
            </a:r>
            <a:endParaRPr sz="18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354965" algn="l"/>
              </a:tabLst>
            </a:pPr>
            <a:r>
              <a:rPr dirty="0" sz="1800">
                <a:latin typeface="Arial MT"/>
                <a:cs typeface="Arial MT"/>
              </a:rPr>
              <a:t>Stateless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Stateful</a:t>
            </a:r>
            <a:r>
              <a:rPr dirty="0" sz="1800" spc="-10">
                <a:latin typeface="Arial MT"/>
                <a:cs typeface="Arial MT"/>
              </a:rPr>
              <a:t> Widgets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9207" rIns="0" bIns="0" rtlCol="0" vert="horz">
            <a:spAutoFit/>
          </a:bodyPr>
          <a:lstStyle/>
          <a:p>
            <a:pPr marL="73660">
              <a:lnSpc>
                <a:spcPct val="100000"/>
              </a:lnSpc>
              <a:spcBef>
                <a:spcPts val="95"/>
              </a:spcBef>
            </a:pPr>
            <a:r>
              <a:rPr dirty="0"/>
              <a:t>Widget</a:t>
            </a:r>
            <a:r>
              <a:rPr dirty="0" spc="-35"/>
              <a:t> </a:t>
            </a:r>
            <a:r>
              <a:rPr dirty="0"/>
              <a:t>&amp;</a:t>
            </a:r>
            <a:r>
              <a:rPr dirty="0" spc="-45"/>
              <a:t> </a:t>
            </a:r>
            <a:r>
              <a:rPr dirty="0"/>
              <a:t>Widget</a:t>
            </a:r>
            <a:r>
              <a:rPr dirty="0" spc="-30"/>
              <a:t> </a:t>
            </a:r>
            <a:r>
              <a:rPr dirty="0" spc="-10"/>
              <a:t>Trees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140" y="1322578"/>
            <a:ext cx="42659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Widget</a:t>
            </a:r>
            <a:r>
              <a:rPr dirty="0" sz="1800" spc="-40" b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–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Small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building block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your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app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2140" y="1870913"/>
            <a:ext cx="7233284" cy="5753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99085" algn="l"/>
              </a:tabLst>
            </a:pPr>
            <a:r>
              <a:rPr dirty="0" sz="1800">
                <a:latin typeface="Arial MT"/>
                <a:cs typeface="Arial MT"/>
              </a:rPr>
              <a:t>Visible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: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things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you see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(text,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image,</a:t>
            </a:r>
            <a:r>
              <a:rPr dirty="0" sz="1800" spc="-10">
                <a:latin typeface="Arial MT"/>
                <a:cs typeface="Arial MT"/>
              </a:rPr>
              <a:t> button)</a:t>
            </a: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299085" algn="l"/>
              </a:tabLst>
            </a:pPr>
            <a:r>
              <a:rPr dirty="0" sz="1800">
                <a:latin typeface="Arial MT"/>
                <a:cs typeface="Arial MT"/>
              </a:rPr>
              <a:t>Invisible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: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things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that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hold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other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widgets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(Container,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Column,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Center)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2140" y="2694559"/>
            <a:ext cx="61321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Widget</a:t>
            </a:r>
            <a:r>
              <a:rPr dirty="0" sz="1800" spc="-4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Tree</a:t>
            </a:r>
            <a:r>
              <a:rPr dirty="0" sz="1800" spc="-35" b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–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5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structure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connecting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all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widgets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together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3400" y="3623093"/>
            <a:ext cx="6477000" cy="2362200"/>
          </a:xfrm>
          <a:prstGeom prst="rect">
            <a:avLst/>
          </a:prstGeom>
          <a:ln w="25400">
            <a:solidFill>
              <a:srgbClr val="1C334E"/>
            </a:solidFill>
          </a:ln>
        </p:spPr>
        <p:txBody>
          <a:bodyPr wrap="square" lIns="0" tIns="151130" rIns="0" bIns="0" rtlCol="0" vert="horz">
            <a:spAutoFit/>
          </a:bodyPr>
          <a:lstStyle/>
          <a:p>
            <a:pPr marL="167640">
              <a:lnSpc>
                <a:spcPct val="100000"/>
              </a:lnSpc>
              <a:spcBef>
                <a:spcPts val="1190"/>
              </a:spcBef>
            </a:pPr>
            <a:r>
              <a:rPr dirty="0" sz="1800">
                <a:latin typeface="Arial MT"/>
                <a:cs typeface="Arial MT"/>
              </a:rPr>
              <a:t>Parent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widget: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5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one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that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 i="1">
                <a:latin typeface="Arial"/>
                <a:cs typeface="Arial"/>
              </a:rPr>
              <a:t>contains</a:t>
            </a:r>
            <a:r>
              <a:rPr dirty="0" sz="1800" spc="-15" i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another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widget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Arial MT"/>
              <a:cs typeface="Arial MT"/>
            </a:endParaRPr>
          </a:p>
          <a:p>
            <a:pPr marL="167640">
              <a:lnSpc>
                <a:spcPct val="100000"/>
              </a:lnSpc>
            </a:pPr>
            <a:r>
              <a:rPr dirty="0" sz="1800">
                <a:latin typeface="Arial MT"/>
                <a:cs typeface="Arial MT"/>
              </a:rPr>
              <a:t>Child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widget: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one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 i="1">
                <a:latin typeface="Arial"/>
                <a:cs typeface="Arial"/>
              </a:rPr>
              <a:t>inside</a:t>
            </a:r>
            <a:r>
              <a:rPr dirty="0" sz="1800" spc="-15" i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parent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77200" y="1143000"/>
            <a:ext cx="1447800" cy="457200"/>
          </a:xfrm>
          <a:prstGeom prst="rect">
            <a:avLst/>
          </a:prstGeom>
          <a:solidFill>
            <a:srgbClr val="4F81BC"/>
          </a:solidFill>
          <a:ln w="25400">
            <a:solidFill>
              <a:srgbClr val="1C334E"/>
            </a:solidFill>
          </a:ln>
        </p:spPr>
        <p:txBody>
          <a:bodyPr wrap="square" lIns="0" tIns="76200" rIns="0" bIns="0" rtlCol="0" vert="horz">
            <a:spAutoFit/>
          </a:bodyPr>
          <a:lstStyle/>
          <a:p>
            <a:pPr marL="142875">
              <a:lnSpc>
                <a:spcPct val="100000"/>
              </a:lnSpc>
              <a:spcBef>
                <a:spcPts val="600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MaterialApp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801100" y="1600200"/>
            <a:ext cx="184785" cy="693420"/>
          </a:xfrm>
          <a:custGeom>
            <a:avLst/>
            <a:gdLst/>
            <a:ahLst/>
            <a:cxnLst/>
            <a:rect l="l" t="t" r="r" b="b"/>
            <a:pathLst>
              <a:path w="184784" h="693419">
                <a:moveTo>
                  <a:pt x="0" y="0"/>
                </a:moveTo>
                <a:lnTo>
                  <a:pt x="0" y="693038"/>
                </a:lnTo>
                <a:lnTo>
                  <a:pt x="184784" y="693038"/>
                </a:lnTo>
              </a:path>
            </a:pathLst>
          </a:custGeom>
          <a:ln w="9525">
            <a:solidFill>
              <a:srgbClr val="497DB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8985884" y="2064639"/>
            <a:ext cx="1374775" cy="457200"/>
          </a:xfrm>
          <a:prstGeom prst="rect">
            <a:avLst/>
          </a:prstGeom>
          <a:solidFill>
            <a:srgbClr val="4F81BC"/>
          </a:solidFill>
          <a:ln w="25400">
            <a:solidFill>
              <a:srgbClr val="1C334E"/>
            </a:solidFill>
          </a:ln>
        </p:spPr>
        <p:txBody>
          <a:bodyPr wrap="square" lIns="0" tIns="76200" rIns="0" bIns="0" rtlCol="0" vert="horz">
            <a:spAutoFit/>
          </a:bodyPr>
          <a:lstStyle/>
          <a:p>
            <a:pPr marL="313690">
              <a:lnSpc>
                <a:spcPct val="100000"/>
              </a:lnSpc>
              <a:spcBef>
                <a:spcPts val="600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Scaffold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144000" y="2498344"/>
            <a:ext cx="533400" cy="548640"/>
          </a:xfrm>
          <a:custGeom>
            <a:avLst/>
            <a:gdLst/>
            <a:ahLst/>
            <a:cxnLst/>
            <a:rect l="l" t="t" r="r" b="b"/>
            <a:pathLst>
              <a:path w="533400" h="548639">
                <a:moveTo>
                  <a:pt x="0" y="0"/>
                </a:moveTo>
                <a:lnTo>
                  <a:pt x="0" y="548513"/>
                </a:lnTo>
                <a:lnTo>
                  <a:pt x="533400" y="548513"/>
                </a:lnTo>
              </a:path>
            </a:pathLst>
          </a:custGeom>
          <a:ln w="9525">
            <a:solidFill>
              <a:srgbClr val="497DB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9677400" y="2818257"/>
            <a:ext cx="1371600" cy="457200"/>
          </a:xfrm>
          <a:prstGeom prst="rect">
            <a:avLst/>
          </a:prstGeom>
          <a:solidFill>
            <a:srgbClr val="4F81BC"/>
          </a:solidFill>
          <a:ln w="25400">
            <a:solidFill>
              <a:srgbClr val="1C334E"/>
            </a:solidFill>
          </a:ln>
        </p:spPr>
        <p:txBody>
          <a:bodyPr wrap="square" lIns="0" tIns="76835" rIns="0" bIns="0" rtlCol="0" vert="horz">
            <a:spAutoFit/>
          </a:bodyPr>
          <a:lstStyle/>
          <a:p>
            <a:pPr marL="373380">
              <a:lnSpc>
                <a:spcPct val="100000"/>
              </a:lnSpc>
              <a:spcBef>
                <a:spcPts val="605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515600" y="3810000"/>
            <a:ext cx="1371600" cy="457200"/>
          </a:xfrm>
          <a:prstGeom prst="rect">
            <a:avLst/>
          </a:prstGeom>
          <a:solidFill>
            <a:srgbClr val="4F81BC"/>
          </a:solidFill>
          <a:ln w="25400">
            <a:solidFill>
              <a:srgbClr val="1C334E"/>
            </a:solidFill>
          </a:ln>
        </p:spPr>
        <p:txBody>
          <a:bodyPr wrap="square" lIns="0" tIns="76835" rIns="0" bIns="0" rtlCol="0" vert="horz">
            <a:spAutoFit/>
          </a:bodyPr>
          <a:lstStyle/>
          <a:p>
            <a:pPr algn="ctr" marL="2540">
              <a:lnSpc>
                <a:spcPct val="100000"/>
              </a:lnSpc>
              <a:spcBef>
                <a:spcPts val="605"/>
              </a:spcBef>
            </a:pP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Text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0363200" y="3275457"/>
            <a:ext cx="152400" cy="763270"/>
          </a:xfrm>
          <a:custGeom>
            <a:avLst/>
            <a:gdLst/>
            <a:ahLst/>
            <a:cxnLst/>
            <a:rect l="l" t="t" r="r" b="b"/>
            <a:pathLst>
              <a:path w="152400" h="763270">
                <a:moveTo>
                  <a:pt x="0" y="0"/>
                </a:moveTo>
                <a:lnTo>
                  <a:pt x="0" y="763142"/>
                </a:lnTo>
                <a:lnTo>
                  <a:pt x="152400" y="763142"/>
                </a:lnTo>
              </a:path>
            </a:pathLst>
          </a:custGeom>
          <a:ln w="9525">
            <a:solidFill>
              <a:srgbClr val="497DBA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9207" rIns="0" bIns="0" rtlCol="0" vert="horz">
            <a:spAutoFit/>
          </a:bodyPr>
          <a:lstStyle/>
          <a:p>
            <a:pPr marL="73660">
              <a:lnSpc>
                <a:spcPct val="100000"/>
              </a:lnSpc>
              <a:spcBef>
                <a:spcPts val="95"/>
              </a:spcBef>
            </a:pPr>
            <a:r>
              <a:rPr dirty="0"/>
              <a:t>Properties</a:t>
            </a:r>
            <a:r>
              <a:rPr dirty="0" spc="-90"/>
              <a:t> </a:t>
            </a:r>
            <a:r>
              <a:rPr dirty="0"/>
              <a:t>and</a:t>
            </a:r>
            <a:r>
              <a:rPr dirty="0" spc="-95"/>
              <a:t> </a:t>
            </a:r>
            <a:r>
              <a:rPr dirty="0" spc="-10"/>
              <a:t>Values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140" y="1322578"/>
            <a:ext cx="9458960" cy="1946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Property</a:t>
            </a:r>
            <a:r>
              <a:rPr dirty="0" sz="1800" spc="-25" b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–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Setting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or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option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for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widget.</a:t>
            </a:r>
            <a:r>
              <a:rPr dirty="0" sz="1800" spc="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It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tells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Flutter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what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this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widget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should look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like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or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do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Font typeface="Wingdings"/>
              <a:buChar char=""/>
              <a:tabLst>
                <a:tab pos="299085" algn="l"/>
              </a:tabLst>
            </a:pPr>
            <a:r>
              <a:rPr dirty="0" sz="1800">
                <a:latin typeface="Arial MT"/>
                <a:cs typeface="Arial MT"/>
              </a:rPr>
              <a:t>For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example: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20">
                <a:latin typeface="Arial MT"/>
                <a:cs typeface="Arial MT"/>
              </a:rPr>
              <a:t>color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Wingdings"/>
              <a:buChar char=""/>
            </a:pP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800" b="1">
                <a:latin typeface="Arial"/>
                <a:cs typeface="Arial"/>
              </a:rPr>
              <a:t>Value</a:t>
            </a:r>
            <a:r>
              <a:rPr dirty="0" sz="1800" spc="-15" b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–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What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you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assign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property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Font typeface="Wingdings"/>
              <a:buChar char=""/>
              <a:tabLst>
                <a:tab pos="299085" algn="l"/>
              </a:tabLst>
            </a:pPr>
            <a:r>
              <a:rPr dirty="0" sz="1800">
                <a:latin typeface="Arial MT"/>
                <a:cs typeface="Arial MT"/>
              </a:rPr>
              <a:t>For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example: </a:t>
            </a:r>
            <a:r>
              <a:rPr dirty="0" sz="1800" spc="-20">
                <a:latin typeface="Arial MT"/>
                <a:cs typeface="Arial MT"/>
              </a:rPr>
              <a:t>blue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3400" y="3623055"/>
            <a:ext cx="2819400" cy="1726564"/>
          </a:xfrm>
          <a:prstGeom prst="rect">
            <a:avLst/>
          </a:prstGeom>
          <a:ln w="25400">
            <a:solidFill>
              <a:srgbClr val="1C334E"/>
            </a:solidFill>
          </a:ln>
        </p:spPr>
        <p:txBody>
          <a:bodyPr wrap="square" lIns="0" tIns="100965" rIns="0" bIns="0" rtlCol="0" vert="horz">
            <a:spAutoFit/>
          </a:bodyPr>
          <a:lstStyle/>
          <a:p>
            <a:pPr marL="294005" marR="334010" indent="-127000">
              <a:lnSpc>
                <a:spcPct val="150000"/>
              </a:lnSpc>
              <a:spcBef>
                <a:spcPts val="795"/>
              </a:spcBef>
            </a:pPr>
            <a:r>
              <a:rPr dirty="0" sz="1800" spc="-10">
                <a:solidFill>
                  <a:srgbClr val="E36C09"/>
                </a:solidFill>
                <a:latin typeface="Arial MT"/>
                <a:cs typeface="Arial MT"/>
              </a:rPr>
              <a:t>WidgetName</a:t>
            </a:r>
            <a:r>
              <a:rPr dirty="0" sz="1800" spc="-10">
                <a:latin typeface="Arial MT"/>
                <a:cs typeface="Arial MT"/>
              </a:rPr>
              <a:t>( </a:t>
            </a:r>
            <a:r>
              <a:rPr dirty="0" sz="1800">
                <a:latin typeface="Arial MT"/>
                <a:cs typeface="Arial MT"/>
              </a:rPr>
              <a:t>propertyName:</a:t>
            </a:r>
            <a:r>
              <a:rPr dirty="0" sz="1800" spc="-5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value,</a:t>
            </a:r>
            <a:endParaRPr sz="1800">
              <a:latin typeface="Arial MT"/>
              <a:cs typeface="Arial MT"/>
            </a:endParaRPr>
          </a:p>
          <a:p>
            <a:pPr marL="167640">
              <a:lnSpc>
                <a:spcPct val="100000"/>
              </a:lnSpc>
              <a:spcBef>
                <a:spcPts val="1080"/>
              </a:spcBef>
            </a:pPr>
            <a:r>
              <a:rPr dirty="0" sz="1800" spc="-50">
                <a:latin typeface="Arial MT"/>
                <a:cs typeface="Arial MT"/>
              </a:rPr>
              <a:t>)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89375" y="3696080"/>
            <a:ext cx="14097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 MT"/>
                <a:cs typeface="Arial MT"/>
              </a:rPr>
              <a:t>QUESTION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 spc="-50">
                <a:latin typeface="Arial MT"/>
                <a:cs typeface="Arial MT"/>
              </a:rPr>
              <a:t>?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89375" y="4381880"/>
            <a:ext cx="7721600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1800">
                <a:latin typeface="Arial MT"/>
                <a:cs typeface="Arial MT"/>
              </a:rPr>
              <a:t>“If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want</a:t>
            </a:r>
            <a:r>
              <a:rPr dirty="0" sz="1800" spc="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make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screen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with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pink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background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white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text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10">
                <a:latin typeface="Arial MT"/>
                <a:cs typeface="Arial MT"/>
              </a:rPr>
              <a:t> center </a:t>
            </a:r>
            <a:r>
              <a:rPr dirty="0" sz="1800">
                <a:latin typeface="Arial MT"/>
                <a:cs typeface="Arial MT"/>
              </a:rPr>
              <a:t>that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says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‘Welcome’,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what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are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widgets,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properties,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values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I’d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use?”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9207" rIns="0" bIns="0" rtlCol="0" vert="horz">
            <a:spAutoFit/>
          </a:bodyPr>
          <a:lstStyle/>
          <a:p>
            <a:pPr marL="73660">
              <a:lnSpc>
                <a:spcPct val="100000"/>
              </a:lnSpc>
              <a:spcBef>
                <a:spcPts val="95"/>
              </a:spcBef>
            </a:pPr>
            <a:r>
              <a:rPr dirty="0"/>
              <a:t>MaterialApp</a:t>
            </a:r>
            <a:r>
              <a:rPr dirty="0" spc="-70"/>
              <a:t> </a:t>
            </a:r>
            <a:r>
              <a:rPr dirty="0"/>
              <a:t>and</a:t>
            </a:r>
            <a:r>
              <a:rPr dirty="0" spc="-100"/>
              <a:t> </a:t>
            </a:r>
            <a:r>
              <a:rPr dirty="0"/>
              <a:t>Scaffold</a:t>
            </a:r>
            <a:r>
              <a:rPr dirty="0" spc="-95"/>
              <a:t> </a:t>
            </a:r>
            <a:r>
              <a:rPr dirty="0" spc="-10"/>
              <a:t>Widgets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140" y="1322578"/>
            <a:ext cx="5855970" cy="8489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MaterialApp</a:t>
            </a:r>
            <a:r>
              <a:rPr dirty="0" sz="1800" spc="15" b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–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Main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container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your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whole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app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800" b="1">
                <a:latin typeface="Arial"/>
                <a:cs typeface="Arial"/>
              </a:rPr>
              <a:t>Scaffold</a:t>
            </a:r>
            <a:r>
              <a:rPr dirty="0" sz="1800" spc="-25" b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–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What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gives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your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app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its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basic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screen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structure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6729" y="2565780"/>
            <a:ext cx="6781800" cy="2844800"/>
          </a:xfrm>
          <a:prstGeom prst="rect">
            <a:avLst/>
          </a:prstGeom>
          <a:ln w="25400">
            <a:solidFill>
              <a:srgbClr val="1C334E"/>
            </a:solidFill>
          </a:ln>
        </p:spPr>
        <p:txBody>
          <a:bodyPr wrap="square" lIns="0" tIns="227965" rIns="0" bIns="0" rtlCol="0" vert="horz">
            <a:spAutoFit/>
          </a:bodyPr>
          <a:lstStyle/>
          <a:p>
            <a:pPr marL="93980">
              <a:lnSpc>
                <a:spcPct val="100000"/>
              </a:lnSpc>
              <a:spcBef>
                <a:spcPts val="1795"/>
              </a:spcBef>
            </a:pPr>
            <a:r>
              <a:rPr dirty="0" sz="1800" spc="-10">
                <a:solidFill>
                  <a:srgbClr val="E36C09"/>
                </a:solidFill>
                <a:latin typeface="Arial MT"/>
                <a:cs typeface="Arial MT"/>
              </a:rPr>
              <a:t>MaterialApp</a:t>
            </a:r>
            <a:endParaRPr sz="1800">
              <a:latin typeface="Arial MT"/>
              <a:cs typeface="Arial MT"/>
            </a:endParaRPr>
          </a:p>
          <a:p>
            <a:pPr marL="158115">
              <a:lnSpc>
                <a:spcPct val="100000"/>
              </a:lnSpc>
              <a:spcBef>
                <a:spcPts val="1080"/>
              </a:spcBef>
            </a:pPr>
            <a:r>
              <a:rPr dirty="0" sz="1800" spc="-545">
                <a:solidFill>
                  <a:srgbClr val="E36C09"/>
                </a:solidFill>
                <a:latin typeface="Arial MT"/>
                <a:cs typeface="Arial MT"/>
              </a:rPr>
              <a:t>└──</a:t>
            </a:r>
            <a:r>
              <a:rPr dirty="0" sz="1800" spc="5">
                <a:solidFill>
                  <a:srgbClr val="E36C0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E36C09"/>
                </a:solidFill>
                <a:latin typeface="Arial MT"/>
                <a:cs typeface="Arial MT"/>
              </a:rPr>
              <a:t>Scaffold</a:t>
            </a:r>
            <a:endParaRPr sz="1800">
              <a:latin typeface="Arial MT"/>
              <a:cs typeface="Arial MT"/>
            </a:endParaRPr>
          </a:p>
          <a:p>
            <a:pPr marL="474980">
              <a:lnSpc>
                <a:spcPct val="100000"/>
              </a:lnSpc>
              <a:spcBef>
                <a:spcPts val="1085"/>
              </a:spcBef>
            </a:pPr>
            <a:r>
              <a:rPr dirty="0" sz="1800" spc="-545">
                <a:solidFill>
                  <a:srgbClr val="E36C09"/>
                </a:solidFill>
                <a:latin typeface="Arial MT"/>
                <a:cs typeface="Arial MT"/>
              </a:rPr>
              <a:t>├──</a:t>
            </a:r>
            <a:r>
              <a:rPr dirty="0" sz="1800" spc="-5">
                <a:solidFill>
                  <a:srgbClr val="E36C0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E36C09"/>
                </a:solidFill>
                <a:latin typeface="Arial MT"/>
                <a:cs typeface="Arial MT"/>
              </a:rPr>
              <a:t>appBar:</a:t>
            </a:r>
            <a:r>
              <a:rPr dirty="0" sz="1800" spc="-10">
                <a:solidFill>
                  <a:srgbClr val="E36C0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E36C09"/>
                </a:solidFill>
                <a:latin typeface="Arial MT"/>
                <a:cs typeface="Arial MT"/>
              </a:rPr>
              <a:t>Title</a:t>
            </a:r>
            <a:r>
              <a:rPr dirty="0" sz="1800" spc="-30">
                <a:solidFill>
                  <a:srgbClr val="E36C0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E36C09"/>
                </a:solidFill>
                <a:latin typeface="Arial MT"/>
                <a:cs typeface="Arial MT"/>
              </a:rPr>
              <a:t>of</a:t>
            </a:r>
            <a:r>
              <a:rPr dirty="0" sz="1800" spc="-10">
                <a:solidFill>
                  <a:srgbClr val="E36C0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E36C09"/>
                </a:solidFill>
                <a:latin typeface="Arial MT"/>
                <a:cs typeface="Arial MT"/>
              </a:rPr>
              <a:t>the</a:t>
            </a:r>
            <a:r>
              <a:rPr dirty="0" sz="1800" spc="-20">
                <a:solidFill>
                  <a:srgbClr val="E36C09"/>
                </a:solidFill>
                <a:latin typeface="Arial MT"/>
                <a:cs typeface="Arial MT"/>
              </a:rPr>
              <a:t> </a:t>
            </a:r>
            <a:r>
              <a:rPr dirty="0" sz="1800" spc="-25">
                <a:solidFill>
                  <a:srgbClr val="E36C09"/>
                </a:solidFill>
                <a:latin typeface="Arial MT"/>
                <a:cs typeface="Arial MT"/>
              </a:rPr>
              <a:t>app</a:t>
            </a:r>
            <a:endParaRPr sz="1800">
              <a:latin typeface="Arial MT"/>
              <a:cs typeface="Arial MT"/>
            </a:endParaRPr>
          </a:p>
          <a:p>
            <a:pPr marL="474980">
              <a:lnSpc>
                <a:spcPct val="100000"/>
              </a:lnSpc>
              <a:spcBef>
                <a:spcPts val="1080"/>
              </a:spcBef>
            </a:pPr>
            <a:r>
              <a:rPr dirty="0" sz="1800" spc="-545">
                <a:solidFill>
                  <a:srgbClr val="E36C09"/>
                </a:solidFill>
                <a:latin typeface="Arial MT"/>
                <a:cs typeface="Arial MT"/>
              </a:rPr>
              <a:t>├──</a:t>
            </a:r>
            <a:r>
              <a:rPr dirty="0" sz="1800" spc="-5">
                <a:solidFill>
                  <a:srgbClr val="E36C0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E36C09"/>
                </a:solidFill>
                <a:latin typeface="Arial MT"/>
                <a:cs typeface="Arial MT"/>
              </a:rPr>
              <a:t>body:</a:t>
            </a:r>
            <a:r>
              <a:rPr dirty="0" sz="1800" spc="-10">
                <a:solidFill>
                  <a:srgbClr val="E36C0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E36C09"/>
                </a:solidFill>
                <a:latin typeface="Arial MT"/>
                <a:cs typeface="Arial MT"/>
              </a:rPr>
              <a:t>Main</a:t>
            </a:r>
            <a:r>
              <a:rPr dirty="0" sz="1800" spc="-20">
                <a:solidFill>
                  <a:srgbClr val="E36C0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E36C09"/>
                </a:solidFill>
                <a:latin typeface="Arial MT"/>
                <a:cs typeface="Arial MT"/>
              </a:rPr>
              <a:t>screen</a:t>
            </a:r>
            <a:r>
              <a:rPr dirty="0" sz="1800" spc="-15">
                <a:solidFill>
                  <a:srgbClr val="E36C0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E36C09"/>
                </a:solidFill>
                <a:latin typeface="Arial MT"/>
                <a:cs typeface="Arial MT"/>
              </a:rPr>
              <a:t>content</a:t>
            </a:r>
            <a:endParaRPr sz="1800">
              <a:latin typeface="Arial MT"/>
              <a:cs typeface="Arial MT"/>
            </a:endParaRPr>
          </a:p>
          <a:p>
            <a:pPr marL="474980">
              <a:lnSpc>
                <a:spcPct val="100000"/>
              </a:lnSpc>
              <a:spcBef>
                <a:spcPts val="1080"/>
              </a:spcBef>
            </a:pPr>
            <a:r>
              <a:rPr dirty="0" sz="1800" spc="-545">
                <a:solidFill>
                  <a:srgbClr val="E36C09"/>
                </a:solidFill>
                <a:latin typeface="Arial MT"/>
                <a:cs typeface="Arial MT"/>
              </a:rPr>
              <a:t>├──</a:t>
            </a:r>
            <a:r>
              <a:rPr dirty="0" sz="1800" spc="-15">
                <a:solidFill>
                  <a:srgbClr val="E36C0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E36C09"/>
                </a:solidFill>
                <a:latin typeface="Arial MT"/>
                <a:cs typeface="Arial MT"/>
              </a:rPr>
              <a:t>floatingActionButton:</a:t>
            </a:r>
            <a:r>
              <a:rPr dirty="0" sz="1800" spc="-35">
                <a:solidFill>
                  <a:srgbClr val="E36C0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E36C09"/>
                </a:solidFill>
                <a:latin typeface="Arial MT"/>
                <a:cs typeface="Arial MT"/>
              </a:rPr>
              <a:t>Button</a:t>
            </a:r>
            <a:r>
              <a:rPr dirty="0" sz="1800" spc="-40">
                <a:solidFill>
                  <a:srgbClr val="E36C0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E36C09"/>
                </a:solidFill>
                <a:latin typeface="Arial MT"/>
                <a:cs typeface="Arial MT"/>
              </a:rPr>
              <a:t>for</a:t>
            </a:r>
            <a:r>
              <a:rPr dirty="0" sz="1800" spc="-30">
                <a:solidFill>
                  <a:srgbClr val="E36C0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E36C09"/>
                </a:solidFill>
                <a:latin typeface="Arial MT"/>
                <a:cs typeface="Arial MT"/>
              </a:rPr>
              <a:t>quick</a:t>
            </a:r>
            <a:r>
              <a:rPr dirty="0" sz="1800" spc="-25">
                <a:solidFill>
                  <a:srgbClr val="E36C0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E36C09"/>
                </a:solidFill>
                <a:latin typeface="Arial MT"/>
                <a:cs typeface="Arial MT"/>
              </a:rPr>
              <a:t>actions</a:t>
            </a:r>
            <a:endParaRPr sz="1800">
              <a:latin typeface="Arial MT"/>
              <a:cs typeface="Arial MT"/>
            </a:endParaRPr>
          </a:p>
          <a:p>
            <a:pPr marL="474980">
              <a:lnSpc>
                <a:spcPct val="100000"/>
              </a:lnSpc>
              <a:spcBef>
                <a:spcPts val="1080"/>
              </a:spcBef>
            </a:pPr>
            <a:r>
              <a:rPr dirty="0" sz="1800" spc="-545">
                <a:solidFill>
                  <a:srgbClr val="E36C09"/>
                </a:solidFill>
                <a:latin typeface="Arial MT"/>
                <a:cs typeface="Arial MT"/>
              </a:rPr>
              <a:t>└──</a:t>
            </a:r>
            <a:r>
              <a:rPr dirty="0" sz="1800" spc="-5">
                <a:solidFill>
                  <a:srgbClr val="E36C0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E36C09"/>
                </a:solidFill>
                <a:latin typeface="Arial MT"/>
                <a:cs typeface="Arial MT"/>
              </a:rPr>
              <a:t>drawer:</a:t>
            </a:r>
            <a:r>
              <a:rPr dirty="0" sz="1800" spc="-15">
                <a:solidFill>
                  <a:srgbClr val="E36C0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E36C09"/>
                </a:solidFill>
                <a:latin typeface="Arial MT"/>
                <a:cs typeface="Arial MT"/>
              </a:rPr>
              <a:t>Side</a:t>
            </a:r>
            <a:r>
              <a:rPr dirty="0" sz="1800" spc="-25">
                <a:solidFill>
                  <a:srgbClr val="E36C09"/>
                </a:solidFill>
                <a:latin typeface="Arial MT"/>
                <a:cs typeface="Arial MT"/>
              </a:rPr>
              <a:t> </a:t>
            </a:r>
            <a:r>
              <a:rPr dirty="0" sz="1800" spc="-20">
                <a:solidFill>
                  <a:srgbClr val="E36C09"/>
                </a:solidFill>
                <a:latin typeface="Arial MT"/>
                <a:cs typeface="Arial MT"/>
              </a:rPr>
              <a:t>menu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9207" rIns="0" bIns="0" rtlCol="0" vert="horz">
            <a:spAutoFit/>
          </a:bodyPr>
          <a:lstStyle/>
          <a:p>
            <a:pPr marL="73660">
              <a:lnSpc>
                <a:spcPct val="100000"/>
              </a:lnSpc>
              <a:spcBef>
                <a:spcPts val="95"/>
              </a:spcBef>
            </a:pPr>
            <a:r>
              <a:rPr dirty="0"/>
              <a:t>Container,</a:t>
            </a:r>
            <a:r>
              <a:rPr dirty="0" spc="-50"/>
              <a:t> </a:t>
            </a:r>
            <a:r>
              <a:rPr dirty="0"/>
              <a:t>Center</a:t>
            </a:r>
            <a:r>
              <a:rPr dirty="0" spc="-50"/>
              <a:t> </a:t>
            </a:r>
            <a:r>
              <a:rPr dirty="0"/>
              <a:t>&amp;</a:t>
            </a:r>
            <a:r>
              <a:rPr dirty="0" spc="-75"/>
              <a:t> </a:t>
            </a:r>
            <a:r>
              <a:rPr dirty="0"/>
              <a:t>Text</a:t>
            </a:r>
            <a:r>
              <a:rPr dirty="0" spc="-55"/>
              <a:t> </a:t>
            </a:r>
            <a:r>
              <a:rPr dirty="0" spc="-10"/>
              <a:t>Widgets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140" y="1322578"/>
            <a:ext cx="7795895" cy="1397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Container</a:t>
            </a:r>
            <a:r>
              <a:rPr dirty="0" sz="1800" spc="-3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Widget</a:t>
            </a:r>
            <a:r>
              <a:rPr dirty="0" sz="1800" spc="-35" b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–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box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that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you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can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style,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color,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resize,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or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even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decorate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800" b="1">
                <a:latin typeface="Arial"/>
                <a:cs typeface="Arial"/>
              </a:rPr>
              <a:t>Center</a:t>
            </a:r>
            <a:r>
              <a:rPr dirty="0" sz="1800" spc="-3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Widget</a:t>
            </a:r>
            <a:r>
              <a:rPr dirty="0" sz="1800" spc="-45" b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–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Centers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whatever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is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inside</a:t>
            </a:r>
            <a:r>
              <a:rPr dirty="0" sz="1800" spc="-25">
                <a:latin typeface="Arial MT"/>
                <a:cs typeface="Arial MT"/>
              </a:rPr>
              <a:t> it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800" b="1">
                <a:latin typeface="Arial"/>
                <a:cs typeface="Arial"/>
              </a:rPr>
              <a:t>Text</a:t>
            </a:r>
            <a:r>
              <a:rPr dirty="0" sz="1800" spc="-2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Widget</a:t>
            </a:r>
            <a:r>
              <a:rPr dirty="0" sz="1800" spc="-25" b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–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How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we</a:t>
            </a:r>
            <a:r>
              <a:rPr dirty="0" sz="1800" spc="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display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any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text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or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label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on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screen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9207" rIns="0" bIns="0" rtlCol="0" vert="horz">
            <a:spAutoFit/>
          </a:bodyPr>
          <a:lstStyle/>
          <a:p>
            <a:pPr marL="73660">
              <a:lnSpc>
                <a:spcPct val="100000"/>
              </a:lnSpc>
              <a:spcBef>
                <a:spcPts val="95"/>
              </a:spcBef>
            </a:pPr>
            <a:r>
              <a:rPr dirty="0"/>
              <a:t>const</a:t>
            </a:r>
            <a:r>
              <a:rPr dirty="0" spc="-25"/>
              <a:t> </a:t>
            </a:r>
            <a:r>
              <a:rPr dirty="0"/>
              <a:t>and</a:t>
            </a:r>
            <a:r>
              <a:rPr dirty="0" spc="-15"/>
              <a:t> </a:t>
            </a:r>
            <a:r>
              <a:rPr dirty="0" spc="-10"/>
              <a:t>final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140" y="1322578"/>
            <a:ext cx="10575925" cy="2769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const</a:t>
            </a:r>
            <a:r>
              <a:rPr dirty="0" sz="1800" spc="-15" b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–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value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will</a:t>
            </a:r>
            <a:r>
              <a:rPr dirty="0" sz="1800" spc="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never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change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dirty="0" sz="1800">
                <a:latin typeface="Arial MT"/>
                <a:cs typeface="Arial MT"/>
              </a:rPr>
              <a:t>For </a:t>
            </a:r>
            <a:r>
              <a:rPr dirty="0" sz="1800" spc="-10">
                <a:latin typeface="Arial MT"/>
                <a:cs typeface="Arial MT"/>
              </a:rPr>
              <a:t>example:</a:t>
            </a:r>
            <a:endParaRPr sz="1800">
              <a:latin typeface="Arial MT"/>
              <a:cs typeface="Arial MT"/>
            </a:endParaRPr>
          </a:p>
          <a:p>
            <a:pPr marL="927100" marR="6976745">
              <a:lnSpc>
                <a:spcPct val="100000"/>
              </a:lnSpc>
            </a:pPr>
            <a:r>
              <a:rPr dirty="0" sz="1800">
                <a:latin typeface="Arial MT"/>
                <a:cs typeface="Arial MT"/>
              </a:rPr>
              <a:t>const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Text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(“Welcome”) </a:t>
            </a:r>
            <a:r>
              <a:rPr dirty="0" sz="1800">
                <a:latin typeface="Arial MT"/>
                <a:cs typeface="Arial MT"/>
              </a:rPr>
              <a:t>const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Color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(0xFF2196F3)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800" b="1">
                <a:latin typeface="Arial"/>
                <a:cs typeface="Arial"/>
              </a:rPr>
              <a:t>final</a:t>
            </a:r>
            <a:r>
              <a:rPr dirty="0" sz="1800" spc="-30" b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–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value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cannot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change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but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difference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is,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value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is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decided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later,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when</a:t>
            </a:r>
            <a:r>
              <a:rPr dirty="0" sz="1800" spc="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app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is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running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dirty="0" sz="1800">
                <a:latin typeface="Arial MT"/>
                <a:cs typeface="Arial MT"/>
              </a:rPr>
              <a:t>For </a:t>
            </a:r>
            <a:r>
              <a:rPr dirty="0" sz="1800" spc="-10">
                <a:latin typeface="Arial MT"/>
                <a:cs typeface="Arial MT"/>
              </a:rPr>
              <a:t>example:</a:t>
            </a:r>
            <a:endParaRPr sz="180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Arial MT"/>
                <a:cs typeface="Arial MT"/>
              </a:rPr>
              <a:t>final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DateTime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today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=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DateTime.now();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9207" rIns="0" bIns="0" rtlCol="0" vert="horz">
            <a:spAutoFit/>
          </a:bodyPr>
          <a:lstStyle/>
          <a:p>
            <a:pPr marL="73660">
              <a:lnSpc>
                <a:spcPct val="100000"/>
              </a:lnSpc>
              <a:spcBef>
                <a:spcPts val="95"/>
              </a:spcBef>
            </a:pPr>
            <a:r>
              <a:rPr dirty="0"/>
              <a:t>Stateless</a:t>
            </a:r>
            <a:r>
              <a:rPr dirty="0" spc="-30"/>
              <a:t> </a:t>
            </a:r>
            <a:r>
              <a:rPr dirty="0"/>
              <a:t>vs</a:t>
            </a:r>
            <a:r>
              <a:rPr dirty="0" spc="-65"/>
              <a:t> </a:t>
            </a:r>
            <a:r>
              <a:rPr dirty="0"/>
              <a:t>Stateful</a:t>
            </a:r>
            <a:r>
              <a:rPr dirty="0" spc="-30"/>
              <a:t> </a:t>
            </a:r>
            <a:r>
              <a:rPr dirty="0" spc="-10"/>
              <a:t>Widgets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="1">
                <a:latin typeface="Arial"/>
                <a:cs typeface="Arial"/>
              </a:rPr>
              <a:t>Stateless</a:t>
            </a:r>
            <a:r>
              <a:rPr dirty="0" spc="-2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Widget</a:t>
            </a:r>
            <a:r>
              <a:rPr dirty="0" spc="-30" b="1">
                <a:latin typeface="Arial"/>
                <a:cs typeface="Arial"/>
              </a:rPr>
              <a:t> </a:t>
            </a:r>
            <a:r>
              <a:rPr dirty="0"/>
              <a:t>–</a:t>
            </a:r>
            <a:r>
              <a:rPr dirty="0" spc="-30"/>
              <a:t> </a:t>
            </a:r>
            <a:r>
              <a:rPr dirty="0"/>
              <a:t>Something</a:t>
            </a:r>
            <a:r>
              <a:rPr dirty="0" spc="-15"/>
              <a:t> </a:t>
            </a:r>
            <a:r>
              <a:rPr dirty="0"/>
              <a:t>that</a:t>
            </a:r>
            <a:r>
              <a:rPr dirty="0" spc="-20"/>
              <a:t> </a:t>
            </a:r>
            <a:r>
              <a:rPr dirty="0"/>
              <a:t>never</a:t>
            </a:r>
            <a:r>
              <a:rPr dirty="0" spc="-20"/>
              <a:t> </a:t>
            </a:r>
            <a:r>
              <a:rPr dirty="0"/>
              <a:t>changes once</a:t>
            </a:r>
            <a:r>
              <a:rPr dirty="0" spc="-20"/>
              <a:t> </a:t>
            </a:r>
            <a:r>
              <a:rPr dirty="0"/>
              <a:t>it’s</a:t>
            </a:r>
            <a:r>
              <a:rPr dirty="0" spc="-25"/>
              <a:t> </a:t>
            </a:r>
            <a:r>
              <a:rPr dirty="0"/>
              <a:t>built</a:t>
            </a:r>
            <a:r>
              <a:rPr dirty="0" spc="-10"/>
              <a:t> </a:t>
            </a:r>
            <a:r>
              <a:rPr dirty="0"/>
              <a:t>on</a:t>
            </a:r>
            <a:r>
              <a:rPr dirty="0" spc="-30"/>
              <a:t> </a:t>
            </a:r>
            <a:r>
              <a:rPr dirty="0"/>
              <a:t>the</a:t>
            </a:r>
            <a:r>
              <a:rPr dirty="0" spc="-30"/>
              <a:t> </a:t>
            </a:r>
            <a:r>
              <a:rPr dirty="0" spc="-10"/>
              <a:t>screen</a:t>
            </a:r>
          </a:p>
          <a:p>
            <a:pPr>
              <a:lnSpc>
                <a:spcPct val="100000"/>
              </a:lnSpc>
              <a:spcBef>
                <a:spcPts val="90"/>
              </a:spcBef>
            </a:pPr>
          </a:p>
          <a:p>
            <a:pPr algn="r" marL="286385" marR="6399530" indent="-286385">
              <a:lnSpc>
                <a:spcPct val="100000"/>
              </a:lnSpc>
              <a:buChar char="•"/>
              <a:tabLst>
                <a:tab pos="286385" algn="l"/>
              </a:tabLst>
            </a:pPr>
            <a:r>
              <a:rPr dirty="0"/>
              <a:t>For </a:t>
            </a:r>
            <a:r>
              <a:rPr dirty="0" spc="-10"/>
              <a:t>example:</a:t>
            </a:r>
          </a:p>
          <a:p>
            <a:pPr algn="r" lvl="1" marL="139065" marR="6455410" indent="-139065">
              <a:lnSpc>
                <a:spcPct val="100000"/>
              </a:lnSpc>
              <a:spcBef>
                <a:spcPts val="685"/>
              </a:spcBef>
              <a:buChar char="-"/>
              <a:tabLst>
                <a:tab pos="139065" algn="l"/>
              </a:tabLst>
            </a:pPr>
            <a:r>
              <a:rPr dirty="0" sz="1800" spc="-20">
                <a:latin typeface="Arial MT"/>
                <a:cs typeface="Arial MT"/>
              </a:rPr>
              <a:t>Logo</a:t>
            </a:r>
            <a:endParaRPr sz="1800">
              <a:latin typeface="Arial MT"/>
              <a:cs typeface="Arial MT"/>
            </a:endParaRPr>
          </a:p>
          <a:p>
            <a:pPr lvl="1" marL="1066165" indent="-139065">
              <a:lnSpc>
                <a:spcPct val="100000"/>
              </a:lnSpc>
              <a:spcBef>
                <a:spcPts val="1080"/>
              </a:spcBef>
              <a:buChar char="-"/>
              <a:tabLst>
                <a:tab pos="1066165" algn="l"/>
              </a:tabLst>
            </a:pPr>
            <a:r>
              <a:rPr dirty="0" sz="1800">
                <a:latin typeface="Arial MT"/>
                <a:cs typeface="Arial MT"/>
              </a:rPr>
              <a:t>Tittle</a:t>
            </a:r>
            <a:r>
              <a:rPr dirty="0" sz="1800" spc="-55">
                <a:latin typeface="Arial MT"/>
                <a:cs typeface="Arial MT"/>
              </a:rPr>
              <a:t> </a:t>
            </a:r>
            <a:r>
              <a:rPr dirty="0" sz="1800" spc="-20">
                <a:latin typeface="Arial MT"/>
                <a:cs typeface="Arial MT"/>
              </a:rPr>
              <a:t>text</a:t>
            </a:r>
            <a:endParaRPr sz="1800">
              <a:latin typeface="Arial MT"/>
              <a:cs typeface="Arial MT"/>
            </a:endParaRPr>
          </a:p>
          <a:p>
            <a:pPr lvl="1" marL="1066165" indent="-139065">
              <a:lnSpc>
                <a:spcPct val="100000"/>
              </a:lnSpc>
              <a:spcBef>
                <a:spcPts val="1080"/>
              </a:spcBef>
              <a:buChar char="-"/>
              <a:tabLst>
                <a:tab pos="1066165" algn="l"/>
              </a:tabLst>
            </a:pPr>
            <a:r>
              <a:rPr dirty="0" sz="1800">
                <a:latin typeface="Arial MT"/>
                <a:cs typeface="Arial MT"/>
              </a:rPr>
              <a:t>Background</a:t>
            </a:r>
            <a:r>
              <a:rPr dirty="0" sz="1800" spc="-5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image</a:t>
            </a:r>
            <a:endParaRPr sz="1800">
              <a:latin typeface="Arial MT"/>
              <a:cs typeface="Arial MT"/>
            </a:endParaRPr>
          </a:p>
          <a:p>
            <a:pPr lvl="1" marL="1066800" indent="-139700">
              <a:lnSpc>
                <a:spcPct val="100000"/>
              </a:lnSpc>
              <a:spcBef>
                <a:spcPts val="1080"/>
              </a:spcBef>
              <a:buChar char="-"/>
              <a:tabLst>
                <a:tab pos="1066800" algn="l"/>
              </a:tabLst>
            </a:pPr>
            <a:r>
              <a:rPr dirty="0" sz="1800">
                <a:latin typeface="Arial MT"/>
                <a:cs typeface="Arial MT"/>
              </a:rPr>
              <a:t>Fixed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button</a:t>
            </a:r>
            <a:endParaRPr sz="18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490"/>
              </a:spcBef>
              <a:buFont typeface="Arial MT"/>
              <a:buChar char="-"/>
            </a:pPr>
          </a:p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Stateful</a:t>
            </a:r>
            <a:r>
              <a:rPr dirty="0" spc="-3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Widget</a:t>
            </a:r>
            <a:r>
              <a:rPr dirty="0" spc="-40" b="1">
                <a:latin typeface="Arial"/>
                <a:cs typeface="Arial"/>
              </a:rPr>
              <a:t> </a:t>
            </a:r>
            <a:r>
              <a:rPr dirty="0"/>
              <a:t>–</a:t>
            </a:r>
            <a:r>
              <a:rPr dirty="0" spc="-30"/>
              <a:t> </a:t>
            </a:r>
            <a:r>
              <a:rPr dirty="0"/>
              <a:t>Something</a:t>
            </a:r>
            <a:r>
              <a:rPr dirty="0" spc="-5"/>
              <a:t> </a:t>
            </a:r>
            <a:r>
              <a:rPr dirty="0"/>
              <a:t>that</a:t>
            </a:r>
            <a:r>
              <a:rPr dirty="0" spc="-25"/>
              <a:t> </a:t>
            </a:r>
            <a:r>
              <a:rPr dirty="0"/>
              <a:t>can</a:t>
            </a:r>
            <a:r>
              <a:rPr dirty="0" spc="-20"/>
              <a:t> </a:t>
            </a:r>
            <a:r>
              <a:rPr dirty="0"/>
              <a:t>change</a:t>
            </a:r>
            <a:r>
              <a:rPr dirty="0" spc="-25"/>
              <a:t> </a:t>
            </a:r>
            <a:r>
              <a:rPr dirty="0"/>
              <a:t>while</a:t>
            </a:r>
            <a:r>
              <a:rPr dirty="0" spc="15"/>
              <a:t> </a:t>
            </a:r>
            <a:r>
              <a:rPr dirty="0"/>
              <a:t>the</a:t>
            </a:r>
            <a:r>
              <a:rPr dirty="0" spc="-35"/>
              <a:t> </a:t>
            </a:r>
            <a:r>
              <a:rPr dirty="0"/>
              <a:t>app</a:t>
            </a:r>
            <a:r>
              <a:rPr dirty="0" spc="-20"/>
              <a:t> </a:t>
            </a:r>
            <a:r>
              <a:rPr dirty="0"/>
              <a:t>is</a:t>
            </a:r>
            <a:r>
              <a:rPr dirty="0" spc="-25"/>
              <a:t> </a:t>
            </a:r>
            <a:r>
              <a:rPr dirty="0" spc="-10"/>
              <a:t>running</a:t>
            </a:r>
          </a:p>
          <a:p>
            <a:pPr>
              <a:lnSpc>
                <a:spcPct val="100000"/>
              </a:lnSpc>
              <a:spcBef>
                <a:spcPts val="90"/>
              </a:spcBef>
            </a:p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dirty="0"/>
              <a:t>For </a:t>
            </a:r>
            <a:r>
              <a:rPr dirty="0" spc="-10"/>
              <a:t>example:</a:t>
            </a:r>
          </a:p>
          <a:p>
            <a:pPr lvl="1" marL="1066800" indent="-139700">
              <a:lnSpc>
                <a:spcPct val="100000"/>
              </a:lnSpc>
              <a:spcBef>
                <a:spcPts val="685"/>
              </a:spcBef>
              <a:buChar char="-"/>
              <a:tabLst>
                <a:tab pos="1066800" algn="l"/>
              </a:tabLst>
            </a:pPr>
            <a:r>
              <a:rPr dirty="0" sz="1800">
                <a:latin typeface="Arial MT"/>
                <a:cs typeface="Arial MT"/>
              </a:rPr>
              <a:t>Login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 spc="-20">
                <a:latin typeface="Arial MT"/>
                <a:cs typeface="Arial MT"/>
              </a:rPr>
              <a:t>form</a:t>
            </a:r>
            <a:endParaRPr sz="1800">
              <a:latin typeface="Arial MT"/>
              <a:cs typeface="Arial MT"/>
            </a:endParaRPr>
          </a:p>
          <a:p>
            <a:pPr lvl="1" marL="1066165" indent="-139065">
              <a:lnSpc>
                <a:spcPct val="100000"/>
              </a:lnSpc>
              <a:spcBef>
                <a:spcPts val="1080"/>
              </a:spcBef>
              <a:buChar char="-"/>
              <a:tabLst>
                <a:tab pos="1066165" algn="l"/>
              </a:tabLst>
            </a:pPr>
            <a:r>
              <a:rPr dirty="0" sz="1800">
                <a:latin typeface="Arial MT"/>
                <a:cs typeface="Arial MT"/>
              </a:rPr>
              <a:t>Play/pause</a:t>
            </a:r>
            <a:r>
              <a:rPr dirty="0" sz="1800" spc="-5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button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60190" y="2398598"/>
            <a:ext cx="5071110" cy="14890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 marL="4445">
              <a:lnSpc>
                <a:spcPct val="100000"/>
              </a:lnSpc>
              <a:spcBef>
                <a:spcPts val="100"/>
              </a:spcBef>
            </a:pPr>
            <a:r>
              <a:rPr dirty="0" sz="4800">
                <a:solidFill>
                  <a:srgbClr val="000000"/>
                </a:solidFill>
              </a:rPr>
              <a:t>CLASS</a:t>
            </a:r>
            <a:r>
              <a:rPr dirty="0" sz="4800" spc="-125">
                <a:solidFill>
                  <a:srgbClr val="000000"/>
                </a:solidFill>
              </a:rPr>
              <a:t> </a:t>
            </a:r>
            <a:r>
              <a:rPr dirty="0" sz="4800" spc="-10">
                <a:solidFill>
                  <a:srgbClr val="000000"/>
                </a:solidFill>
              </a:rPr>
              <a:t>ACTIVITY</a:t>
            </a:r>
            <a:endParaRPr sz="4800"/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4800" spc="-30">
                <a:solidFill>
                  <a:srgbClr val="000000"/>
                </a:solidFill>
              </a:rPr>
              <a:t>(Hands-</a:t>
            </a:r>
            <a:r>
              <a:rPr dirty="0" sz="4800">
                <a:solidFill>
                  <a:srgbClr val="000000"/>
                </a:solidFill>
              </a:rPr>
              <a:t>On </a:t>
            </a:r>
            <a:r>
              <a:rPr dirty="0" sz="4800" spc="-10">
                <a:solidFill>
                  <a:srgbClr val="000000"/>
                </a:solidFill>
              </a:rPr>
              <a:t>Practice)</a:t>
            </a:r>
            <a:endParaRPr sz="4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201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Building</a:t>
            </a:r>
            <a:r>
              <a:rPr dirty="0" spc="-140"/>
              <a:t> </a:t>
            </a:r>
            <a:r>
              <a:rPr dirty="0" spc="-45"/>
              <a:t>Your</a:t>
            </a:r>
            <a:r>
              <a:rPr dirty="0" spc="-140"/>
              <a:t> </a:t>
            </a:r>
            <a:r>
              <a:rPr dirty="0"/>
              <a:t>First</a:t>
            </a:r>
            <a:r>
              <a:rPr dirty="0" spc="-105"/>
              <a:t> </a:t>
            </a:r>
            <a:r>
              <a:rPr dirty="0" spc="-25"/>
              <a:t>App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Mobile</a:t>
            </a:r>
            <a:r>
              <a:rPr dirty="0" spc="-40"/>
              <a:t> </a:t>
            </a:r>
            <a:r>
              <a:rPr dirty="0" spc="-20"/>
              <a:t>Application </a:t>
            </a:r>
            <a:r>
              <a:rPr dirty="0" spc="-10"/>
              <a:t>System</a:t>
            </a:r>
            <a:r>
              <a:rPr dirty="0" spc="-95"/>
              <a:t> </a:t>
            </a:r>
            <a:r>
              <a:rPr dirty="0" spc="-10"/>
              <a:t>Design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0692" y="1421714"/>
            <a:ext cx="10654030" cy="2402840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marL="239395" marR="5080" indent="-227329">
              <a:lnSpc>
                <a:spcPts val="3000"/>
              </a:lnSpc>
              <a:spcBef>
                <a:spcPts val="49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latin typeface="Calibri"/>
                <a:cs typeface="Calibri"/>
              </a:rPr>
              <a:t>This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week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you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will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start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building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your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first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app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where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lot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new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mobile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 spc="-20">
                <a:latin typeface="Calibri"/>
                <a:cs typeface="Calibri"/>
              </a:rPr>
              <a:t>development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concepts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will</a:t>
            </a:r>
            <a:r>
              <a:rPr dirty="0" sz="2800" spc="-1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be</a:t>
            </a:r>
            <a:r>
              <a:rPr dirty="0" sz="2800" spc="-10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covered</a:t>
            </a:r>
            <a:endParaRPr sz="2800">
              <a:latin typeface="Calibri"/>
              <a:cs typeface="Calibri"/>
            </a:endParaRPr>
          </a:p>
          <a:p>
            <a:pPr lvl="1" marL="697230" indent="-227329">
              <a:lnSpc>
                <a:spcPct val="100000"/>
              </a:lnSpc>
              <a:spcBef>
                <a:spcPts val="195"/>
              </a:spcBef>
              <a:buFont typeface="Arial MT"/>
              <a:buChar char="•"/>
              <a:tabLst>
                <a:tab pos="697230" algn="l"/>
              </a:tabLst>
            </a:pPr>
            <a:r>
              <a:rPr dirty="0" sz="2400" b="1">
                <a:latin typeface="Calibri"/>
                <a:cs typeface="Calibri"/>
              </a:rPr>
              <a:t>Widget</a:t>
            </a:r>
            <a:r>
              <a:rPr dirty="0" sz="2400" spc="-12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and</a:t>
            </a:r>
            <a:r>
              <a:rPr dirty="0" sz="2400" spc="-10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Widget</a:t>
            </a:r>
            <a:r>
              <a:rPr dirty="0" sz="2400" spc="-105" b="1">
                <a:latin typeface="Calibri"/>
                <a:cs typeface="Calibri"/>
              </a:rPr>
              <a:t> </a:t>
            </a:r>
            <a:r>
              <a:rPr dirty="0" sz="2400" spc="-25" b="1">
                <a:latin typeface="Calibri"/>
                <a:cs typeface="Calibri"/>
              </a:rPr>
              <a:t>Trees</a:t>
            </a:r>
            <a:r>
              <a:rPr dirty="0" sz="2400" spc="-11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(e.g.</a:t>
            </a:r>
            <a:r>
              <a:rPr dirty="0" sz="2400" spc="-10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text,</a:t>
            </a:r>
            <a:r>
              <a:rPr dirty="0" sz="2400" spc="-8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image,</a:t>
            </a:r>
            <a:r>
              <a:rPr dirty="0" sz="2400" spc="-11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button</a:t>
            </a:r>
            <a:r>
              <a:rPr dirty="0" sz="2400" spc="-80" b="1">
                <a:latin typeface="Calibri"/>
                <a:cs typeface="Calibri"/>
              </a:rPr>
              <a:t> </a:t>
            </a:r>
            <a:r>
              <a:rPr dirty="0" sz="2400" spc="-20" b="1">
                <a:latin typeface="Calibri"/>
                <a:cs typeface="Calibri"/>
              </a:rPr>
              <a:t>etc)</a:t>
            </a:r>
            <a:endParaRPr sz="2400">
              <a:latin typeface="Calibri"/>
              <a:cs typeface="Calibri"/>
            </a:endParaRPr>
          </a:p>
          <a:p>
            <a:pPr lvl="1" marL="697230" indent="-227329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697230" algn="l"/>
              </a:tabLst>
            </a:pPr>
            <a:r>
              <a:rPr dirty="0" sz="2400" b="1">
                <a:latin typeface="Calibri"/>
                <a:cs typeface="Calibri"/>
              </a:rPr>
              <a:t>Function</a:t>
            </a:r>
            <a:r>
              <a:rPr dirty="0" sz="2400" spc="-7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and</a:t>
            </a:r>
            <a:r>
              <a:rPr dirty="0" sz="2400" spc="-60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Arguments</a:t>
            </a:r>
            <a:endParaRPr sz="2400">
              <a:latin typeface="Calibri"/>
              <a:cs typeface="Calibri"/>
            </a:endParaRPr>
          </a:p>
          <a:p>
            <a:pPr lvl="1" marL="697230" indent="-227329">
              <a:lnSpc>
                <a:spcPct val="100000"/>
              </a:lnSpc>
              <a:spcBef>
                <a:spcPts val="190"/>
              </a:spcBef>
              <a:buFont typeface="Arial MT"/>
              <a:buChar char="•"/>
              <a:tabLst>
                <a:tab pos="697230" algn="l"/>
              </a:tabLst>
            </a:pPr>
            <a:r>
              <a:rPr dirty="0" sz="2400" b="1">
                <a:latin typeface="Calibri"/>
                <a:cs typeface="Calibri"/>
              </a:rPr>
              <a:t>const</a:t>
            </a:r>
            <a:r>
              <a:rPr dirty="0" sz="2400" spc="-114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and</a:t>
            </a:r>
            <a:r>
              <a:rPr dirty="0" sz="2400" spc="-8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final</a:t>
            </a:r>
            <a:r>
              <a:rPr dirty="0" sz="2400" spc="-80" b="1">
                <a:latin typeface="Calibri"/>
                <a:cs typeface="Calibri"/>
              </a:rPr>
              <a:t> </a:t>
            </a:r>
            <a:r>
              <a:rPr dirty="0" sz="2400" spc="-20" b="1">
                <a:latin typeface="Calibri"/>
                <a:cs typeface="Calibri"/>
              </a:rPr>
              <a:t>value</a:t>
            </a:r>
            <a:endParaRPr sz="2400">
              <a:latin typeface="Calibri"/>
              <a:cs typeface="Calibri"/>
            </a:endParaRPr>
          </a:p>
          <a:p>
            <a:pPr lvl="1" marL="697230" indent="-227329">
              <a:lnSpc>
                <a:spcPct val="100000"/>
              </a:lnSpc>
              <a:spcBef>
                <a:spcPts val="210"/>
              </a:spcBef>
              <a:buFont typeface="Arial MT"/>
              <a:buChar char="•"/>
              <a:tabLst>
                <a:tab pos="697230" algn="l"/>
              </a:tabLst>
            </a:pPr>
            <a:r>
              <a:rPr dirty="0" sz="2400" spc="-20" b="1">
                <a:latin typeface="Calibri"/>
                <a:cs typeface="Calibri"/>
              </a:rPr>
              <a:t>stateless</a:t>
            </a:r>
            <a:r>
              <a:rPr dirty="0" sz="2400" spc="-6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and</a:t>
            </a:r>
            <a:r>
              <a:rPr dirty="0" sz="2400" spc="-95" b="1">
                <a:latin typeface="Calibri"/>
                <a:cs typeface="Calibri"/>
              </a:rPr>
              <a:t> </a:t>
            </a:r>
            <a:r>
              <a:rPr dirty="0" sz="2400" spc="-20" b="1">
                <a:latin typeface="Calibri"/>
                <a:cs typeface="Calibri"/>
              </a:rPr>
              <a:t>stateful</a:t>
            </a:r>
            <a:r>
              <a:rPr dirty="0" sz="2400" spc="-75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widget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2014" rIns="0" bIns="0" rtlCol="0" vert="horz">
            <a:spAutoFit/>
          </a:bodyPr>
          <a:lstStyle/>
          <a:p>
            <a:pPr marL="93345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Example</a:t>
            </a:r>
            <a:r>
              <a:rPr dirty="0" spc="-90"/>
              <a:t> </a:t>
            </a:r>
            <a:r>
              <a:rPr dirty="0"/>
              <a:t>1</a:t>
            </a:r>
            <a:r>
              <a:rPr dirty="0" spc="-105"/>
              <a:t> </a:t>
            </a:r>
            <a:r>
              <a:rPr dirty="0" spc="-25"/>
              <a:t>App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1060" y="2159507"/>
            <a:ext cx="6448044" cy="253898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49995" y="1235963"/>
            <a:ext cx="1973579" cy="438607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Mobile</a:t>
            </a:r>
            <a:r>
              <a:rPr dirty="0" spc="-40"/>
              <a:t> </a:t>
            </a:r>
            <a:r>
              <a:rPr dirty="0" spc="-20"/>
              <a:t>Application </a:t>
            </a:r>
            <a:r>
              <a:rPr dirty="0" spc="-10"/>
              <a:t>System</a:t>
            </a:r>
            <a:r>
              <a:rPr dirty="0" spc="-95"/>
              <a:t> </a:t>
            </a:r>
            <a:r>
              <a:rPr dirty="0" spc="-10"/>
              <a:t>Design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2014" rIns="0" bIns="0" rtlCol="0" vert="horz">
            <a:spAutoFit/>
          </a:bodyPr>
          <a:lstStyle/>
          <a:p>
            <a:pPr marL="93345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Example</a:t>
            </a:r>
            <a:r>
              <a:rPr dirty="0" spc="-80"/>
              <a:t> </a:t>
            </a:r>
            <a:r>
              <a:rPr dirty="0"/>
              <a:t>2</a:t>
            </a:r>
            <a:r>
              <a:rPr dirty="0" spc="-105"/>
              <a:t> </a:t>
            </a:r>
            <a:r>
              <a:rPr dirty="0" spc="-25"/>
              <a:t>App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8344" y="1316736"/>
            <a:ext cx="5125211" cy="43434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66531" y="1039367"/>
            <a:ext cx="2278379" cy="477926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Mobile</a:t>
            </a:r>
            <a:r>
              <a:rPr dirty="0" spc="-40"/>
              <a:t> </a:t>
            </a:r>
            <a:r>
              <a:rPr dirty="0" spc="-20"/>
              <a:t>Application </a:t>
            </a:r>
            <a:r>
              <a:rPr dirty="0" spc="-10"/>
              <a:t>System</a:t>
            </a:r>
            <a:r>
              <a:rPr dirty="0" spc="-95"/>
              <a:t> </a:t>
            </a:r>
            <a:r>
              <a:rPr dirty="0" spc="-10"/>
              <a:t>Design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2014" rIns="0" bIns="0" rtlCol="0" vert="horz">
            <a:spAutoFit/>
          </a:bodyPr>
          <a:lstStyle/>
          <a:p>
            <a:pPr marL="93345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Example</a:t>
            </a:r>
            <a:r>
              <a:rPr dirty="0" spc="-90"/>
              <a:t> </a:t>
            </a:r>
            <a:r>
              <a:rPr dirty="0"/>
              <a:t>2</a:t>
            </a:r>
            <a:r>
              <a:rPr dirty="0" spc="-105"/>
              <a:t> </a:t>
            </a:r>
            <a:r>
              <a:rPr dirty="0" spc="-25"/>
              <a:t>App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95527" y="1179575"/>
            <a:ext cx="6440805" cy="4639310"/>
            <a:chOff x="795527" y="1179575"/>
            <a:chExt cx="6440805" cy="46393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5527" y="1179575"/>
              <a:ext cx="6440424" cy="463905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416302" y="3313937"/>
              <a:ext cx="3872865" cy="361315"/>
            </a:xfrm>
            <a:custGeom>
              <a:avLst/>
              <a:gdLst/>
              <a:ahLst/>
              <a:cxnLst/>
              <a:rect l="l" t="t" r="r" b="b"/>
              <a:pathLst>
                <a:path w="3872865" h="361314">
                  <a:moveTo>
                    <a:pt x="0" y="361188"/>
                  </a:moveTo>
                  <a:lnTo>
                    <a:pt x="3872484" y="361188"/>
                  </a:lnTo>
                  <a:lnTo>
                    <a:pt x="3872484" y="0"/>
                  </a:lnTo>
                  <a:lnTo>
                    <a:pt x="0" y="0"/>
                  </a:lnTo>
                  <a:lnTo>
                    <a:pt x="0" y="361188"/>
                  </a:lnTo>
                  <a:close/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06028" y="1179575"/>
            <a:ext cx="2223516" cy="4742688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Mobile</a:t>
            </a:r>
            <a:r>
              <a:rPr dirty="0" spc="-40"/>
              <a:t> </a:t>
            </a:r>
            <a:r>
              <a:rPr dirty="0" spc="-20"/>
              <a:t>Application </a:t>
            </a:r>
            <a:r>
              <a:rPr dirty="0" spc="-10"/>
              <a:t>System</a:t>
            </a:r>
            <a:r>
              <a:rPr dirty="0" spc="-95"/>
              <a:t> </a:t>
            </a:r>
            <a:r>
              <a:rPr dirty="0" spc="-10"/>
              <a:t>Design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2014" rIns="0" bIns="0" rtlCol="0" vert="horz">
            <a:spAutoFit/>
          </a:bodyPr>
          <a:lstStyle/>
          <a:p>
            <a:pPr marL="93345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Example</a:t>
            </a:r>
            <a:r>
              <a:rPr dirty="0" spc="-90"/>
              <a:t> </a:t>
            </a:r>
            <a:r>
              <a:rPr dirty="0"/>
              <a:t>2</a:t>
            </a:r>
            <a:r>
              <a:rPr dirty="0" spc="-105"/>
              <a:t> </a:t>
            </a:r>
            <a:r>
              <a:rPr dirty="0" spc="-25"/>
              <a:t>App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95527" y="1179575"/>
            <a:ext cx="6440805" cy="4639310"/>
            <a:chOff x="795527" y="1179575"/>
            <a:chExt cx="6440805" cy="46393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5527" y="1179575"/>
              <a:ext cx="6440424" cy="463905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416302" y="3313937"/>
              <a:ext cx="3872865" cy="361315"/>
            </a:xfrm>
            <a:custGeom>
              <a:avLst/>
              <a:gdLst/>
              <a:ahLst/>
              <a:cxnLst/>
              <a:rect l="l" t="t" r="r" b="b"/>
              <a:pathLst>
                <a:path w="3872865" h="361314">
                  <a:moveTo>
                    <a:pt x="0" y="361188"/>
                  </a:moveTo>
                  <a:lnTo>
                    <a:pt x="3872484" y="361188"/>
                  </a:lnTo>
                  <a:lnTo>
                    <a:pt x="3872484" y="0"/>
                  </a:lnTo>
                  <a:lnTo>
                    <a:pt x="0" y="0"/>
                  </a:lnTo>
                  <a:lnTo>
                    <a:pt x="0" y="361188"/>
                  </a:lnTo>
                  <a:close/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16011" y="1040891"/>
            <a:ext cx="3646932" cy="2223516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Mobile</a:t>
            </a:r>
            <a:r>
              <a:rPr dirty="0" spc="-40"/>
              <a:t> </a:t>
            </a:r>
            <a:r>
              <a:rPr dirty="0" spc="-20"/>
              <a:t>Application </a:t>
            </a:r>
            <a:r>
              <a:rPr dirty="0" spc="-10"/>
              <a:t>System</a:t>
            </a:r>
            <a:r>
              <a:rPr dirty="0" spc="-95"/>
              <a:t> </a:t>
            </a:r>
            <a:r>
              <a:rPr dirty="0" spc="-10"/>
              <a:t>Design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2014" rIns="0" bIns="0" rtlCol="0" vert="horz">
            <a:spAutoFit/>
          </a:bodyPr>
          <a:lstStyle/>
          <a:p>
            <a:pPr marL="93345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Example</a:t>
            </a:r>
            <a:r>
              <a:rPr dirty="0" spc="-80"/>
              <a:t> </a:t>
            </a:r>
            <a:r>
              <a:rPr dirty="0"/>
              <a:t>3</a:t>
            </a:r>
            <a:r>
              <a:rPr dirty="0" spc="-105"/>
              <a:t> </a:t>
            </a:r>
            <a:r>
              <a:rPr dirty="0" spc="-25"/>
              <a:t>App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9096" y="1115567"/>
            <a:ext cx="4358640" cy="490423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30668" y="1115567"/>
            <a:ext cx="2350007" cy="491947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Mobile</a:t>
            </a:r>
            <a:r>
              <a:rPr dirty="0" spc="-40"/>
              <a:t> </a:t>
            </a:r>
            <a:r>
              <a:rPr dirty="0" spc="-20"/>
              <a:t>Application </a:t>
            </a:r>
            <a:r>
              <a:rPr dirty="0" spc="-10"/>
              <a:t>System</a:t>
            </a:r>
            <a:r>
              <a:rPr dirty="0" spc="-95"/>
              <a:t> </a:t>
            </a:r>
            <a:r>
              <a:rPr dirty="0" spc="-10"/>
              <a:t>Design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2014" rIns="0" bIns="0" rtlCol="0" vert="horz">
            <a:spAutoFit/>
          </a:bodyPr>
          <a:lstStyle/>
          <a:p>
            <a:pPr marL="93345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Example</a:t>
            </a:r>
            <a:r>
              <a:rPr dirty="0" spc="-80"/>
              <a:t> </a:t>
            </a:r>
            <a:r>
              <a:rPr dirty="0"/>
              <a:t>3</a:t>
            </a:r>
            <a:r>
              <a:rPr dirty="0" spc="-105"/>
              <a:t> </a:t>
            </a:r>
            <a:r>
              <a:rPr dirty="0" spc="-25"/>
              <a:t>App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498091" y="918972"/>
            <a:ext cx="4468495" cy="5020310"/>
            <a:chOff x="1498091" y="918972"/>
            <a:chExt cx="4468495" cy="50203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8091" y="918972"/>
              <a:ext cx="4468368" cy="502005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045713" y="3771138"/>
              <a:ext cx="2243455" cy="490855"/>
            </a:xfrm>
            <a:custGeom>
              <a:avLst/>
              <a:gdLst/>
              <a:ahLst/>
              <a:cxnLst/>
              <a:rect l="l" t="t" r="r" b="b"/>
              <a:pathLst>
                <a:path w="2243454" h="490854">
                  <a:moveTo>
                    <a:pt x="0" y="490728"/>
                  </a:moveTo>
                  <a:lnTo>
                    <a:pt x="2243328" y="490728"/>
                  </a:lnTo>
                  <a:lnTo>
                    <a:pt x="2243328" y="0"/>
                  </a:lnTo>
                  <a:lnTo>
                    <a:pt x="0" y="0"/>
                  </a:lnTo>
                  <a:lnTo>
                    <a:pt x="0" y="490728"/>
                  </a:lnTo>
                  <a:close/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64423" y="1056132"/>
            <a:ext cx="2365248" cy="5023104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Mobile</a:t>
            </a:r>
            <a:r>
              <a:rPr dirty="0" spc="-40"/>
              <a:t> </a:t>
            </a:r>
            <a:r>
              <a:rPr dirty="0" spc="-20"/>
              <a:t>Application </a:t>
            </a:r>
            <a:r>
              <a:rPr dirty="0" spc="-10"/>
              <a:t>System</a:t>
            </a:r>
            <a:r>
              <a:rPr dirty="0" spc="-95"/>
              <a:t> </a:t>
            </a:r>
            <a:r>
              <a:rPr dirty="0" spc="-10"/>
              <a:t>Design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57962" y="194665"/>
            <a:ext cx="7729855" cy="488950"/>
          </a:xfrm>
          <a:prstGeom prst="rect"/>
          <a:solidFill>
            <a:srgbClr val="C86730"/>
          </a:solidFill>
          <a:ln w="31750">
            <a:solidFill>
              <a:srgbClr val="404040"/>
            </a:solidFill>
          </a:ln>
        </p:spPr>
        <p:txBody>
          <a:bodyPr wrap="square" lIns="0" tIns="22225" rIns="0" bIns="0" rtlCol="0" vert="horz">
            <a:spAutoFit/>
          </a:bodyPr>
          <a:lstStyle/>
          <a:p>
            <a:pPr algn="ctr" marR="22225">
              <a:lnSpc>
                <a:spcPct val="100000"/>
              </a:lnSpc>
              <a:spcBef>
                <a:spcPts val="175"/>
              </a:spcBef>
            </a:pPr>
            <a:r>
              <a:rPr dirty="0" sz="2500" spc="220" b="0">
                <a:latin typeface="Trebuchet MS"/>
                <a:cs typeface="Trebuchet MS"/>
              </a:rPr>
              <a:t>BASIC</a:t>
            </a:r>
            <a:r>
              <a:rPr dirty="0" sz="2500" spc="370" b="0">
                <a:latin typeface="Trebuchet MS"/>
                <a:cs typeface="Trebuchet MS"/>
              </a:rPr>
              <a:t> </a:t>
            </a:r>
            <a:r>
              <a:rPr dirty="0" sz="2500" spc="114" b="0">
                <a:latin typeface="Trebuchet MS"/>
                <a:cs typeface="Trebuchet MS"/>
              </a:rPr>
              <a:t>RULE</a:t>
            </a:r>
            <a:endParaRPr sz="25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54508" y="1328927"/>
            <a:ext cx="786130" cy="1738630"/>
            <a:chOff x="254508" y="1328927"/>
            <a:chExt cx="786130" cy="173863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4508" y="1328927"/>
              <a:ext cx="785622" cy="64084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4508" y="1877568"/>
              <a:ext cx="785622" cy="64084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4508" y="2426208"/>
              <a:ext cx="785622" cy="640841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844397" y="1218544"/>
            <a:ext cx="6660515" cy="1671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dirty="0" sz="2400">
                <a:latin typeface="Times New Roman"/>
                <a:cs typeface="Times New Roman"/>
              </a:rPr>
              <a:t>Widget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– A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building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block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UI.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Visible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or</a:t>
            </a:r>
            <a:r>
              <a:rPr dirty="0" sz="2400" spc="-10">
                <a:latin typeface="Times New Roman"/>
                <a:cs typeface="Times New Roman"/>
              </a:rPr>
              <a:t> Structural </a:t>
            </a:r>
            <a:r>
              <a:rPr dirty="0" sz="2400">
                <a:latin typeface="Times New Roman"/>
                <a:cs typeface="Times New Roman"/>
              </a:rPr>
              <a:t>Property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–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 setting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or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configuration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inside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 </a:t>
            </a:r>
            <a:r>
              <a:rPr dirty="0" sz="2400" spc="-10">
                <a:latin typeface="Times New Roman"/>
                <a:cs typeface="Times New Roman"/>
              </a:rPr>
              <a:t>widget.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45"/>
              </a:spcBef>
            </a:pPr>
            <a:r>
              <a:rPr dirty="0" sz="2400">
                <a:latin typeface="Times New Roman"/>
                <a:cs typeface="Times New Roman"/>
              </a:rPr>
              <a:t>Value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–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data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or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object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passed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property.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" y="838200"/>
            <a:ext cx="4931791" cy="9906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35940" y="1786254"/>
            <a:ext cx="5893435" cy="1122680"/>
          </a:xfrm>
          <a:prstGeom prst="rect">
            <a:avLst/>
          </a:prstGeom>
        </p:spPr>
        <p:txBody>
          <a:bodyPr wrap="square" lIns="0" tIns="1955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dirty="0" sz="2400">
                <a:latin typeface="Times New Roman"/>
                <a:cs typeface="Times New Roman"/>
              </a:rPr>
              <a:t>home: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→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Property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MaterialApp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dirty="0" sz="2400">
                <a:latin typeface="Times New Roman"/>
                <a:cs typeface="Times New Roman"/>
              </a:rPr>
              <a:t>Scaffold(...)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→</a:t>
            </a:r>
            <a:r>
              <a:rPr dirty="0" sz="2400" spc="-7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Widget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that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value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home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3400" y="4012984"/>
            <a:ext cx="4931791" cy="80488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35940" y="4863998"/>
            <a:ext cx="6018530" cy="1123950"/>
          </a:xfrm>
          <a:prstGeom prst="rect">
            <a:avLst/>
          </a:prstGeom>
        </p:spPr>
        <p:txBody>
          <a:bodyPr wrap="square" lIns="0" tIns="1955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dirty="0" sz="2400">
                <a:latin typeface="Times New Roman"/>
                <a:cs typeface="Times New Roman"/>
              </a:rPr>
              <a:t>body: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→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Property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Scaffold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45"/>
              </a:spcBef>
            </a:pPr>
            <a:r>
              <a:rPr dirty="0" sz="2400">
                <a:latin typeface="Times New Roman"/>
                <a:cs typeface="Times New Roman"/>
              </a:rPr>
              <a:t>Container(...)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→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Widget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that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value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body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534784" y="146177"/>
            <a:ext cx="2630805" cy="338455"/>
          </a:xfrm>
          <a:prstGeom prst="rect"/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580"/>
              </a:lnSpc>
            </a:pPr>
            <a:r>
              <a:rPr dirty="0" sz="2400">
                <a:solidFill>
                  <a:srgbClr val="000000"/>
                </a:solidFill>
                <a:latin typeface="Times New Roman"/>
                <a:cs typeface="Times New Roman"/>
              </a:rPr>
              <a:t>MaterialApp</a:t>
            </a:r>
            <a:r>
              <a:rPr dirty="0" sz="2400" spc="-8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000000"/>
                </a:solidFill>
                <a:latin typeface="Times New Roman"/>
                <a:cs typeface="Times New Roman"/>
              </a:rPr>
              <a:t>widget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2495" y="3332734"/>
            <a:ext cx="2005964" cy="338455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585"/>
              </a:lnSpc>
            </a:pPr>
            <a:r>
              <a:rPr dirty="0" sz="2400" b="1">
                <a:latin typeface="Times New Roman"/>
                <a:cs typeface="Times New Roman"/>
              </a:rPr>
              <a:t>Scaffold</a:t>
            </a:r>
            <a:r>
              <a:rPr dirty="0" sz="2400" spc="-6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widget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575175" y="231394"/>
            <a:ext cx="7175500" cy="6198870"/>
          </a:xfrm>
          <a:prstGeom prst="rect">
            <a:avLst/>
          </a:prstGeom>
        </p:spPr>
        <p:txBody>
          <a:bodyPr wrap="square" lIns="0" tIns="127000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0"/>
              </a:spcBef>
              <a:buFont typeface="Times New Roman"/>
              <a:buAutoNum type="arabicPeriod"/>
              <a:tabLst>
                <a:tab pos="469265" algn="l"/>
              </a:tabLst>
            </a:pPr>
            <a:r>
              <a:rPr dirty="0" sz="1500" b="1" i="1">
                <a:latin typeface="Times New Roman"/>
                <a:cs typeface="Times New Roman"/>
              </a:rPr>
              <a:t>decoration:</a:t>
            </a:r>
            <a:r>
              <a:rPr dirty="0" sz="1500" spc="-60" b="1" i="1">
                <a:latin typeface="Times New Roman"/>
                <a:cs typeface="Times New Roman"/>
              </a:rPr>
              <a:t> </a:t>
            </a:r>
            <a:r>
              <a:rPr dirty="0" sz="1500" b="1" i="1">
                <a:latin typeface="Times New Roman"/>
                <a:cs typeface="Times New Roman"/>
              </a:rPr>
              <a:t>(Property</a:t>
            </a:r>
            <a:r>
              <a:rPr dirty="0" sz="1500" spc="-45" b="1" i="1">
                <a:latin typeface="Times New Roman"/>
                <a:cs typeface="Times New Roman"/>
              </a:rPr>
              <a:t> </a:t>
            </a:r>
            <a:r>
              <a:rPr dirty="0" sz="1500" b="1" i="1">
                <a:latin typeface="Times New Roman"/>
                <a:cs typeface="Times New Roman"/>
              </a:rPr>
              <a:t>of</a:t>
            </a:r>
            <a:r>
              <a:rPr dirty="0" sz="1500" spc="-35" b="1" i="1">
                <a:latin typeface="Times New Roman"/>
                <a:cs typeface="Times New Roman"/>
              </a:rPr>
              <a:t> </a:t>
            </a:r>
            <a:r>
              <a:rPr dirty="0" sz="1500" spc="-10" b="1" i="1">
                <a:latin typeface="Times New Roman"/>
                <a:cs typeface="Times New Roman"/>
              </a:rPr>
              <a:t>Container)</a:t>
            </a:r>
            <a:endParaRPr sz="1500">
              <a:latin typeface="Times New Roman"/>
              <a:cs typeface="Times New Roman"/>
            </a:endParaRPr>
          </a:p>
          <a:p>
            <a:pPr lvl="1" marL="354965" indent="-342265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500">
                <a:latin typeface="Times New Roman"/>
                <a:cs typeface="Times New Roman"/>
              </a:rPr>
              <a:t>decoration:</a:t>
            </a:r>
            <a:r>
              <a:rPr dirty="0" sz="1500" spc="-1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is</a:t>
            </a:r>
            <a:r>
              <a:rPr dirty="0" sz="1500" spc="-4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the</a:t>
            </a:r>
            <a:r>
              <a:rPr dirty="0" sz="1500" spc="-1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property</a:t>
            </a:r>
            <a:r>
              <a:rPr dirty="0" sz="1500" spc="-40">
                <a:latin typeface="Times New Roman"/>
                <a:cs typeface="Times New Roman"/>
              </a:rPr>
              <a:t> </a:t>
            </a:r>
            <a:r>
              <a:rPr dirty="0" sz="1500" spc="-20">
                <a:latin typeface="Times New Roman"/>
                <a:cs typeface="Times New Roman"/>
              </a:rPr>
              <a:t>name</a:t>
            </a:r>
            <a:endParaRPr sz="1500">
              <a:latin typeface="Times New Roman"/>
              <a:cs typeface="Times New Roman"/>
            </a:endParaRPr>
          </a:p>
          <a:p>
            <a:pPr lvl="1" marL="354965" indent="-342265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500">
                <a:latin typeface="Times New Roman"/>
                <a:cs typeface="Times New Roman"/>
              </a:rPr>
              <a:t>BoxDecoration(...)</a:t>
            </a:r>
            <a:r>
              <a:rPr dirty="0" sz="1500" spc="-4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is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the</a:t>
            </a:r>
            <a:r>
              <a:rPr dirty="0" sz="1500" spc="-1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value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or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object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we</a:t>
            </a:r>
            <a:r>
              <a:rPr dirty="0" sz="1500" spc="-1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pass</a:t>
            </a:r>
            <a:r>
              <a:rPr dirty="0" sz="1500" spc="-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to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apply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styling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(like</a:t>
            </a:r>
            <a:r>
              <a:rPr dirty="0" sz="1500" spc="-4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gradients,</a:t>
            </a:r>
            <a:r>
              <a:rPr dirty="0" sz="1500" spc="-40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borders)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dirty="0" sz="1500" b="1">
                <a:latin typeface="Times New Roman"/>
                <a:cs typeface="Times New Roman"/>
              </a:rPr>
              <a:t>Inside</a:t>
            </a:r>
            <a:r>
              <a:rPr dirty="0" sz="1500" spc="-40" b="1">
                <a:latin typeface="Times New Roman"/>
                <a:cs typeface="Times New Roman"/>
              </a:rPr>
              <a:t> </a:t>
            </a:r>
            <a:r>
              <a:rPr dirty="0" sz="1500" spc="-10" b="1">
                <a:latin typeface="Times New Roman"/>
                <a:cs typeface="Times New Roman"/>
              </a:rPr>
              <a:t>BoxDecoration</a:t>
            </a:r>
            <a:endParaRPr sz="1500">
              <a:latin typeface="Times New Roman"/>
              <a:cs typeface="Times New Roman"/>
            </a:endParaRPr>
          </a:p>
          <a:p>
            <a:pPr lvl="1" marL="354965" indent="-342265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500">
                <a:latin typeface="Times New Roman"/>
                <a:cs typeface="Times New Roman"/>
              </a:rPr>
              <a:t>gradient:</a:t>
            </a:r>
            <a:r>
              <a:rPr dirty="0" sz="1500" spc="-4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is</a:t>
            </a:r>
            <a:r>
              <a:rPr dirty="0" sz="1500" spc="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the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property</a:t>
            </a:r>
            <a:endParaRPr sz="1500">
              <a:latin typeface="Times New Roman"/>
              <a:cs typeface="Times New Roman"/>
            </a:endParaRPr>
          </a:p>
          <a:p>
            <a:pPr lvl="1" marL="354965" indent="-342265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500">
                <a:latin typeface="Times New Roman"/>
                <a:cs typeface="Times New Roman"/>
              </a:rPr>
              <a:t>LinearGradient(...)</a:t>
            </a:r>
            <a:r>
              <a:rPr dirty="0" sz="1500" spc="-4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is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the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object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that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creates</a:t>
            </a:r>
            <a:r>
              <a:rPr dirty="0" sz="1500" spc="-1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the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color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transition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dirty="0" sz="1500" b="1">
                <a:latin typeface="Times New Roman"/>
                <a:cs typeface="Times New Roman"/>
              </a:rPr>
              <a:t>Inside</a:t>
            </a:r>
            <a:r>
              <a:rPr dirty="0" sz="1500" spc="-35" b="1">
                <a:latin typeface="Times New Roman"/>
                <a:cs typeface="Times New Roman"/>
              </a:rPr>
              <a:t> </a:t>
            </a:r>
            <a:r>
              <a:rPr dirty="0" sz="1500" spc="-10" b="1">
                <a:latin typeface="Times New Roman"/>
                <a:cs typeface="Times New Roman"/>
              </a:rPr>
              <a:t>LinearGradient</a:t>
            </a:r>
            <a:endParaRPr sz="1500">
              <a:latin typeface="Times New Roman"/>
              <a:cs typeface="Times New Roman"/>
            </a:endParaRPr>
          </a:p>
          <a:p>
            <a:pPr lvl="1" marL="299085" indent="-286385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500">
                <a:latin typeface="Times New Roman"/>
                <a:cs typeface="Times New Roman"/>
              </a:rPr>
              <a:t>colors: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→</a:t>
            </a:r>
            <a:r>
              <a:rPr dirty="0" sz="1500" spc="-1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Property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of</a:t>
            </a:r>
            <a:r>
              <a:rPr dirty="0" sz="1500" spc="-10">
                <a:latin typeface="Times New Roman"/>
                <a:cs typeface="Times New Roman"/>
              </a:rPr>
              <a:t> LinearGradient</a:t>
            </a:r>
            <a:endParaRPr sz="1500">
              <a:latin typeface="Times New Roman"/>
              <a:cs typeface="Times New Roman"/>
            </a:endParaRPr>
          </a:p>
          <a:p>
            <a:pPr lvl="1" marL="299085" indent="-286385">
              <a:lnSpc>
                <a:spcPct val="100000"/>
              </a:lnSpc>
              <a:spcBef>
                <a:spcPts val="90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500" spc="-10">
                <a:latin typeface="Times New Roman"/>
                <a:cs typeface="Times New Roman"/>
              </a:rPr>
              <a:t>Color.fromARGB(...) </a:t>
            </a:r>
            <a:r>
              <a:rPr dirty="0" sz="1500">
                <a:latin typeface="Times New Roman"/>
                <a:cs typeface="Times New Roman"/>
              </a:rPr>
              <a:t>→</a:t>
            </a:r>
            <a:r>
              <a:rPr dirty="0" sz="1500" spc="-40">
                <a:latin typeface="Times New Roman"/>
                <a:cs typeface="Times New Roman"/>
              </a:rPr>
              <a:t> </a:t>
            </a:r>
            <a:r>
              <a:rPr dirty="0" sz="1500" spc="-25">
                <a:latin typeface="Times New Roman"/>
                <a:cs typeface="Times New Roman"/>
              </a:rPr>
              <a:t>Values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(they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define</a:t>
            </a:r>
            <a:r>
              <a:rPr dirty="0" sz="1500" spc="-4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which</a:t>
            </a:r>
            <a:r>
              <a:rPr dirty="0" sz="1500" spc="-1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colors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to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blend)</a:t>
            </a:r>
            <a:endParaRPr sz="15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900"/>
              </a:spcBef>
              <a:buAutoNum type="arabicPeriod" startAt="2"/>
              <a:tabLst>
                <a:tab pos="354965" algn="l"/>
              </a:tabLst>
            </a:pPr>
            <a:r>
              <a:rPr dirty="0" sz="1500" b="1" i="1">
                <a:latin typeface="Times New Roman"/>
                <a:cs typeface="Times New Roman"/>
              </a:rPr>
              <a:t>child:</a:t>
            </a:r>
            <a:r>
              <a:rPr dirty="0" sz="1500" spc="-45" b="1" i="1">
                <a:latin typeface="Times New Roman"/>
                <a:cs typeface="Times New Roman"/>
              </a:rPr>
              <a:t> </a:t>
            </a:r>
            <a:r>
              <a:rPr dirty="0" sz="1500" b="1" i="1">
                <a:latin typeface="Times New Roman"/>
                <a:cs typeface="Times New Roman"/>
              </a:rPr>
              <a:t>(Another</a:t>
            </a:r>
            <a:r>
              <a:rPr dirty="0" sz="1500" spc="-30" b="1" i="1">
                <a:latin typeface="Times New Roman"/>
                <a:cs typeface="Times New Roman"/>
              </a:rPr>
              <a:t> </a:t>
            </a:r>
            <a:r>
              <a:rPr dirty="0" sz="1500" b="1" i="1">
                <a:latin typeface="Times New Roman"/>
                <a:cs typeface="Times New Roman"/>
              </a:rPr>
              <a:t>property</a:t>
            </a:r>
            <a:r>
              <a:rPr dirty="0" sz="1500" spc="-45" b="1" i="1">
                <a:latin typeface="Times New Roman"/>
                <a:cs typeface="Times New Roman"/>
              </a:rPr>
              <a:t> </a:t>
            </a:r>
            <a:r>
              <a:rPr dirty="0" sz="1500" b="1" i="1">
                <a:latin typeface="Times New Roman"/>
                <a:cs typeface="Times New Roman"/>
              </a:rPr>
              <a:t>of</a:t>
            </a:r>
            <a:r>
              <a:rPr dirty="0" sz="1500" spc="-30" b="1" i="1">
                <a:latin typeface="Times New Roman"/>
                <a:cs typeface="Times New Roman"/>
              </a:rPr>
              <a:t> </a:t>
            </a:r>
            <a:r>
              <a:rPr dirty="0" sz="1500" spc="-10" b="1" i="1">
                <a:latin typeface="Times New Roman"/>
                <a:cs typeface="Times New Roman"/>
              </a:rPr>
              <a:t>Container)</a:t>
            </a:r>
            <a:endParaRPr sz="1500">
              <a:latin typeface="Times New Roman"/>
              <a:cs typeface="Times New Roman"/>
            </a:endParaRPr>
          </a:p>
          <a:p>
            <a:pPr lvl="1" marL="299085" indent="-286385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500">
                <a:latin typeface="Times New Roman"/>
                <a:cs typeface="Times New Roman"/>
              </a:rPr>
              <a:t>child: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is</a:t>
            </a:r>
            <a:r>
              <a:rPr dirty="0" sz="1500" spc="-1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</a:t>
            </a:r>
            <a:r>
              <a:rPr dirty="0" sz="1500" spc="-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property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of</a:t>
            </a:r>
            <a:r>
              <a:rPr dirty="0" sz="1500" spc="-1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the</a:t>
            </a:r>
            <a:r>
              <a:rPr dirty="0" sz="1500" spc="-15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Container</a:t>
            </a:r>
            <a:endParaRPr sz="1500">
              <a:latin typeface="Times New Roman"/>
              <a:cs typeface="Times New Roman"/>
            </a:endParaRPr>
          </a:p>
          <a:p>
            <a:pPr lvl="1" marL="299085" indent="-286385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500">
                <a:latin typeface="Times New Roman"/>
                <a:cs typeface="Times New Roman"/>
              </a:rPr>
              <a:t>Center(...)</a:t>
            </a:r>
            <a:r>
              <a:rPr dirty="0" sz="1500" spc="-1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is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</a:t>
            </a:r>
            <a:r>
              <a:rPr dirty="0" sz="1500" spc="-1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widget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that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centers</a:t>
            </a:r>
            <a:r>
              <a:rPr dirty="0" sz="1500" spc="-1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its</a:t>
            </a:r>
            <a:r>
              <a:rPr dirty="0" sz="1500" spc="-20">
                <a:latin typeface="Times New Roman"/>
                <a:cs typeface="Times New Roman"/>
              </a:rPr>
              <a:t> child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dirty="0" sz="1500" b="1">
                <a:latin typeface="Times New Roman"/>
                <a:cs typeface="Times New Roman"/>
              </a:rPr>
              <a:t>Inside</a:t>
            </a:r>
            <a:r>
              <a:rPr dirty="0" sz="1500" spc="-55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Center:</a:t>
            </a:r>
            <a:r>
              <a:rPr dirty="0" sz="1500" spc="-20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child:</a:t>
            </a:r>
            <a:r>
              <a:rPr dirty="0" sz="1500" spc="-80" b="1">
                <a:latin typeface="Times New Roman"/>
                <a:cs typeface="Times New Roman"/>
              </a:rPr>
              <a:t> </a:t>
            </a:r>
            <a:r>
              <a:rPr dirty="0" sz="1500" spc="-10" b="1">
                <a:latin typeface="Times New Roman"/>
                <a:cs typeface="Times New Roman"/>
              </a:rPr>
              <a:t>Text(...)</a:t>
            </a:r>
            <a:endParaRPr sz="1500">
              <a:latin typeface="Times New Roman"/>
              <a:cs typeface="Times New Roman"/>
            </a:endParaRPr>
          </a:p>
          <a:p>
            <a:pPr lvl="1" marL="299085" indent="-286385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500">
                <a:latin typeface="Times New Roman"/>
                <a:cs typeface="Times New Roman"/>
              </a:rPr>
              <a:t>child: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is</a:t>
            </a:r>
            <a:r>
              <a:rPr dirty="0" sz="1500" spc="-1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</a:t>
            </a:r>
            <a:r>
              <a:rPr dirty="0" sz="1500" spc="-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property</a:t>
            </a:r>
            <a:r>
              <a:rPr dirty="0" sz="1500" spc="-4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of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the</a:t>
            </a:r>
            <a:r>
              <a:rPr dirty="0" sz="1500" spc="-1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Center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widget</a:t>
            </a:r>
            <a:endParaRPr sz="1500">
              <a:latin typeface="Times New Roman"/>
              <a:cs typeface="Times New Roman"/>
            </a:endParaRPr>
          </a:p>
          <a:p>
            <a:pPr lvl="1" marL="299085" indent="-286385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500" spc="-10">
                <a:latin typeface="Times New Roman"/>
                <a:cs typeface="Times New Roman"/>
              </a:rPr>
              <a:t>Text(...) </a:t>
            </a:r>
            <a:r>
              <a:rPr dirty="0" sz="1500">
                <a:latin typeface="Times New Roman"/>
                <a:cs typeface="Times New Roman"/>
              </a:rPr>
              <a:t>is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</a:t>
            </a:r>
            <a:r>
              <a:rPr dirty="0" sz="1500" spc="-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widget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to</a:t>
            </a:r>
            <a:r>
              <a:rPr dirty="0" sz="1500" spc="-1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display</a:t>
            </a:r>
            <a:r>
              <a:rPr dirty="0" sz="1500" spc="-4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</a:t>
            </a:r>
            <a:r>
              <a:rPr dirty="0" sz="1500" spc="-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line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of</a:t>
            </a:r>
            <a:r>
              <a:rPr dirty="0" sz="1500" spc="-20">
                <a:latin typeface="Times New Roman"/>
                <a:cs typeface="Times New Roman"/>
              </a:rPr>
              <a:t> text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dirty="0" sz="1500" b="1">
                <a:latin typeface="Times New Roman"/>
                <a:cs typeface="Times New Roman"/>
              </a:rPr>
              <a:t>Inside</a:t>
            </a:r>
            <a:r>
              <a:rPr dirty="0" sz="1500" spc="-60" b="1">
                <a:latin typeface="Times New Roman"/>
                <a:cs typeface="Times New Roman"/>
              </a:rPr>
              <a:t> </a:t>
            </a:r>
            <a:r>
              <a:rPr dirty="0" sz="1500" spc="-25" b="1">
                <a:latin typeface="Times New Roman"/>
                <a:cs typeface="Times New Roman"/>
              </a:rPr>
              <a:t>Text:</a:t>
            </a:r>
            <a:r>
              <a:rPr dirty="0" sz="1500" spc="-30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Styling</a:t>
            </a:r>
            <a:r>
              <a:rPr dirty="0" sz="1500" spc="-40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with</a:t>
            </a:r>
            <a:r>
              <a:rPr dirty="0" sz="1500" spc="-55" b="1">
                <a:latin typeface="Times New Roman"/>
                <a:cs typeface="Times New Roman"/>
              </a:rPr>
              <a:t> </a:t>
            </a:r>
            <a:r>
              <a:rPr dirty="0" sz="1500" spc="-10" b="1">
                <a:latin typeface="Times New Roman"/>
                <a:cs typeface="Times New Roman"/>
              </a:rPr>
              <a:t>TextStyle</a:t>
            </a:r>
            <a:endParaRPr sz="1500">
              <a:latin typeface="Times New Roman"/>
              <a:cs typeface="Times New Roman"/>
            </a:endParaRPr>
          </a:p>
          <a:p>
            <a:pPr lvl="1" marL="299085" indent="-286385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500">
                <a:latin typeface="Times New Roman"/>
                <a:cs typeface="Times New Roman"/>
              </a:rPr>
              <a:t>style: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→</a:t>
            </a:r>
            <a:r>
              <a:rPr dirty="0" sz="1500" spc="-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Property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of</a:t>
            </a:r>
            <a:r>
              <a:rPr dirty="0" sz="1500" spc="-40">
                <a:latin typeface="Times New Roman"/>
                <a:cs typeface="Times New Roman"/>
              </a:rPr>
              <a:t> </a:t>
            </a:r>
            <a:r>
              <a:rPr dirty="0" sz="1500" spc="-20">
                <a:latin typeface="Times New Roman"/>
                <a:cs typeface="Times New Roman"/>
              </a:rPr>
              <a:t>Text</a:t>
            </a:r>
            <a:endParaRPr sz="1500">
              <a:latin typeface="Times New Roman"/>
              <a:cs typeface="Times New Roman"/>
            </a:endParaRPr>
          </a:p>
          <a:p>
            <a:pPr lvl="1" marL="299085" indent="-286385">
              <a:lnSpc>
                <a:spcPct val="100000"/>
              </a:lnSpc>
              <a:spcBef>
                <a:spcPts val="90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500" spc="-10">
                <a:latin typeface="Times New Roman"/>
                <a:cs typeface="Times New Roman"/>
              </a:rPr>
              <a:t>TextStyle(...)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→</a:t>
            </a:r>
            <a:r>
              <a:rPr dirty="0" sz="1500" spc="-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Object</a:t>
            </a:r>
            <a:r>
              <a:rPr dirty="0" sz="1500" spc="-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that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controls</a:t>
            </a:r>
            <a:r>
              <a:rPr dirty="0" sz="1500" spc="-4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how</a:t>
            </a:r>
            <a:r>
              <a:rPr dirty="0" sz="1500" spc="-1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the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text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looks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34784" y="121793"/>
            <a:ext cx="3536315" cy="281940"/>
          </a:xfrm>
          <a:prstGeom prst="rect"/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155"/>
              </a:lnSpc>
            </a:pPr>
            <a:r>
              <a:rPr dirty="0" sz="2000" spc="-20">
                <a:solidFill>
                  <a:srgbClr val="000000"/>
                </a:solidFill>
                <a:latin typeface="Times New Roman"/>
                <a:cs typeface="Times New Roman"/>
              </a:rPr>
              <a:t>Container,</a:t>
            </a:r>
            <a:r>
              <a:rPr dirty="0" sz="2000" spc="-6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Times New Roman"/>
                <a:cs typeface="Times New Roman"/>
              </a:rPr>
              <a:t>Center</a:t>
            </a:r>
            <a:r>
              <a:rPr dirty="0" sz="2000" spc="-8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Times New Roman"/>
                <a:cs typeface="Times New Roman"/>
              </a:rPr>
              <a:t>&amp;</a:t>
            </a:r>
            <a:r>
              <a:rPr dirty="0" sz="2000" spc="-7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spc="-25">
                <a:solidFill>
                  <a:srgbClr val="000000"/>
                </a:solidFill>
                <a:latin typeface="Times New Roman"/>
                <a:cs typeface="Times New Roman"/>
              </a:rPr>
              <a:t>Text</a:t>
            </a:r>
            <a:r>
              <a:rPr dirty="0" sz="2000" spc="-2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000000"/>
                </a:solidFill>
                <a:latin typeface="Times New Roman"/>
                <a:cs typeface="Times New Roman"/>
              </a:rPr>
              <a:t>widget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4121" y="838200"/>
            <a:ext cx="3879215" cy="5562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3419" y="1424939"/>
            <a:ext cx="6181344" cy="4285488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6268206"/>
            <a:ext cx="12192000" cy="589915"/>
            <a:chOff x="0" y="6268206"/>
            <a:chExt cx="12192000" cy="58991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39400" y="6268206"/>
              <a:ext cx="1752600" cy="58978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6268209"/>
              <a:ext cx="10439400" cy="589915"/>
            </a:xfrm>
            <a:custGeom>
              <a:avLst/>
              <a:gdLst/>
              <a:ahLst/>
              <a:cxnLst/>
              <a:rect l="l" t="t" r="r" b="b"/>
              <a:pathLst>
                <a:path w="10439400" h="589915">
                  <a:moveTo>
                    <a:pt x="10439400" y="0"/>
                  </a:moveTo>
                  <a:lnTo>
                    <a:pt x="0" y="0"/>
                  </a:lnTo>
                  <a:lnTo>
                    <a:pt x="0" y="589788"/>
                  </a:lnTo>
                  <a:lnTo>
                    <a:pt x="10439400" y="589788"/>
                  </a:lnTo>
                  <a:lnTo>
                    <a:pt x="10439400" y="0"/>
                  </a:lnTo>
                  <a:close/>
                </a:path>
              </a:pathLst>
            </a:custGeom>
            <a:solidFill>
              <a:srgbClr val="1F396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0" y="164592"/>
            <a:ext cx="12192000" cy="702945"/>
          </a:xfrm>
          <a:custGeom>
            <a:avLst/>
            <a:gdLst/>
            <a:ahLst/>
            <a:cxnLst/>
            <a:rect l="l" t="t" r="r" b="b"/>
            <a:pathLst>
              <a:path w="12192000" h="702944">
                <a:moveTo>
                  <a:pt x="12192000" y="0"/>
                </a:moveTo>
                <a:lnTo>
                  <a:pt x="0" y="0"/>
                </a:lnTo>
                <a:lnTo>
                  <a:pt x="0" y="702564"/>
                </a:lnTo>
                <a:lnTo>
                  <a:pt x="12192000" y="702564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386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2014" rIns="0" bIns="0" rtlCol="0" vert="horz">
            <a:spAutoFit/>
          </a:bodyPr>
          <a:lstStyle/>
          <a:p>
            <a:pPr marL="93345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Example</a:t>
            </a:r>
            <a:r>
              <a:rPr dirty="0" spc="-80"/>
              <a:t> </a:t>
            </a:r>
            <a:r>
              <a:rPr dirty="0"/>
              <a:t>3</a:t>
            </a:r>
            <a:r>
              <a:rPr dirty="0" spc="-105"/>
              <a:t> </a:t>
            </a:r>
            <a:r>
              <a:rPr dirty="0" spc="-25"/>
              <a:t>App</a:t>
            </a:r>
          </a:p>
        </p:txBody>
      </p:sp>
      <p:sp>
        <p:nvSpPr>
          <p:cNvPr id="8" name="object 8"/>
          <p:cNvSpPr/>
          <p:nvPr/>
        </p:nvSpPr>
        <p:spPr>
          <a:xfrm>
            <a:off x="1541525" y="3323082"/>
            <a:ext cx="4998720" cy="1198245"/>
          </a:xfrm>
          <a:custGeom>
            <a:avLst/>
            <a:gdLst/>
            <a:ahLst/>
            <a:cxnLst/>
            <a:rect l="l" t="t" r="r" b="b"/>
            <a:pathLst>
              <a:path w="4998720" h="1198245">
                <a:moveTo>
                  <a:pt x="0" y="1197864"/>
                </a:moveTo>
                <a:lnTo>
                  <a:pt x="4998720" y="1197864"/>
                </a:lnTo>
                <a:lnTo>
                  <a:pt x="4998720" y="0"/>
                </a:lnTo>
                <a:lnTo>
                  <a:pt x="0" y="0"/>
                </a:lnTo>
                <a:lnTo>
                  <a:pt x="0" y="1197864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89619" y="1103375"/>
            <a:ext cx="2191512" cy="4928616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Mobile</a:t>
            </a:r>
            <a:r>
              <a:rPr dirty="0" spc="-40"/>
              <a:t> </a:t>
            </a:r>
            <a:r>
              <a:rPr dirty="0" spc="-20"/>
              <a:t>Application </a:t>
            </a:r>
            <a:r>
              <a:rPr dirty="0" spc="-10"/>
              <a:t>System</a:t>
            </a:r>
            <a:r>
              <a:rPr dirty="0" spc="-95"/>
              <a:t> </a:t>
            </a:r>
            <a:r>
              <a:rPr dirty="0" spc="-10"/>
              <a:t>Design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2014" rIns="0" bIns="0" rtlCol="0" vert="horz">
            <a:spAutoFit/>
          </a:bodyPr>
          <a:lstStyle/>
          <a:p>
            <a:pPr marL="93345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Example</a:t>
            </a:r>
            <a:r>
              <a:rPr dirty="0" spc="-80"/>
              <a:t> </a:t>
            </a:r>
            <a:r>
              <a:rPr dirty="0"/>
              <a:t>4</a:t>
            </a:r>
            <a:r>
              <a:rPr dirty="0" spc="-105"/>
              <a:t> </a:t>
            </a:r>
            <a:r>
              <a:rPr dirty="0" spc="-25"/>
              <a:t>App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4131" y="1046988"/>
            <a:ext cx="4890516" cy="4422648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5379720" y="1046988"/>
            <a:ext cx="4183379" cy="4630420"/>
            <a:chOff x="5379720" y="1046988"/>
            <a:chExt cx="4183379" cy="463042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79720" y="1046988"/>
              <a:ext cx="4183379" cy="462991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726430" y="1916430"/>
              <a:ext cx="3746500" cy="3406140"/>
            </a:xfrm>
            <a:custGeom>
              <a:avLst/>
              <a:gdLst/>
              <a:ahLst/>
              <a:cxnLst/>
              <a:rect l="l" t="t" r="r" b="b"/>
              <a:pathLst>
                <a:path w="3746500" h="3406140">
                  <a:moveTo>
                    <a:pt x="0" y="3406140"/>
                  </a:moveTo>
                  <a:lnTo>
                    <a:pt x="3745991" y="3406140"/>
                  </a:lnTo>
                  <a:lnTo>
                    <a:pt x="3745991" y="0"/>
                  </a:lnTo>
                  <a:lnTo>
                    <a:pt x="0" y="0"/>
                  </a:lnTo>
                  <a:lnTo>
                    <a:pt x="0" y="3406140"/>
                  </a:lnTo>
                  <a:close/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759695" y="964691"/>
            <a:ext cx="2191511" cy="4928616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Mobile</a:t>
            </a:r>
            <a:r>
              <a:rPr dirty="0" spc="-40"/>
              <a:t> </a:t>
            </a:r>
            <a:r>
              <a:rPr dirty="0" spc="-20"/>
              <a:t>Application </a:t>
            </a:r>
            <a:r>
              <a:rPr dirty="0" spc="-10"/>
              <a:t>System</a:t>
            </a:r>
            <a:r>
              <a:rPr dirty="0" spc="-95"/>
              <a:t> </a:t>
            </a:r>
            <a:r>
              <a:rPr dirty="0" spc="-10"/>
              <a:t>Design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2014" rIns="0" bIns="0" rtlCol="0" vert="horz">
            <a:spAutoFit/>
          </a:bodyPr>
          <a:lstStyle/>
          <a:p>
            <a:pPr marL="93345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Example</a:t>
            </a:r>
            <a:r>
              <a:rPr dirty="0" spc="-90"/>
              <a:t> </a:t>
            </a:r>
            <a:r>
              <a:rPr dirty="0"/>
              <a:t>4</a:t>
            </a:r>
            <a:r>
              <a:rPr dirty="0" spc="-105"/>
              <a:t> </a:t>
            </a:r>
            <a:r>
              <a:rPr dirty="0" spc="-25"/>
              <a:t>App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015740" y="2023872"/>
            <a:ext cx="5372100" cy="3088005"/>
            <a:chOff x="4015740" y="2023872"/>
            <a:chExt cx="5372100" cy="30880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15740" y="2023872"/>
              <a:ext cx="5372100" cy="308762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744974" y="2649473"/>
              <a:ext cx="4555490" cy="285115"/>
            </a:xfrm>
            <a:custGeom>
              <a:avLst/>
              <a:gdLst/>
              <a:ahLst/>
              <a:cxnLst/>
              <a:rect l="l" t="t" r="r" b="b"/>
              <a:pathLst>
                <a:path w="4555490" h="285114">
                  <a:moveTo>
                    <a:pt x="0" y="284988"/>
                  </a:moveTo>
                  <a:lnTo>
                    <a:pt x="4555235" y="284988"/>
                  </a:lnTo>
                  <a:lnTo>
                    <a:pt x="4555235" y="0"/>
                  </a:lnTo>
                  <a:lnTo>
                    <a:pt x="0" y="0"/>
                  </a:lnTo>
                  <a:lnTo>
                    <a:pt x="0" y="284988"/>
                  </a:lnTo>
                  <a:close/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4779" y="1341119"/>
            <a:ext cx="3599688" cy="417575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05687" y="5627319"/>
            <a:ext cx="22720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gradient_container.dart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57620" y="5651093"/>
            <a:ext cx="9493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main.dart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759695" y="963167"/>
            <a:ext cx="2191511" cy="4928616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Mobile</a:t>
            </a:r>
            <a:r>
              <a:rPr dirty="0" spc="-40"/>
              <a:t> </a:t>
            </a:r>
            <a:r>
              <a:rPr dirty="0" spc="-20"/>
              <a:t>Application </a:t>
            </a:r>
            <a:r>
              <a:rPr dirty="0" spc="-10"/>
              <a:t>System</a:t>
            </a:r>
            <a:r>
              <a:rPr dirty="0" spc="-95"/>
              <a:t> </a:t>
            </a:r>
            <a:r>
              <a:rPr dirty="0" spc="-10"/>
              <a:t>Design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2014" rIns="0" bIns="0" rtlCol="0" vert="horz">
            <a:spAutoFit/>
          </a:bodyPr>
          <a:lstStyle/>
          <a:p>
            <a:pPr marL="93345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Example</a:t>
            </a:r>
            <a:r>
              <a:rPr dirty="0" spc="-90"/>
              <a:t> </a:t>
            </a:r>
            <a:r>
              <a:rPr dirty="0"/>
              <a:t>4</a:t>
            </a:r>
            <a:r>
              <a:rPr dirty="0" spc="-105"/>
              <a:t> </a:t>
            </a:r>
            <a:r>
              <a:rPr dirty="0" spc="-25"/>
              <a:t>App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4703" y="5335651"/>
            <a:ext cx="15284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styled_text.dart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48020" y="5649569"/>
            <a:ext cx="22726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gradient_container.dart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59695" y="963167"/>
            <a:ext cx="2191511" cy="492861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3068" y="1816607"/>
            <a:ext cx="4663440" cy="3014472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5219700" y="1242060"/>
            <a:ext cx="3613785" cy="4209415"/>
            <a:chOff x="5219700" y="1242060"/>
            <a:chExt cx="3613785" cy="4209415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19700" y="1242060"/>
              <a:ext cx="3613404" cy="420928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633466" y="1684782"/>
              <a:ext cx="3096895" cy="3147060"/>
            </a:xfrm>
            <a:custGeom>
              <a:avLst/>
              <a:gdLst/>
              <a:ahLst/>
              <a:cxnLst/>
              <a:rect l="l" t="t" r="r" b="b"/>
              <a:pathLst>
                <a:path w="3096895" h="3147060">
                  <a:moveTo>
                    <a:pt x="0" y="222503"/>
                  </a:moveTo>
                  <a:lnTo>
                    <a:pt x="3096767" y="222503"/>
                  </a:lnTo>
                  <a:lnTo>
                    <a:pt x="3096767" y="0"/>
                  </a:lnTo>
                  <a:lnTo>
                    <a:pt x="0" y="0"/>
                  </a:lnTo>
                  <a:lnTo>
                    <a:pt x="0" y="222503"/>
                  </a:lnTo>
                  <a:close/>
                </a:path>
                <a:path w="3096895" h="3147060">
                  <a:moveTo>
                    <a:pt x="371856" y="3147060"/>
                  </a:moveTo>
                  <a:lnTo>
                    <a:pt x="1898904" y="3147060"/>
                  </a:lnTo>
                  <a:lnTo>
                    <a:pt x="1898904" y="2671572"/>
                  </a:lnTo>
                  <a:lnTo>
                    <a:pt x="371856" y="2671572"/>
                  </a:lnTo>
                  <a:lnTo>
                    <a:pt x="371856" y="3147060"/>
                  </a:lnTo>
                  <a:close/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Mobile</a:t>
            </a:r>
            <a:r>
              <a:rPr dirty="0" spc="-40"/>
              <a:t> </a:t>
            </a:r>
            <a:r>
              <a:rPr dirty="0" spc="-20"/>
              <a:t>Application </a:t>
            </a:r>
            <a:r>
              <a:rPr dirty="0" spc="-10"/>
              <a:t>System</a:t>
            </a:r>
            <a:r>
              <a:rPr dirty="0" spc="-95"/>
              <a:t> </a:t>
            </a:r>
            <a:r>
              <a:rPr dirty="0" spc="-10"/>
              <a:t>Design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2014" rIns="0" bIns="0" rtlCol="0" vert="horz">
            <a:spAutoFit/>
          </a:bodyPr>
          <a:lstStyle/>
          <a:p>
            <a:pPr marL="93345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Example</a:t>
            </a:r>
            <a:r>
              <a:rPr dirty="0" spc="-90"/>
              <a:t> </a:t>
            </a:r>
            <a:r>
              <a:rPr dirty="0"/>
              <a:t>4</a:t>
            </a:r>
            <a:r>
              <a:rPr dirty="0" spc="-105"/>
              <a:t> </a:t>
            </a:r>
            <a:r>
              <a:rPr dirty="0" spc="-25"/>
              <a:t>App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4703" y="5335651"/>
            <a:ext cx="15284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styled_text.dart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28309" y="5364886"/>
            <a:ext cx="22720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gradient_container.dart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20402" y="1162329"/>
            <a:ext cx="2156459" cy="4649724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215125" y="1341755"/>
            <a:ext cx="4801235" cy="3963035"/>
            <a:chOff x="215125" y="1341755"/>
            <a:chExt cx="4801235" cy="396303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5125" y="1341755"/>
              <a:ext cx="4801235" cy="396290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38200" y="2438400"/>
              <a:ext cx="3707765" cy="2573020"/>
            </a:xfrm>
            <a:custGeom>
              <a:avLst/>
              <a:gdLst/>
              <a:ahLst/>
              <a:cxnLst/>
              <a:rect l="l" t="t" r="r" b="b"/>
              <a:pathLst>
                <a:path w="3707765" h="2573020">
                  <a:moveTo>
                    <a:pt x="0" y="762000"/>
                  </a:moveTo>
                  <a:lnTo>
                    <a:pt x="3707765" y="762000"/>
                  </a:lnTo>
                  <a:lnTo>
                    <a:pt x="3707765" y="0"/>
                  </a:lnTo>
                  <a:lnTo>
                    <a:pt x="0" y="0"/>
                  </a:lnTo>
                  <a:lnTo>
                    <a:pt x="0" y="762000"/>
                  </a:lnTo>
                  <a:close/>
                </a:path>
                <a:path w="3707765" h="2573020">
                  <a:moveTo>
                    <a:pt x="304800" y="2572893"/>
                  </a:moveTo>
                  <a:lnTo>
                    <a:pt x="2514600" y="2572893"/>
                  </a:lnTo>
                  <a:lnTo>
                    <a:pt x="2514600" y="1201293"/>
                  </a:lnTo>
                  <a:lnTo>
                    <a:pt x="304800" y="1201293"/>
                  </a:lnTo>
                  <a:lnTo>
                    <a:pt x="304800" y="2572893"/>
                  </a:lnTo>
                  <a:close/>
                </a:path>
              </a:pathLst>
            </a:custGeom>
            <a:ln w="2857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/>
          <p:cNvGrpSpPr/>
          <p:nvPr/>
        </p:nvGrpSpPr>
        <p:grpSpPr>
          <a:xfrm>
            <a:off x="5152516" y="1220977"/>
            <a:ext cx="4467225" cy="4165600"/>
            <a:chOff x="5152516" y="1220977"/>
            <a:chExt cx="4467225" cy="416560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52516" y="1220977"/>
              <a:ext cx="4466717" cy="416534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944234" y="4440173"/>
              <a:ext cx="3295650" cy="299720"/>
            </a:xfrm>
            <a:custGeom>
              <a:avLst/>
              <a:gdLst/>
              <a:ahLst/>
              <a:cxnLst/>
              <a:rect l="l" t="t" r="r" b="b"/>
              <a:pathLst>
                <a:path w="3295650" h="299720">
                  <a:moveTo>
                    <a:pt x="0" y="299719"/>
                  </a:moveTo>
                  <a:lnTo>
                    <a:pt x="3295522" y="299719"/>
                  </a:lnTo>
                  <a:lnTo>
                    <a:pt x="3295522" y="0"/>
                  </a:lnTo>
                  <a:lnTo>
                    <a:pt x="0" y="0"/>
                  </a:lnTo>
                  <a:lnTo>
                    <a:pt x="0" y="299719"/>
                  </a:lnTo>
                  <a:close/>
                </a:path>
              </a:pathLst>
            </a:custGeom>
            <a:ln w="1904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Mobile</a:t>
            </a:r>
            <a:r>
              <a:rPr dirty="0" spc="-40"/>
              <a:t> </a:t>
            </a:r>
            <a:r>
              <a:rPr dirty="0" spc="-20"/>
              <a:t>Application </a:t>
            </a:r>
            <a:r>
              <a:rPr dirty="0" spc="-10"/>
              <a:t>System</a:t>
            </a:r>
            <a:r>
              <a:rPr dirty="0" spc="-95"/>
              <a:t> </a:t>
            </a:r>
            <a:r>
              <a:rPr dirty="0" spc="-10"/>
              <a:t>Design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2014" rIns="0" bIns="0" rtlCol="0" vert="horz">
            <a:spAutoFit/>
          </a:bodyPr>
          <a:lstStyle/>
          <a:p>
            <a:pPr marL="93345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Example</a:t>
            </a:r>
            <a:r>
              <a:rPr dirty="0" spc="-80"/>
              <a:t> </a:t>
            </a:r>
            <a:r>
              <a:rPr dirty="0"/>
              <a:t>5</a:t>
            </a:r>
            <a:r>
              <a:rPr dirty="0" spc="-105"/>
              <a:t> </a:t>
            </a:r>
            <a:r>
              <a:rPr dirty="0" spc="-25"/>
              <a:t>App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11085" y="2273807"/>
            <a:ext cx="4940300" cy="2588260"/>
            <a:chOff x="1011085" y="2273807"/>
            <a:chExt cx="4940300" cy="25882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80259" y="2273807"/>
              <a:ext cx="3870960" cy="258775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07919" y="3731894"/>
              <a:ext cx="84962" cy="7061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011085" y="3193033"/>
              <a:ext cx="1413510" cy="580390"/>
            </a:xfrm>
            <a:custGeom>
              <a:avLst/>
              <a:gdLst/>
              <a:ahLst/>
              <a:cxnLst/>
              <a:rect l="l" t="t" r="r" b="b"/>
              <a:pathLst>
                <a:path w="1413510" h="580389">
                  <a:moveTo>
                    <a:pt x="4749" y="0"/>
                  </a:moveTo>
                  <a:lnTo>
                    <a:pt x="0" y="11683"/>
                  </a:lnTo>
                  <a:lnTo>
                    <a:pt x="1408772" y="580135"/>
                  </a:lnTo>
                  <a:lnTo>
                    <a:pt x="1413471" y="568324"/>
                  </a:lnTo>
                  <a:lnTo>
                    <a:pt x="4749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78130" y="2832861"/>
            <a:ext cx="18415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Create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new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folder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408164" y="2226564"/>
            <a:ext cx="3939540" cy="2873375"/>
            <a:chOff x="7408164" y="2226564"/>
            <a:chExt cx="3939540" cy="287337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08164" y="2226564"/>
              <a:ext cx="3939539" cy="266852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793226" y="4109593"/>
              <a:ext cx="253365" cy="990600"/>
            </a:xfrm>
            <a:custGeom>
              <a:avLst/>
              <a:gdLst/>
              <a:ahLst/>
              <a:cxnLst/>
              <a:rect l="l" t="t" r="r" b="b"/>
              <a:pathLst>
                <a:path w="253365" h="990600">
                  <a:moveTo>
                    <a:pt x="12319" y="0"/>
                  </a:moveTo>
                  <a:lnTo>
                    <a:pt x="0" y="3047"/>
                  </a:lnTo>
                  <a:lnTo>
                    <a:pt x="240665" y="990091"/>
                  </a:lnTo>
                  <a:lnTo>
                    <a:pt x="252983" y="987043"/>
                  </a:lnTo>
                  <a:lnTo>
                    <a:pt x="12319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62365" y="4037076"/>
              <a:ext cx="74040" cy="83057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8107171" y="5114925"/>
            <a:ext cx="17195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Create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8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subfolder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Mobile</a:t>
            </a:r>
            <a:r>
              <a:rPr dirty="0" spc="-40"/>
              <a:t> </a:t>
            </a:r>
            <a:r>
              <a:rPr dirty="0" spc="-20"/>
              <a:t>Application </a:t>
            </a:r>
            <a:r>
              <a:rPr dirty="0" spc="-10"/>
              <a:t>System</a:t>
            </a:r>
            <a:r>
              <a:rPr dirty="0" spc="-95"/>
              <a:t> </a:t>
            </a:r>
            <a:r>
              <a:rPr dirty="0" spc="-10"/>
              <a:t>Design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2014" rIns="0" bIns="0" rtlCol="0" vert="horz">
            <a:spAutoFit/>
          </a:bodyPr>
          <a:lstStyle/>
          <a:p>
            <a:pPr marL="93345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Example</a:t>
            </a:r>
            <a:r>
              <a:rPr dirty="0" spc="-80"/>
              <a:t> </a:t>
            </a:r>
            <a:r>
              <a:rPr dirty="0"/>
              <a:t>5</a:t>
            </a:r>
            <a:r>
              <a:rPr dirty="0" spc="-105"/>
              <a:t> </a:t>
            </a:r>
            <a:r>
              <a:rPr dirty="0" spc="-25"/>
              <a:t>App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83208" y="1697735"/>
            <a:ext cx="2982595" cy="3011805"/>
            <a:chOff x="1283208" y="1697735"/>
            <a:chExt cx="2982595" cy="30118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3208" y="1697735"/>
              <a:ext cx="2982467" cy="301142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631442" y="3140201"/>
              <a:ext cx="1888489" cy="1423670"/>
            </a:xfrm>
            <a:custGeom>
              <a:avLst/>
              <a:gdLst/>
              <a:ahLst/>
              <a:cxnLst/>
              <a:rect l="l" t="t" r="r" b="b"/>
              <a:pathLst>
                <a:path w="1888489" h="1423670">
                  <a:moveTo>
                    <a:pt x="0" y="1423416"/>
                  </a:moveTo>
                  <a:lnTo>
                    <a:pt x="1888235" y="1423416"/>
                  </a:lnTo>
                  <a:lnTo>
                    <a:pt x="1888235" y="0"/>
                  </a:lnTo>
                  <a:lnTo>
                    <a:pt x="0" y="0"/>
                  </a:lnTo>
                  <a:lnTo>
                    <a:pt x="0" y="1423416"/>
                  </a:lnTo>
                  <a:close/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371652" y="4979670"/>
            <a:ext cx="45694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Copy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paste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images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8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“images”</a:t>
            </a:r>
            <a:r>
              <a:rPr dirty="0" sz="1800" spc="-9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subfolder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268467" y="1034796"/>
            <a:ext cx="6811009" cy="4676140"/>
            <a:chOff x="5268467" y="1034796"/>
            <a:chExt cx="6811009" cy="467614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68467" y="1034796"/>
              <a:ext cx="6810756" cy="188518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889497" y="1568958"/>
              <a:ext cx="256540" cy="638810"/>
            </a:xfrm>
            <a:custGeom>
              <a:avLst/>
              <a:gdLst/>
              <a:ahLst/>
              <a:cxnLst/>
              <a:rect l="l" t="t" r="r" b="b"/>
              <a:pathLst>
                <a:path w="256539" h="638810">
                  <a:moveTo>
                    <a:pt x="0" y="319277"/>
                  </a:moveTo>
                  <a:lnTo>
                    <a:pt x="2539" y="254888"/>
                  </a:lnTo>
                  <a:lnTo>
                    <a:pt x="10032" y="195071"/>
                  </a:lnTo>
                  <a:lnTo>
                    <a:pt x="21843" y="140842"/>
                  </a:lnTo>
                  <a:lnTo>
                    <a:pt x="37464" y="93471"/>
                  </a:lnTo>
                  <a:lnTo>
                    <a:pt x="56387" y="54482"/>
                  </a:lnTo>
                  <a:lnTo>
                    <a:pt x="102235" y="6476"/>
                  </a:lnTo>
                  <a:lnTo>
                    <a:pt x="128015" y="0"/>
                  </a:lnTo>
                  <a:lnTo>
                    <a:pt x="153797" y="6476"/>
                  </a:lnTo>
                  <a:lnTo>
                    <a:pt x="199643" y="54482"/>
                  </a:lnTo>
                  <a:lnTo>
                    <a:pt x="218566" y="93471"/>
                  </a:lnTo>
                  <a:lnTo>
                    <a:pt x="234187" y="140842"/>
                  </a:lnTo>
                  <a:lnTo>
                    <a:pt x="245999" y="195071"/>
                  </a:lnTo>
                  <a:lnTo>
                    <a:pt x="253491" y="254888"/>
                  </a:lnTo>
                  <a:lnTo>
                    <a:pt x="256031" y="319277"/>
                  </a:lnTo>
                  <a:lnTo>
                    <a:pt x="253491" y="383666"/>
                  </a:lnTo>
                  <a:lnTo>
                    <a:pt x="245999" y="443483"/>
                  </a:lnTo>
                  <a:lnTo>
                    <a:pt x="234187" y="497713"/>
                  </a:lnTo>
                  <a:lnTo>
                    <a:pt x="218566" y="544956"/>
                  </a:lnTo>
                  <a:lnTo>
                    <a:pt x="199643" y="584072"/>
                  </a:lnTo>
                  <a:lnTo>
                    <a:pt x="153797" y="632078"/>
                  </a:lnTo>
                  <a:lnTo>
                    <a:pt x="128015" y="638555"/>
                  </a:lnTo>
                  <a:lnTo>
                    <a:pt x="102235" y="632078"/>
                  </a:lnTo>
                  <a:lnTo>
                    <a:pt x="56387" y="584072"/>
                  </a:lnTo>
                  <a:lnTo>
                    <a:pt x="37464" y="544956"/>
                  </a:lnTo>
                  <a:lnTo>
                    <a:pt x="21843" y="497713"/>
                  </a:lnTo>
                  <a:lnTo>
                    <a:pt x="10032" y="443483"/>
                  </a:lnTo>
                  <a:lnTo>
                    <a:pt x="2539" y="383666"/>
                  </a:lnTo>
                  <a:lnTo>
                    <a:pt x="0" y="319277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8490203" y="2953512"/>
              <a:ext cx="353695" cy="783590"/>
            </a:xfrm>
            <a:custGeom>
              <a:avLst/>
              <a:gdLst/>
              <a:ahLst/>
              <a:cxnLst/>
              <a:rect l="l" t="t" r="r" b="b"/>
              <a:pathLst>
                <a:path w="353695" h="783589">
                  <a:moveTo>
                    <a:pt x="265175" y="0"/>
                  </a:moveTo>
                  <a:lnTo>
                    <a:pt x="88392" y="0"/>
                  </a:lnTo>
                  <a:lnTo>
                    <a:pt x="88392" y="606551"/>
                  </a:lnTo>
                  <a:lnTo>
                    <a:pt x="0" y="606551"/>
                  </a:lnTo>
                  <a:lnTo>
                    <a:pt x="176784" y="783336"/>
                  </a:lnTo>
                  <a:lnTo>
                    <a:pt x="353568" y="606551"/>
                  </a:lnTo>
                  <a:lnTo>
                    <a:pt x="265175" y="606551"/>
                  </a:lnTo>
                  <a:lnTo>
                    <a:pt x="265175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8490203" y="2953512"/>
              <a:ext cx="353695" cy="783590"/>
            </a:xfrm>
            <a:custGeom>
              <a:avLst/>
              <a:gdLst/>
              <a:ahLst/>
              <a:cxnLst/>
              <a:rect l="l" t="t" r="r" b="b"/>
              <a:pathLst>
                <a:path w="353695" h="783589">
                  <a:moveTo>
                    <a:pt x="0" y="606551"/>
                  </a:moveTo>
                  <a:lnTo>
                    <a:pt x="88392" y="606551"/>
                  </a:lnTo>
                  <a:lnTo>
                    <a:pt x="88392" y="0"/>
                  </a:lnTo>
                  <a:lnTo>
                    <a:pt x="265175" y="0"/>
                  </a:lnTo>
                  <a:lnTo>
                    <a:pt x="265175" y="606551"/>
                  </a:lnTo>
                  <a:lnTo>
                    <a:pt x="353568" y="606551"/>
                  </a:lnTo>
                  <a:lnTo>
                    <a:pt x="176784" y="783336"/>
                  </a:lnTo>
                  <a:lnTo>
                    <a:pt x="0" y="606551"/>
                  </a:lnTo>
                  <a:close/>
                </a:path>
              </a:pathLst>
            </a:custGeom>
            <a:ln w="12698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37631" y="3776472"/>
              <a:ext cx="6458712" cy="193395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621273" y="4342637"/>
              <a:ext cx="2129155" cy="632460"/>
            </a:xfrm>
            <a:custGeom>
              <a:avLst/>
              <a:gdLst/>
              <a:ahLst/>
              <a:cxnLst/>
              <a:rect l="l" t="t" r="r" b="b"/>
              <a:pathLst>
                <a:path w="2129154" h="632460">
                  <a:moveTo>
                    <a:pt x="0" y="632460"/>
                  </a:moveTo>
                  <a:lnTo>
                    <a:pt x="2129028" y="632460"/>
                  </a:lnTo>
                  <a:lnTo>
                    <a:pt x="2129028" y="0"/>
                  </a:lnTo>
                  <a:lnTo>
                    <a:pt x="0" y="0"/>
                  </a:lnTo>
                  <a:lnTo>
                    <a:pt x="0" y="632460"/>
                  </a:lnTo>
                  <a:close/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8176386" y="5715711"/>
            <a:ext cx="13284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pubspec.yaml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510788" y="916304"/>
            <a:ext cx="14808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Calibri"/>
                <a:cs typeface="Calibri"/>
              </a:rPr>
              <a:t>Remove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“#”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406519" y="1243838"/>
            <a:ext cx="1482090" cy="609600"/>
            <a:chOff x="4406519" y="1243838"/>
            <a:chExt cx="1482090" cy="609600"/>
          </a:xfrm>
        </p:grpSpPr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03391" y="1782699"/>
              <a:ext cx="84962" cy="70612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406519" y="1243838"/>
              <a:ext cx="1413510" cy="580390"/>
            </a:xfrm>
            <a:custGeom>
              <a:avLst/>
              <a:gdLst/>
              <a:ahLst/>
              <a:cxnLst/>
              <a:rect l="l" t="t" r="r" b="b"/>
              <a:pathLst>
                <a:path w="1413510" h="580389">
                  <a:moveTo>
                    <a:pt x="4825" y="0"/>
                  </a:moveTo>
                  <a:lnTo>
                    <a:pt x="0" y="11684"/>
                  </a:lnTo>
                  <a:lnTo>
                    <a:pt x="1408810" y="580136"/>
                  </a:lnTo>
                  <a:lnTo>
                    <a:pt x="1413509" y="568325"/>
                  </a:lnTo>
                  <a:lnTo>
                    <a:pt x="482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Mobile</a:t>
            </a:r>
            <a:r>
              <a:rPr dirty="0" spc="-40"/>
              <a:t> </a:t>
            </a:r>
            <a:r>
              <a:rPr dirty="0" spc="-20"/>
              <a:t>Application </a:t>
            </a:r>
            <a:r>
              <a:rPr dirty="0" spc="-10"/>
              <a:t>System</a:t>
            </a:r>
            <a:r>
              <a:rPr dirty="0" spc="-95"/>
              <a:t> </a:t>
            </a:r>
            <a:r>
              <a:rPr dirty="0" spc="-10"/>
              <a:t>Design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6991" y="1840992"/>
            <a:ext cx="4082796" cy="2610611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6268206"/>
            <a:ext cx="12192000" cy="589915"/>
            <a:chOff x="0" y="6268206"/>
            <a:chExt cx="12192000" cy="58991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39400" y="6268206"/>
              <a:ext cx="1752600" cy="58978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6268209"/>
              <a:ext cx="10439400" cy="589915"/>
            </a:xfrm>
            <a:custGeom>
              <a:avLst/>
              <a:gdLst/>
              <a:ahLst/>
              <a:cxnLst/>
              <a:rect l="l" t="t" r="r" b="b"/>
              <a:pathLst>
                <a:path w="10439400" h="589915">
                  <a:moveTo>
                    <a:pt x="10439400" y="0"/>
                  </a:moveTo>
                  <a:lnTo>
                    <a:pt x="0" y="0"/>
                  </a:lnTo>
                  <a:lnTo>
                    <a:pt x="0" y="589788"/>
                  </a:lnTo>
                  <a:lnTo>
                    <a:pt x="10439400" y="589788"/>
                  </a:lnTo>
                  <a:lnTo>
                    <a:pt x="10439400" y="0"/>
                  </a:lnTo>
                  <a:close/>
                </a:path>
              </a:pathLst>
            </a:custGeom>
            <a:solidFill>
              <a:srgbClr val="1F396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0" y="164592"/>
            <a:ext cx="12192000" cy="702945"/>
          </a:xfrm>
          <a:custGeom>
            <a:avLst/>
            <a:gdLst/>
            <a:ahLst/>
            <a:cxnLst/>
            <a:rect l="l" t="t" r="r" b="b"/>
            <a:pathLst>
              <a:path w="12192000" h="702944">
                <a:moveTo>
                  <a:pt x="12192000" y="0"/>
                </a:moveTo>
                <a:lnTo>
                  <a:pt x="0" y="0"/>
                </a:lnTo>
                <a:lnTo>
                  <a:pt x="0" y="702564"/>
                </a:lnTo>
                <a:lnTo>
                  <a:pt x="12192000" y="702564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386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2014" rIns="0" bIns="0" rtlCol="0" vert="horz">
            <a:spAutoFit/>
          </a:bodyPr>
          <a:lstStyle/>
          <a:p>
            <a:pPr marL="93345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Example</a:t>
            </a:r>
            <a:r>
              <a:rPr dirty="0" spc="-80"/>
              <a:t> </a:t>
            </a:r>
            <a:r>
              <a:rPr dirty="0"/>
              <a:t>5</a:t>
            </a:r>
            <a:r>
              <a:rPr dirty="0" spc="-105"/>
              <a:t> </a:t>
            </a:r>
            <a:r>
              <a:rPr dirty="0" spc="-25"/>
              <a:t>App</a:t>
            </a:r>
          </a:p>
        </p:txBody>
      </p:sp>
      <p:sp>
        <p:nvSpPr>
          <p:cNvPr id="8" name="object 8"/>
          <p:cNvSpPr/>
          <p:nvPr/>
        </p:nvSpPr>
        <p:spPr>
          <a:xfrm>
            <a:off x="415290" y="2209038"/>
            <a:ext cx="2519680" cy="1640205"/>
          </a:xfrm>
          <a:custGeom>
            <a:avLst/>
            <a:gdLst/>
            <a:ahLst/>
            <a:cxnLst/>
            <a:rect l="l" t="t" r="r" b="b"/>
            <a:pathLst>
              <a:path w="2519680" h="1640204">
                <a:moveTo>
                  <a:pt x="0" y="1639824"/>
                </a:moveTo>
                <a:lnTo>
                  <a:pt x="2519172" y="1639824"/>
                </a:lnTo>
                <a:lnTo>
                  <a:pt x="2519172" y="0"/>
                </a:lnTo>
                <a:lnTo>
                  <a:pt x="0" y="0"/>
                </a:lnTo>
                <a:lnTo>
                  <a:pt x="0" y="1639824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618614" y="4572380"/>
            <a:ext cx="13284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pubspec.yaml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419344" y="1158239"/>
            <a:ext cx="5020310" cy="4770120"/>
            <a:chOff x="5419344" y="1158239"/>
            <a:chExt cx="5020310" cy="4770120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19344" y="1158239"/>
              <a:ext cx="5020056" cy="477012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950458" y="1518665"/>
              <a:ext cx="4066540" cy="3657600"/>
            </a:xfrm>
            <a:custGeom>
              <a:avLst/>
              <a:gdLst/>
              <a:ahLst/>
              <a:cxnLst/>
              <a:rect l="l" t="t" r="r" b="b"/>
              <a:pathLst>
                <a:path w="4066540" h="3657600">
                  <a:moveTo>
                    <a:pt x="1207008" y="3657600"/>
                  </a:moveTo>
                  <a:lnTo>
                    <a:pt x="4066032" y="3657600"/>
                  </a:lnTo>
                  <a:lnTo>
                    <a:pt x="4066032" y="3419856"/>
                  </a:lnTo>
                  <a:lnTo>
                    <a:pt x="1207008" y="3419856"/>
                  </a:lnTo>
                  <a:lnTo>
                    <a:pt x="1207008" y="3657600"/>
                  </a:lnTo>
                  <a:close/>
                </a:path>
                <a:path w="4066540" h="3657600">
                  <a:moveTo>
                    <a:pt x="0" y="323088"/>
                  </a:moveTo>
                  <a:lnTo>
                    <a:pt x="2859024" y="323088"/>
                  </a:lnTo>
                  <a:lnTo>
                    <a:pt x="2859024" y="0"/>
                  </a:lnTo>
                  <a:lnTo>
                    <a:pt x="0" y="0"/>
                  </a:lnTo>
                  <a:lnTo>
                    <a:pt x="0" y="323088"/>
                  </a:lnTo>
                  <a:close/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7104633" y="5904687"/>
            <a:ext cx="22720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gradient_container.dart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Mobile</a:t>
            </a:r>
            <a:r>
              <a:rPr dirty="0" spc="-40"/>
              <a:t> </a:t>
            </a:r>
            <a:r>
              <a:rPr dirty="0" spc="-20"/>
              <a:t>Application </a:t>
            </a:r>
            <a:r>
              <a:rPr dirty="0" spc="-10"/>
              <a:t>System</a:t>
            </a:r>
            <a:r>
              <a:rPr dirty="0" spc="-95"/>
              <a:t> </a:t>
            </a:r>
            <a:r>
              <a:rPr dirty="0" spc="-10"/>
              <a:t>Design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2014" rIns="0" bIns="0" rtlCol="0" vert="horz">
            <a:spAutoFit/>
          </a:bodyPr>
          <a:lstStyle/>
          <a:p>
            <a:pPr marL="93345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Example</a:t>
            </a:r>
            <a:r>
              <a:rPr dirty="0" spc="-90"/>
              <a:t> </a:t>
            </a:r>
            <a:r>
              <a:rPr dirty="0"/>
              <a:t>5</a:t>
            </a:r>
            <a:r>
              <a:rPr dirty="0" spc="-105"/>
              <a:t> </a:t>
            </a:r>
            <a:r>
              <a:rPr dirty="0" spc="-25"/>
              <a:t>App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33044" y="1533144"/>
            <a:ext cx="5363210" cy="3049905"/>
            <a:chOff x="733044" y="1533144"/>
            <a:chExt cx="5363210" cy="30499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3044" y="1533144"/>
              <a:ext cx="5362956" cy="304952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376934" y="2151126"/>
              <a:ext cx="4584700" cy="239395"/>
            </a:xfrm>
            <a:custGeom>
              <a:avLst/>
              <a:gdLst/>
              <a:ahLst/>
              <a:cxnLst/>
              <a:rect l="l" t="t" r="r" b="b"/>
              <a:pathLst>
                <a:path w="4584700" h="239394">
                  <a:moveTo>
                    <a:pt x="0" y="239267"/>
                  </a:moveTo>
                  <a:lnTo>
                    <a:pt x="4584192" y="239267"/>
                  </a:lnTo>
                  <a:lnTo>
                    <a:pt x="4584192" y="0"/>
                  </a:lnTo>
                  <a:lnTo>
                    <a:pt x="0" y="0"/>
                  </a:lnTo>
                  <a:lnTo>
                    <a:pt x="0" y="239267"/>
                  </a:lnTo>
                  <a:close/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2673223" y="4727270"/>
            <a:ext cx="94996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main.dart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17992" y="1190244"/>
            <a:ext cx="2055876" cy="430530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Mobile</a:t>
            </a:r>
            <a:r>
              <a:rPr dirty="0" spc="-40"/>
              <a:t> </a:t>
            </a:r>
            <a:r>
              <a:rPr dirty="0" spc="-20"/>
              <a:t>Application </a:t>
            </a:r>
            <a:r>
              <a:rPr dirty="0" spc="-10"/>
              <a:t>System</a:t>
            </a:r>
            <a:r>
              <a:rPr dirty="0" spc="-95"/>
              <a:t> </a:t>
            </a:r>
            <a:r>
              <a:rPr dirty="0" spc="-10"/>
              <a:t>Design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130808"/>
            <a:ext cx="4082796" cy="4768596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6268206"/>
            <a:ext cx="12192000" cy="589915"/>
            <a:chOff x="0" y="6268206"/>
            <a:chExt cx="12192000" cy="58991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39400" y="6268206"/>
              <a:ext cx="1752600" cy="58978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6268209"/>
              <a:ext cx="10439400" cy="589915"/>
            </a:xfrm>
            <a:custGeom>
              <a:avLst/>
              <a:gdLst/>
              <a:ahLst/>
              <a:cxnLst/>
              <a:rect l="l" t="t" r="r" b="b"/>
              <a:pathLst>
                <a:path w="10439400" h="589915">
                  <a:moveTo>
                    <a:pt x="10439400" y="0"/>
                  </a:moveTo>
                  <a:lnTo>
                    <a:pt x="0" y="0"/>
                  </a:lnTo>
                  <a:lnTo>
                    <a:pt x="0" y="589788"/>
                  </a:lnTo>
                  <a:lnTo>
                    <a:pt x="10439400" y="589788"/>
                  </a:lnTo>
                  <a:lnTo>
                    <a:pt x="10439400" y="0"/>
                  </a:lnTo>
                  <a:close/>
                </a:path>
              </a:pathLst>
            </a:custGeom>
            <a:solidFill>
              <a:srgbClr val="1F396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0" y="164592"/>
            <a:ext cx="12192000" cy="702945"/>
          </a:xfrm>
          <a:custGeom>
            <a:avLst/>
            <a:gdLst/>
            <a:ahLst/>
            <a:cxnLst/>
            <a:rect l="l" t="t" r="r" b="b"/>
            <a:pathLst>
              <a:path w="12192000" h="702944">
                <a:moveTo>
                  <a:pt x="12192000" y="0"/>
                </a:moveTo>
                <a:lnTo>
                  <a:pt x="0" y="0"/>
                </a:lnTo>
                <a:lnTo>
                  <a:pt x="0" y="702564"/>
                </a:lnTo>
                <a:lnTo>
                  <a:pt x="12192000" y="702564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386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2014" rIns="0" bIns="0" rtlCol="0" vert="horz">
            <a:spAutoFit/>
          </a:bodyPr>
          <a:lstStyle/>
          <a:p>
            <a:pPr marL="93345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Example</a:t>
            </a:r>
            <a:r>
              <a:rPr dirty="0" spc="-90"/>
              <a:t> </a:t>
            </a:r>
            <a:r>
              <a:rPr dirty="0"/>
              <a:t>5</a:t>
            </a:r>
            <a:r>
              <a:rPr dirty="0" spc="-105"/>
              <a:t> </a:t>
            </a:r>
            <a:r>
              <a:rPr dirty="0" spc="-25"/>
              <a:t>App</a:t>
            </a:r>
          </a:p>
        </p:txBody>
      </p:sp>
      <p:sp>
        <p:nvSpPr>
          <p:cNvPr id="8" name="object 8"/>
          <p:cNvSpPr/>
          <p:nvPr/>
        </p:nvSpPr>
        <p:spPr>
          <a:xfrm>
            <a:off x="2023110" y="4688585"/>
            <a:ext cx="1894839" cy="384175"/>
          </a:xfrm>
          <a:custGeom>
            <a:avLst/>
            <a:gdLst/>
            <a:ahLst/>
            <a:cxnLst/>
            <a:rect l="l" t="t" r="r" b="b"/>
            <a:pathLst>
              <a:path w="1894839" h="384175">
                <a:moveTo>
                  <a:pt x="0" y="384048"/>
                </a:moveTo>
                <a:lnTo>
                  <a:pt x="1894332" y="384048"/>
                </a:lnTo>
                <a:lnTo>
                  <a:pt x="1894332" y="0"/>
                </a:lnTo>
                <a:lnTo>
                  <a:pt x="0" y="0"/>
                </a:lnTo>
                <a:lnTo>
                  <a:pt x="0" y="384048"/>
                </a:lnTo>
                <a:close/>
              </a:path>
            </a:pathLst>
          </a:custGeom>
          <a:ln w="19048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94804" y="1130808"/>
            <a:ext cx="2286000" cy="4872228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869694" y="5849823"/>
            <a:ext cx="22720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gradient_container.dart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Mobile</a:t>
            </a:r>
            <a:r>
              <a:rPr dirty="0" spc="-40"/>
              <a:t> </a:t>
            </a:r>
            <a:r>
              <a:rPr dirty="0" spc="-20"/>
              <a:t>Application </a:t>
            </a:r>
            <a:r>
              <a:rPr dirty="0" spc="-10"/>
              <a:t>System</a:t>
            </a:r>
            <a:r>
              <a:rPr dirty="0" spc="-95"/>
              <a:t> </a:t>
            </a:r>
            <a:r>
              <a:rPr dirty="0" spc="-10"/>
              <a:t>Design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031" y="1103375"/>
            <a:ext cx="3336036" cy="47625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6268206"/>
            <a:ext cx="12192000" cy="589915"/>
            <a:chOff x="0" y="6268206"/>
            <a:chExt cx="12192000" cy="58991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39400" y="6268206"/>
              <a:ext cx="1752600" cy="58978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6268209"/>
              <a:ext cx="10439400" cy="589915"/>
            </a:xfrm>
            <a:custGeom>
              <a:avLst/>
              <a:gdLst/>
              <a:ahLst/>
              <a:cxnLst/>
              <a:rect l="l" t="t" r="r" b="b"/>
              <a:pathLst>
                <a:path w="10439400" h="589915">
                  <a:moveTo>
                    <a:pt x="10439400" y="0"/>
                  </a:moveTo>
                  <a:lnTo>
                    <a:pt x="0" y="0"/>
                  </a:lnTo>
                  <a:lnTo>
                    <a:pt x="0" y="589788"/>
                  </a:lnTo>
                  <a:lnTo>
                    <a:pt x="10439400" y="589788"/>
                  </a:lnTo>
                  <a:lnTo>
                    <a:pt x="10439400" y="0"/>
                  </a:lnTo>
                  <a:close/>
                </a:path>
              </a:pathLst>
            </a:custGeom>
            <a:solidFill>
              <a:srgbClr val="1F396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0" y="164592"/>
            <a:ext cx="12192000" cy="702945"/>
          </a:xfrm>
          <a:custGeom>
            <a:avLst/>
            <a:gdLst/>
            <a:ahLst/>
            <a:cxnLst/>
            <a:rect l="l" t="t" r="r" b="b"/>
            <a:pathLst>
              <a:path w="12192000" h="702944">
                <a:moveTo>
                  <a:pt x="12192000" y="0"/>
                </a:moveTo>
                <a:lnTo>
                  <a:pt x="0" y="0"/>
                </a:lnTo>
                <a:lnTo>
                  <a:pt x="0" y="702564"/>
                </a:lnTo>
                <a:lnTo>
                  <a:pt x="12192000" y="702564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386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2014" rIns="0" bIns="0" rtlCol="0" vert="horz">
            <a:spAutoFit/>
          </a:bodyPr>
          <a:lstStyle/>
          <a:p>
            <a:pPr marL="93345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Example</a:t>
            </a:r>
            <a:r>
              <a:rPr dirty="0" spc="-90"/>
              <a:t> </a:t>
            </a:r>
            <a:r>
              <a:rPr dirty="0"/>
              <a:t>5</a:t>
            </a:r>
            <a:r>
              <a:rPr dirty="0" spc="-105"/>
              <a:t> </a:t>
            </a:r>
            <a:r>
              <a:rPr dirty="0" spc="-25"/>
              <a:t>App</a:t>
            </a:r>
          </a:p>
        </p:txBody>
      </p:sp>
      <p:sp>
        <p:nvSpPr>
          <p:cNvPr id="8" name="object 8"/>
          <p:cNvSpPr/>
          <p:nvPr/>
        </p:nvSpPr>
        <p:spPr>
          <a:xfrm>
            <a:off x="983741" y="4072890"/>
            <a:ext cx="2295525" cy="1198245"/>
          </a:xfrm>
          <a:custGeom>
            <a:avLst/>
            <a:gdLst/>
            <a:ahLst/>
            <a:cxnLst/>
            <a:rect l="l" t="t" r="r" b="b"/>
            <a:pathLst>
              <a:path w="2295525" h="1198245">
                <a:moveTo>
                  <a:pt x="0" y="1197864"/>
                </a:moveTo>
                <a:lnTo>
                  <a:pt x="2295144" y="1197864"/>
                </a:lnTo>
                <a:lnTo>
                  <a:pt x="2295144" y="0"/>
                </a:lnTo>
                <a:lnTo>
                  <a:pt x="0" y="0"/>
                </a:lnTo>
                <a:lnTo>
                  <a:pt x="0" y="1197864"/>
                </a:lnTo>
                <a:close/>
              </a:path>
            </a:pathLst>
          </a:custGeom>
          <a:ln w="19048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40935" y="1080516"/>
            <a:ext cx="3250691" cy="478536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874267" y="5871159"/>
            <a:ext cx="22720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gradient_container.dart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03978" y="5849823"/>
            <a:ext cx="22720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gradient_container.dart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758690" y="1779270"/>
            <a:ext cx="2359660" cy="3784600"/>
          </a:xfrm>
          <a:custGeom>
            <a:avLst/>
            <a:gdLst/>
            <a:ahLst/>
            <a:cxnLst/>
            <a:rect l="l" t="t" r="r" b="b"/>
            <a:pathLst>
              <a:path w="2359659" h="3784600">
                <a:moveTo>
                  <a:pt x="478536" y="3784092"/>
                </a:moveTo>
                <a:lnTo>
                  <a:pt x="2359152" y="3784092"/>
                </a:lnTo>
                <a:lnTo>
                  <a:pt x="2359152" y="3241548"/>
                </a:lnTo>
                <a:lnTo>
                  <a:pt x="478536" y="3241548"/>
                </a:lnTo>
                <a:lnTo>
                  <a:pt x="478536" y="3784092"/>
                </a:lnTo>
                <a:close/>
              </a:path>
              <a:path w="2359659" h="3784600">
                <a:moveTo>
                  <a:pt x="0" y="541020"/>
                </a:moveTo>
                <a:lnTo>
                  <a:pt x="1879091" y="541020"/>
                </a:lnTo>
                <a:lnTo>
                  <a:pt x="1879091" y="0"/>
                </a:lnTo>
                <a:lnTo>
                  <a:pt x="0" y="0"/>
                </a:lnTo>
                <a:lnTo>
                  <a:pt x="0" y="541020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820911" y="1103375"/>
            <a:ext cx="2168652" cy="4785360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Mobile</a:t>
            </a:r>
            <a:r>
              <a:rPr dirty="0" spc="-40"/>
              <a:t> </a:t>
            </a:r>
            <a:r>
              <a:rPr dirty="0" spc="-20"/>
              <a:t>Application </a:t>
            </a:r>
            <a:r>
              <a:rPr dirty="0" spc="-10"/>
              <a:t>System</a:t>
            </a:r>
            <a:r>
              <a:rPr dirty="0" spc="-95"/>
              <a:t> </a:t>
            </a:r>
            <a:r>
              <a:rPr dirty="0" spc="-10"/>
              <a:t>Design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2014" rIns="0" bIns="0" rtlCol="0" vert="horz">
            <a:spAutoFit/>
          </a:bodyPr>
          <a:lstStyle/>
          <a:p>
            <a:pPr marL="93345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Example</a:t>
            </a:r>
            <a:r>
              <a:rPr dirty="0" spc="-90"/>
              <a:t> </a:t>
            </a:r>
            <a:r>
              <a:rPr dirty="0"/>
              <a:t>5</a:t>
            </a:r>
            <a:r>
              <a:rPr dirty="0" spc="-105"/>
              <a:t> </a:t>
            </a:r>
            <a:r>
              <a:rPr dirty="0" spc="-25"/>
              <a:t>App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46986" y="5574893"/>
            <a:ext cx="22720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gradient_container.dart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255775" y="1103375"/>
            <a:ext cx="3206750" cy="4377055"/>
            <a:chOff x="1255775" y="1103375"/>
            <a:chExt cx="3206750" cy="437705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5775" y="1103375"/>
              <a:ext cx="3206496" cy="437692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820417" y="3650741"/>
              <a:ext cx="2019300" cy="205740"/>
            </a:xfrm>
            <a:custGeom>
              <a:avLst/>
              <a:gdLst/>
              <a:ahLst/>
              <a:cxnLst/>
              <a:rect l="l" t="t" r="r" b="b"/>
              <a:pathLst>
                <a:path w="2019300" h="205739">
                  <a:moveTo>
                    <a:pt x="0" y="205739"/>
                  </a:moveTo>
                  <a:lnTo>
                    <a:pt x="2019300" y="205739"/>
                  </a:lnTo>
                  <a:lnTo>
                    <a:pt x="2019300" y="0"/>
                  </a:lnTo>
                  <a:lnTo>
                    <a:pt x="0" y="0"/>
                  </a:lnTo>
                  <a:lnTo>
                    <a:pt x="0" y="205739"/>
                  </a:lnTo>
                  <a:close/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00900" y="1103375"/>
            <a:ext cx="2080259" cy="4715256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Mobile</a:t>
            </a:r>
            <a:r>
              <a:rPr dirty="0" spc="-40"/>
              <a:t> </a:t>
            </a:r>
            <a:r>
              <a:rPr dirty="0" spc="-20"/>
              <a:t>Application </a:t>
            </a:r>
            <a:r>
              <a:rPr dirty="0" spc="-10"/>
              <a:t>System</a:t>
            </a:r>
            <a:r>
              <a:rPr dirty="0" spc="-95"/>
              <a:t> </a:t>
            </a:r>
            <a:r>
              <a:rPr dirty="0" spc="-10"/>
              <a:t>Design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9160" y="1063752"/>
            <a:ext cx="4475988" cy="4506468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6268206"/>
            <a:ext cx="12192000" cy="589915"/>
            <a:chOff x="0" y="6268206"/>
            <a:chExt cx="12192000" cy="58991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39400" y="6268206"/>
              <a:ext cx="1752600" cy="58978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6268209"/>
              <a:ext cx="10439400" cy="589915"/>
            </a:xfrm>
            <a:custGeom>
              <a:avLst/>
              <a:gdLst/>
              <a:ahLst/>
              <a:cxnLst/>
              <a:rect l="l" t="t" r="r" b="b"/>
              <a:pathLst>
                <a:path w="10439400" h="589915">
                  <a:moveTo>
                    <a:pt x="10439400" y="0"/>
                  </a:moveTo>
                  <a:lnTo>
                    <a:pt x="0" y="0"/>
                  </a:lnTo>
                  <a:lnTo>
                    <a:pt x="0" y="589788"/>
                  </a:lnTo>
                  <a:lnTo>
                    <a:pt x="10439400" y="589788"/>
                  </a:lnTo>
                  <a:lnTo>
                    <a:pt x="10439400" y="0"/>
                  </a:lnTo>
                  <a:close/>
                </a:path>
              </a:pathLst>
            </a:custGeom>
            <a:solidFill>
              <a:srgbClr val="1F396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0" y="164592"/>
            <a:ext cx="12192000" cy="702945"/>
          </a:xfrm>
          <a:custGeom>
            <a:avLst/>
            <a:gdLst/>
            <a:ahLst/>
            <a:cxnLst/>
            <a:rect l="l" t="t" r="r" b="b"/>
            <a:pathLst>
              <a:path w="12192000" h="702944">
                <a:moveTo>
                  <a:pt x="12192000" y="0"/>
                </a:moveTo>
                <a:lnTo>
                  <a:pt x="0" y="0"/>
                </a:lnTo>
                <a:lnTo>
                  <a:pt x="0" y="702564"/>
                </a:lnTo>
                <a:lnTo>
                  <a:pt x="12192000" y="702564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386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2014" rIns="0" bIns="0" rtlCol="0" vert="horz">
            <a:spAutoFit/>
          </a:bodyPr>
          <a:lstStyle/>
          <a:p>
            <a:pPr marL="93345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Example</a:t>
            </a:r>
            <a:r>
              <a:rPr dirty="0" spc="-90"/>
              <a:t> </a:t>
            </a:r>
            <a:r>
              <a:rPr dirty="0"/>
              <a:t>5</a:t>
            </a:r>
            <a:r>
              <a:rPr dirty="0" spc="-105"/>
              <a:t> </a:t>
            </a:r>
            <a:r>
              <a:rPr dirty="0" spc="-25"/>
              <a:t>App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546986" y="5574893"/>
            <a:ext cx="22720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gradient_container.dart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902714" y="3316985"/>
            <a:ext cx="3368040" cy="1480185"/>
          </a:xfrm>
          <a:custGeom>
            <a:avLst/>
            <a:gdLst/>
            <a:ahLst/>
            <a:cxnLst/>
            <a:rect l="l" t="t" r="r" b="b"/>
            <a:pathLst>
              <a:path w="3368040" h="1480185">
                <a:moveTo>
                  <a:pt x="0" y="1479803"/>
                </a:moveTo>
                <a:lnTo>
                  <a:pt x="3368040" y="1479803"/>
                </a:lnTo>
                <a:lnTo>
                  <a:pt x="3368040" y="0"/>
                </a:lnTo>
                <a:lnTo>
                  <a:pt x="0" y="0"/>
                </a:lnTo>
                <a:lnTo>
                  <a:pt x="0" y="1479803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16723" y="978408"/>
            <a:ext cx="2275331" cy="4960620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Mobile</a:t>
            </a:r>
            <a:r>
              <a:rPr dirty="0" spc="-40"/>
              <a:t> </a:t>
            </a:r>
            <a:r>
              <a:rPr dirty="0" spc="-20"/>
              <a:t>Application </a:t>
            </a:r>
            <a:r>
              <a:rPr dirty="0" spc="-10"/>
              <a:t>System</a:t>
            </a:r>
            <a:r>
              <a:rPr dirty="0" spc="-95"/>
              <a:t> </a:t>
            </a:r>
            <a:r>
              <a:rPr dirty="0" spc="-10"/>
              <a:t>Design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2014" rIns="0" bIns="0" rtlCol="0" vert="horz">
            <a:spAutoFit/>
          </a:bodyPr>
          <a:lstStyle/>
          <a:p>
            <a:pPr marL="93345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Example</a:t>
            </a:r>
            <a:r>
              <a:rPr dirty="0" spc="-90"/>
              <a:t> </a:t>
            </a:r>
            <a:r>
              <a:rPr dirty="0"/>
              <a:t>5</a:t>
            </a:r>
            <a:r>
              <a:rPr dirty="0" spc="-105"/>
              <a:t> </a:t>
            </a:r>
            <a:r>
              <a:rPr dirty="0" spc="-25"/>
              <a:t>App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0795" y="5805627"/>
            <a:ext cx="14763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dice_roller.dart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5819" y="1097280"/>
            <a:ext cx="4053839" cy="4654296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6179820" y="1097280"/>
            <a:ext cx="4259580" cy="4604385"/>
            <a:chOff x="6179820" y="1097280"/>
            <a:chExt cx="4259580" cy="460438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79820" y="1097280"/>
              <a:ext cx="3800855" cy="460400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428994" y="2045969"/>
              <a:ext cx="3369945" cy="3502660"/>
            </a:xfrm>
            <a:custGeom>
              <a:avLst/>
              <a:gdLst/>
              <a:ahLst/>
              <a:cxnLst/>
              <a:rect l="l" t="t" r="r" b="b"/>
              <a:pathLst>
                <a:path w="3369945" h="3502660">
                  <a:moveTo>
                    <a:pt x="0" y="3502152"/>
                  </a:moveTo>
                  <a:lnTo>
                    <a:pt x="3369563" y="3502152"/>
                  </a:lnTo>
                  <a:lnTo>
                    <a:pt x="3369563" y="0"/>
                  </a:lnTo>
                  <a:lnTo>
                    <a:pt x="0" y="0"/>
                  </a:lnTo>
                  <a:lnTo>
                    <a:pt x="0" y="3502152"/>
                  </a:lnTo>
                  <a:close/>
                </a:path>
              </a:pathLst>
            </a:custGeom>
            <a:ln w="1904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189468" y="3120262"/>
              <a:ext cx="2249805" cy="130810"/>
            </a:xfrm>
            <a:custGeom>
              <a:avLst/>
              <a:gdLst/>
              <a:ahLst/>
              <a:cxnLst/>
              <a:rect l="l" t="t" r="r" b="b"/>
              <a:pathLst>
                <a:path w="2249804" h="130810">
                  <a:moveTo>
                    <a:pt x="761" y="0"/>
                  </a:moveTo>
                  <a:lnTo>
                    <a:pt x="0" y="12700"/>
                  </a:lnTo>
                  <a:lnTo>
                    <a:pt x="2249170" y="130428"/>
                  </a:lnTo>
                  <a:lnTo>
                    <a:pt x="2249804" y="117856"/>
                  </a:lnTo>
                  <a:lnTo>
                    <a:pt x="76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13776" y="3088640"/>
              <a:ext cx="78104" cy="76073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7372350" y="5765698"/>
            <a:ext cx="14763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dice_roller.dart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Mobile</a:t>
            </a:r>
            <a:r>
              <a:rPr dirty="0" spc="-40"/>
              <a:t> </a:t>
            </a:r>
            <a:r>
              <a:rPr dirty="0" spc="-20"/>
              <a:t>Application </a:t>
            </a:r>
            <a:r>
              <a:rPr dirty="0" spc="-10"/>
              <a:t>System</a:t>
            </a:r>
            <a:r>
              <a:rPr dirty="0" spc="-95"/>
              <a:t> </a:t>
            </a:r>
            <a:r>
              <a:rPr dirty="0" spc="-10"/>
              <a:t>Design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0519664" y="2925317"/>
            <a:ext cx="132969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Change</a:t>
            </a:r>
            <a:r>
              <a:rPr dirty="0" sz="1800" spc="-95">
                <a:latin typeface="Calibri"/>
                <a:cs typeface="Calibri"/>
              </a:rPr>
              <a:t> </a:t>
            </a:r>
            <a:r>
              <a:rPr dirty="0" sz="1800" spc="-35">
                <a:latin typeface="Calibri"/>
                <a:cs typeface="Calibri"/>
              </a:rPr>
              <a:t>to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latin typeface="Calibri"/>
                <a:cs typeface="Calibri"/>
              </a:rPr>
              <a:t>variable</a:t>
            </a:r>
            <a:r>
              <a:rPr dirty="0" sz="1800" spc="-90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name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2014" rIns="0" bIns="0" rtlCol="0" vert="horz">
            <a:spAutoFit/>
          </a:bodyPr>
          <a:lstStyle/>
          <a:p>
            <a:pPr marL="93345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Example</a:t>
            </a:r>
            <a:r>
              <a:rPr dirty="0" spc="-90"/>
              <a:t> </a:t>
            </a:r>
            <a:r>
              <a:rPr dirty="0"/>
              <a:t>5</a:t>
            </a:r>
            <a:r>
              <a:rPr dirty="0" spc="-105"/>
              <a:t> </a:t>
            </a:r>
            <a:r>
              <a:rPr dirty="0" spc="-25"/>
              <a:t>App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29639" y="1155191"/>
            <a:ext cx="3797935" cy="4761230"/>
            <a:chOff x="929639" y="1155191"/>
            <a:chExt cx="3797935" cy="476123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9639" y="1155191"/>
              <a:ext cx="3797808" cy="476097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890522" y="4994909"/>
              <a:ext cx="1301750" cy="200025"/>
            </a:xfrm>
            <a:custGeom>
              <a:avLst/>
              <a:gdLst/>
              <a:ahLst/>
              <a:cxnLst/>
              <a:rect l="l" t="t" r="r" b="b"/>
              <a:pathLst>
                <a:path w="1301750" h="200025">
                  <a:moveTo>
                    <a:pt x="0" y="199644"/>
                  </a:moveTo>
                  <a:lnTo>
                    <a:pt x="1301496" y="199644"/>
                  </a:lnTo>
                  <a:lnTo>
                    <a:pt x="1301496" y="0"/>
                  </a:lnTo>
                  <a:lnTo>
                    <a:pt x="0" y="0"/>
                  </a:lnTo>
                  <a:lnTo>
                    <a:pt x="0" y="199644"/>
                  </a:lnTo>
                  <a:close/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6051803" y="1267967"/>
            <a:ext cx="3098800" cy="4381500"/>
            <a:chOff x="6051803" y="1267967"/>
            <a:chExt cx="3098800" cy="43815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51803" y="1267967"/>
              <a:ext cx="1965959" cy="43815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365491" y="4010405"/>
              <a:ext cx="1100455" cy="498475"/>
            </a:xfrm>
            <a:custGeom>
              <a:avLst/>
              <a:gdLst/>
              <a:ahLst/>
              <a:cxnLst/>
              <a:rect l="l" t="t" r="r" b="b"/>
              <a:pathLst>
                <a:path w="1100454" h="498475">
                  <a:moveTo>
                    <a:pt x="5206" y="0"/>
                  </a:moveTo>
                  <a:lnTo>
                    <a:pt x="0" y="11557"/>
                  </a:lnTo>
                  <a:lnTo>
                    <a:pt x="1094866" y="498221"/>
                  </a:lnTo>
                  <a:lnTo>
                    <a:pt x="1100074" y="486664"/>
                  </a:lnTo>
                  <a:lnTo>
                    <a:pt x="520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98435" y="3981450"/>
              <a:ext cx="85090" cy="6959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177783" y="3273551"/>
              <a:ext cx="966469" cy="588645"/>
            </a:xfrm>
            <a:custGeom>
              <a:avLst/>
              <a:gdLst/>
              <a:ahLst/>
              <a:cxnLst/>
              <a:rect l="l" t="t" r="r" b="b"/>
              <a:pathLst>
                <a:path w="966470" h="588645">
                  <a:moveTo>
                    <a:pt x="672084" y="0"/>
                  </a:moveTo>
                  <a:lnTo>
                    <a:pt x="672084" y="147065"/>
                  </a:lnTo>
                  <a:lnTo>
                    <a:pt x="0" y="147065"/>
                  </a:lnTo>
                  <a:lnTo>
                    <a:pt x="0" y="441198"/>
                  </a:lnTo>
                  <a:lnTo>
                    <a:pt x="672084" y="441198"/>
                  </a:lnTo>
                  <a:lnTo>
                    <a:pt x="672084" y="588264"/>
                  </a:lnTo>
                  <a:lnTo>
                    <a:pt x="966216" y="294132"/>
                  </a:lnTo>
                  <a:lnTo>
                    <a:pt x="672084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8177783" y="3273551"/>
              <a:ext cx="966469" cy="588645"/>
            </a:xfrm>
            <a:custGeom>
              <a:avLst/>
              <a:gdLst/>
              <a:ahLst/>
              <a:cxnLst/>
              <a:rect l="l" t="t" r="r" b="b"/>
              <a:pathLst>
                <a:path w="966470" h="588645">
                  <a:moveTo>
                    <a:pt x="0" y="147065"/>
                  </a:moveTo>
                  <a:lnTo>
                    <a:pt x="672084" y="147065"/>
                  </a:lnTo>
                  <a:lnTo>
                    <a:pt x="672084" y="0"/>
                  </a:lnTo>
                  <a:lnTo>
                    <a:pt x="966216" y="294132"/>
                  </a:lnTo>
                  <a:lnTo>
                    <a:pt x="672084" y="588264"/>
                  </a:lnTo>
                  <a:lnTo>
                    <a:pt x="672084" y="441198"/>
                  </a:lnTo>
                  <a:lnTo>
                    <a:pt x="0" y="441198"/>
                  </a:lnTo>
                  <a:lnTo>
                    <a:pt x="0" y="147065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342119" y="1240536"/>
            <a:ext cx="2023872" cy="4463796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8306816" y="4485513"/>
            <a:ext cx="44513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Calibri"/>
                <a:cs typeface="Calibri"/>
              </a:rPr>
              <a:t>Click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66113" y="5845555"/>
            <a:ext cx="22720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gradient_container.dart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378458" y="1773173"/>
            <a:ext cx="3263265" cy="198120"/>
          </a:xfrm>
          <a:custGeom>
            <a:avLst/>
            <a:gdLst/>
            <a:ahLst/>
            <a:cxnLst/>
            <a:rect l="l" t="t" r="r" b="b"/>
            <a:pathLst>
              <a:path w="3263265" h="198119">
                <a:moveTo>
                  <a:pt x="0" y="198120"/>
                </a:moveTo>
                <a:lnTo>
                  <a:pt x="3262884" y="198120"/>
                </a:lnTo>
                <a:lnTo>
                  <a:pt x="3262884" y="0"/>
                </a:lnTo>
                <a:lnTo>
                  <a:pt x="0" y="0"/>
                </a:lnTo>
                <a:lnTo>
                  <a:pt x="0" y="198120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Mobile</a:t>
            </a:r>
            <a:r>
              <a:rPr dirty="0" spc="-40"/>
              <a:t> </a:t>
            </a:r>
            <a:r>
              <a:rPr dirty="0" spc="-20"/>
              <a:t>Application </a:t>
            </a:r>
            <a:r>
              <a:rPr dirty="0" spc="-10"/>
              <a:t>System</a:t>
            </a:r>
            <a:r>
              <a:rPr dirty="0" spc="-95"/>
              <a:t> </a:t>
            </a:r>
            <a:r>
              <a:rPr dirty="0" spc="-10"/>
              <a:t>Design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5759" y="1892807"/>
            <a:ext cx="5266944" cy="28194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6268206"/>
            <a:ext cx="12192000" cy="589915"/>
            <a:chOff x="0" y="6268206"/>
            <a:chExt cx="12192000" cy="58991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39400" y="6268206"/>
              <a:ext cx="1752600" cy="58978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6268209"/>
              <a:ext cx="10439400" cy="589915"/>
            </a:xfrm>
            <a:custGeom>
              <a:avLst/>
              <a:gdLst/>
              <a:ahLst/>
              <a:cxnLst/>
              <a:rect l="l" t="t" r="r" b="b"/>
              <a:pathLst>
                <a:path w="10439400" h="589915">
                  <a:moveTo>
                    <a:pt x="10439400" y="0"/>
                  </a:moveTo>
                  <a:lnTo>
                    <a:pt x="0" y="0"/>
                  </a:lnTo>
                  <a:lnTo>
                    <a:pt x="0" y="589788"/>
                  </a:lnTo>
                  <a:lnTo>
                    <a:pt x="10439400" y="589788"/>
                  </a:lnTo>
                  <a:lnTo>
                    <a:pt x="10439400" y="0"/>
                  </a:lnTo>
                  <a:close/>
                </a:path>
              </a:pathLst>
            </a:custGeom>
            <a:solidFill>
              <a:srgbClr val="1F396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0" y="164592"/>
            <a:ext cx="12192000" cy="702945"/>
          </a:xfrm>
          <a:custGeom>
            <a:avLst/>
            <a:gdLst/>
            <a:ahLst/>
            <a:cxnLst/>
            <a:rect l="l" t="t" r="r" b="b"/>
            <a:pathLst>
              <a:path w="12192000" h="702944">
                <a:moveTo>
                  <a:pt x="12192000" y="0"/>
                </a:moveTo>
                <a:lnTo>
                  <a:pt x="0" y="0"/>
                </a:lnTo>
                <a:lnTo>
                  <a:pt x="0" y="702564"/>
                </a:lnTo>
                <a:lnTo>
                  <a:pt x="12192000" y="702564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386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2014" rIns="0" bIns="0" rtlCol="0" vert="horz">
            <a:spAutoFit/>
          </a:bodyPr>
          <a:lstStyle/>
          <a:p>
            <a:pPr marL="93345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Example</a:t>
            </a:r>
            <a:r>
              <a:rPr dirty="0" spc="-90"/>
              <a:t> </a:t>
            </a:r>
            <a:r>
              <a:rPr dirty="0"/>
              <a:t>5</a:t>
            </a:r>
            <a:r>
              <a:rPr dirty="0" spc="-105"/>
              <a:t> </a:t>
            </a:r>
            <a:r>
              <a:rPr dirty="0" spc="-25"/>
              <a:t>App</a:t>
            </a: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96940" y="1028700"/>
            <a:ext cx="1965960" cy="4381500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915161" y="3292602"/>
            <a:ext cx="3101340" cy="245745"/>
          </a:xfrm>
          <a:custGeom>
            <a:avLst/>
            <a:gdLst/>
            <a:ahLst/>
            <a:cxnLst/>
            <a:rect l="l" t="t" r="r" b="b"/>
            <a:pathLst>
              <a:path w="3101340" h="245745">
                <a:moveTo>
                  <a:pt x="0" y="245363"/>
                </a:moveTo>
                <a:lnTo>
                  <a:pt x="3101340" y="245363"/>
                </a:lnTo>
                <a:lnTo>
                  <a:pt x="3101340" y="0"/>
                </a:lnTo>
                <a:lnTo>
                  <a:pt x="0" y="0"/>
                </a:lnTo>
                <a:lnTo>
                  <a:pt x="0" y="245363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451607" y="4784852"/>
            <a:ext cx="14763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dice_roller.dart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503170" y="3880865"/>
            <a:ext cx="2743200" cy="245745"/>
          </a:xfrm>
          <a:custGeom>
            <a:avLst/>
            <a:gdLst/>
            <a:ahLst/>
            <a:cxnLst/>
            <a:rect l="l" t="t" r="r" b="b"/>
            <a:pathLst>
              <a:path w="2743200" h="245745">
                <a:moveTo>
                  <a:pt x="0" y="245363"/>
                </a:moveTo>
                <a:lnTo>
                  <a:pt x="2743200" y="245363"/>
                </a:lnTo>
                <a:lnTo>
                  <a:pt x="2743200" y="0"/>
                </a:lnTo>
                <a:lnTo>
                  <a:pt x="0" y="0"/>
                </a:lnTo>
                <a:lnTo>
                  <a:pt x="0" y="245363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045195" y="1028700"/>
            <a:ext cx="1898903" cy="4425696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122407" y="1028700"/>
            <a:ext cx="1923288" cy="4425696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Mobile</a:t>
            </a:r>
            <a:r>
              <a:rPr dirty="0" spc="-40"/>
              <a:t> </a:t>
            </a:r>
            <a:r>
              <a:rPr dirty="0" spc="-20"/>
              <a:t>Application </a:t>
            </a:r>
            <a:r>
              <a:rPr dirty="0" spc="-10"/>
              <a:t>System</a:t>
            </a:r>
            <a:r>
              <a:rPr dirty="0" spc="-95"/>
              <a:t> </a:t>
            </a:r>
            <a:r>
              <a:rPr dirty="0" spc="-10"/>
              <a:t>Design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279394" y="2666441"/>
            <a:ext cx="5023485" cy="84899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400" b="0">
                <a:solidFill>
                  <a:srgbClr val="000000"/>
                </a:solidFill>
                <a:latin typeface="Calibri"/>
                <a:cs typeface="Calibri"/>
              </a:rPr>
              <a:t>See</a:t>
            </a:r>
            <a:r>
              <a:rPr dirty="0" sz="5400" spc="-14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5400" b="0">
                <a:solidFill>
                  <a:srgbClr val="000000"/>
                </a:solidFill>
                <a:latin typeface="Calibri"/>
                <a:cs typeface="Calibri"/>
              </a:rPr>
              <a:t>you</a:t>
            </a:r>
            <a:r>
              <a:rPr dirty="0" sz="5400" spc="-13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5400" b="0">
                <a:solidFill>
                  <a:srgbClr val="000000"/>
                </a:solidFill>
                <a:latin typeface="Calibri"/>
                <a:cs typeface="Calibri"/>
              </a:rPr>
              <a:t>next</a:t>
            </a:r>
            <a:r>
              <a:rPr dirty="0" sz="5400" spc="-9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5400" spc="-10" b="0">
                <a:solidFill>
                  <a:srgbClr val="000000"/>
                </a:solidFill>
                <a:latin typeface="Calibri"/>
                <a:cs typeface="Calibri"/>
              </a:rPr>
              <a:t>class</a:t>
            </a:r>
            <a:endParaRPr sz="5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Bee Guan Teo</dc:creator>
  <dc:title>PowerPoint Presentation</dc:title>
  <dcterms:created xsi:type="dcterms:W3CDTF">2026-06-19T09:38:50Z</dcterms:created>
  <dcterms:modified xsi:type="dcterms:W3CDTF">2026-06-19T09:38:50Z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2026-04-07T00:00:00Z</vt:filetime>
  </property>
  <property fmtid="{D5CDD505-2E9C-101B-9397-08002B2CF9AE}" pid="4" name="Creator">
    <vt:lpwstr>Microsoft® PowerPoint® LTSC</vt:lpwstr>
  </property>
  <property fmtid="{D5CDD505-2E9C-101B-9397-08002B2CF9AE}" pid="5" name="LastSaved">
    <vt:filetime>2026-06-19T00:00:00Z</vt:filetime>
  </property>
  <property fmtid="{D5CDD505-2E9C-101B-9397-08002B2CF9AE}" pid="6" name="Producer">
    <vt:lpwstr>Microsoft® PowerPoint® LTSC</vt:lpwstr>
  </property>
</Properties>
</file>