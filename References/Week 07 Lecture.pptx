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869680" cy="6858000"/>
          </a:xfrm>
          <a:custGeom>
            <a:avLst/>
            <a:gdLst/>
            <a:ahLst/>
            <a:cxnLst/>
            <a:rect l="l" t="t" r="r" b="b"/>
            <a:pathLst>
              <a:path w="8869680" h="6858000">
                <a:moveTo>
                  <a:pt x="0" y="6858000"/>
                </a:moveTo>
                <a:lnTo>
                  <a:pt x="8869680" y="6858000"/>
                </a:lnTo>
                <a:lnTo>
                  <a:pt x="88696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161520" y="0"/>
            <a:ext cx="30480" cy="6858000"/>
          </a:xfrm>
          <a:custGeom>
            <a:avLst/>
            <a:gdLst/>
            <a:ahLst/>
            <a:cxnLst/>
            <a:rect l="l" t="t" r="r" b="b"/>
            <a:pathLst>
              <a:path w="30479" h="6858000">
                <a:moveTo>
                  <a:pt x="0" y="6858000"/>
                </a:moveTo>
                <a:lnTo>
                  <a:pt x="30480" y="6858000"/>
                </a:lnTo>
                <a:lnTo>
                  <a:pt x="304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979408" y="0"/>
            <a:ext cx="3182620" cy="6858000"/>
          </a:xfrm>
          <a:custGeom>
            <a:avLst/>
            <a:gdLst/>
            <a:ahLst/>
            <a:cxnLst/>
            <a:rect l="l" t="t" r="r" b="b"/>
            <a:pathLst>
              <a:path w="3182620" h="6858000">
                <a:moveTo>
                  <a:pt x="0" y="6858000"/>
                </a:moveTo>
                <a:lnTo>
                  <a:pt x="3182111" y="6858000"/>
                </a:lnTo>
                <a:lnTo>
                  <a:pt x="318211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2C5F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869680" y="0"/>
            <a:ext cx="109855" cy="6858000"/>
          </a:xfrm>
          <a:custGeom>
            <a:avLst/>
            <a:gdLst/>
            <a:ahLst/>
            <a:cxnLst/>
            <a:rect l="l" t="t" r="r" b="b"/>
            <a:pathLst>
              <a:path w="109854" h="6858000">
                <a:moveTo>
                  <a:pt x="109727" y="0"/>
                </a:moveTo>
                <a:lnTo>
                  <a:pt x="0" y="0"/>
                </a:lnTo>
                <a:lnTo>
                  <a:pt x="0" y="6858000"/>
                </a:lnTo>
                <a:lnTo>
                  <a:pt x="109727" y="6858000"/>
                </a:lnTo>
                <a:lnTo>
                  <a:pt x="109727" y="0"/>
                </a:lnTo>
                <a:close/>
              </a:path>
            </a:pathLst>
          </a:custGeom>
          <a:solidFill>
            <a:srgbClr val="C7850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0928" y="2587751"/>
            <a:ext cx="1547622" cy="154762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9829800" y="2651760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685800" y="0"/>
                </a:moveTo>
                <a:lnTo>
                  <a:pt x="636828" y="1722"/>
                </a:lnTo>
                <a:lnTo>
                  <a:pt x="588784" y="6811"/>
                </a:lnTo>
                <a:lnTo>
                  <a:pt x="541785" y="15151"/>
                </a:lnTo>
                <a:lnTo>
                  <a:pt x="495947" y="26625"/>
                </a:lnTo>
                <a:lnTo>
                  <a:pt x="451386" y="41118"/>
                </a:lnTo>
                <a:lnTo>
                  <a:pt x="408218" y="58514"/>
                </a:lnTo>
                <a:lnTo>
                  <a:pt x="366559" y="78696"/>
                </a:lnTo>
                <a:lnTo>
                  <a:pt x="326525" y="101548"/>
                </a:lnTo>
                <a:lnTo>
                  <a:pt x="288233" y="126954"/>
                </a:lnTo>
                <a:lnTo>
                  <a:pt x="251798" y="154798"/>
                </a:lnTo>
                <a:lnTo>
                  <a:pt x="217336" y="184964"/>
                </a:lnTo>
                <a:lnTo>
                  <a:pt x="184964" y="217336"/>
                </a:lnTo>
                <a:lnTo>
                  <a:pt x="154798" y="251798"/>
                </a:lnTo>
                <a:lnTo>
                  <a:pt x="126954" y="288233"/>
                </a:lnTo>
                <a:lnTo>
                  <a:pt x="101548" y="326525"/>
                </a:lnTo>
                <a:lnTo>
                  <a:pt x="78696" y="366559"/>
                </a:lnTo>
                <a:lnTo>
                  <a:pt x="58514" y="408218"/>
                </a:lnTo>
                <a:lnTo>
                  <a:pt x="41118" y="451386"/>
                </a:lnTo>
                <a:lnTo>
                  <a:pt x="26625" y="495947"/>
                </a:lnTo>
                <a:lnTo>
                  <a:pt x="15151" y="541785"/>
                </a:lnTo>
                <a:lnTo>
                  <a:pt x="6811" y="588784"/>
                </a:lnTo>
                <a:lnTo>
                  <a:pt x="1722" y="636828"/>
                </a:lnTo>
                <a:lnTo>
                  <a:pt x="0" y="685800"/>
                </a:lnTo>
                <a:lnTo>
                  <a:pt x="1722" y="734771"/>
                </a:lnTo>
                <a:lnTo>
                  <a:pt x="6811" y="782815"/>
                </a:lnTo>
                <a:lnTo>
                  <a:pt x="15151" y="829814"/>
                </a:lnTo>
                <a:lnTo>
                  <a:pt x="26625" y="875652"/>
                </a:lnTo>
                <a:lnTo>
                  <a:pt x="41118" y="920213"/>
                </a:lnTo>
                <a:lnTo>
                  <a:pt x="58514" y="963381"/>
                </a:lnTo>
                <a:lnTo>
                  <a:pt x="78696" y="1005040"/>
                </a:lnTo>
                <a:lnTo>
                  <a:pt x="101548" y="1045074"/>
                </a:lnTo>
                <a:lnTo>
                  <a:pt x="126954" y="1083366"/>
                </a:lnTo>
                <a:lnTo>
                  <a:pt x="154798" y="1119801"/>
                </a:lnTo>
                <a:lnTo>
                  <a:pt x="184964" y="1154263"/>
                </a:lnTo>
                <a:lnTo>
                  <a:pt x="217336" y="1186635"/>
                </a:lnTo>
                <a:lnTo>
                  <a:pt x="251798" y="1216801"/>
                </a:lnTo>
                <a:lnTo>
                  <a:pt x="288233" y="1244645"/>
                </a:lnTo>
                <a:lnTo>
                  <a:pt x="326525" y="1270051"/>
                </a:lnTo>
                <a:lnTo>
                  <a:pt x="366559" y="1292903"/>
                </a:lnTo>
                <a:lnTo>
                  <a:pt x="408218" y="1313085"/>
                </a:lnTo>
                <a:lnTo>
                  <a:pt x="451386" y="1330481"/>
                </a:lnTo>
                <a:lnTo>
                  <a:pt x="495947" y="1344974"/>
                </a:lnTo>
                <a:lnTo>
                  <a:pt x="541785" y="1356448"/>
                </a:lnTo>
                <a:lnTo>
                  <a:pt x="588784" y="1364788"/>
                </a:lnTo>
                <a:lnTo>
                  <a:pt x="636828" y="1369877"/>
                </a:lnTo>
                <a:lnTo>
                  <a:pt x="685800" y="1371600"/>
                </a:lnTo>
                <a:lnTo>
                  <a:pt x="734771" y="1369877"/>
                </a:lnTo>
                <a:lnTo>
                  <a:pt x="782815" y="1364788"/>
                </a:lnTo>
                <a:lnTo>
                  <a:pt x="829814" y="1356448"/>
                </a:lnTo>
                <a:lnTo>
                  <a:pt x="875652" y="1344974"/>
                </a:lnTo>
                <a:lnTo>
                  <a:pt x="920213" y="1330481"/>
                </a:lnTo>
                <a:lnTo>
                  <a:pt x="963381" y="1313085"/>
                </a:lnTo>
                <a:lnTo>
                  <a:pt x="1005040" y="1292903"/>
                </a:lnTo>
                <a:lnTo>
                  <a:pt x="1045074" y="1270051"/>
                </a:lnTo>
                <a:lnTo>
                  <a:pt x="1083366" y="1244645"/>
                </a:lnTo>
                <a:lnTo>
                  <a:pt x="1119801" y="1216801"/>
                </a:lnTo>
                <a:lnTo>
                  <a:pt x="1154263" y="1186635"/>
                </a:lnTo>
                <a:lnTo>
                  <a:pt x="1186635" y="1154263"/>
                </a:lnTo>
                <a:lnTo>
                  <a:pt x="1216801" y="1119801"/>
                </a:lnTo>
                <a:lnTo>
                  <a:pt x="1244645" y="1083366"/>
                </a:lnTo>
                <a:lnTo>
                  <a:pt x="1270051" y="1045074"/>
                </a:lnTo>
                <a:lnTo>
                  <a:pt x="1292903" y="1005040"/>
                </a:lnTo>
                <a:lnTo>
                  <a:pt x="1313085" y="963381"/>
                </a:lnTo>
                <a:lnTo>
                  <a:pt x="1330481" y="920213"/>
                </a:lnTo>
                <a:lnTo>
                  <a:pt x="1344974" y="875652"/>
                </a:lnTo>
                <a:lnTo>
                  <a:pt x="1356448" y="829814"/>
                </a:lnTo>
                <a:lnTo>
                  <a:pt x="1364788" y="782815"/>
                </a:lnTo>
                <a:lnTo>
                  <a:pt x="1369877" y="734771"/>
                </a:lnTo>
                <a:lnTo>
                  <a:pt x="1371600" y="685800"/>
                </a:lnTo>
                <a:lnTo>
                  <a:pt x="1369877" y="636828"/>
                </a:lnTo>
                <a:lnTo>
                  <a:pt x="1364788" y="588784"/>
                </a:lnTo>
                <a:lnTo>
                  <a:pt x="1356448" y="541785"/>
                </a:lnTo>
                <a:lnTo>
                  <a:pt x="1344974" y="495947"/>
                </a:lnTo>
                <a:lnTo>
                  <a:pt x="1330481" y="451386"/>
                </a:lnTo>
                <a:lnTo>
                  <a:pt x="1313085" y="408218"/>
                </a:lnTo>
                <a:lnTo>
                  <a:pt x="1292903" y="366559"/>
                </a:lnTo>
                <a:lnTo>
                  <a:pt x="1270051" y="326525"/>
                </a:lnTo>
                <a:lnTo>
                  <a:pt x="1244645" y="288233"/>
                </a:lnTo>
                <a:lnTo>
                  <a:pt x="1216801" y="251798"/>
                </a:lnTo>
                <a:lnTo>
                  <a:pt x="1186635" y="217336"/>
                </a:lnTo>
                <a:lnTo>
                  <a:pt x="1154263" y="184964"/>
                </a:lnTo>
                <a:lnTo>
                  <a:pt x="1119801" y="154798"/>
                </a:lnTo>
                <a:lnTo>
                  <a:pt x="1083366" y="126954"/>
                </a:lnTo>
                <a:lnTo>
                  <a:pt x="1045074" y="101548"/>
                </a:lnTo>
                <a:lnTo>
                  <a:pt x="1005040" y="78696"/>
                </a:lnTo>
                <a:lnTo>
                  <a:pt x="963381" y="58514"/>
                </a:lnTo>
                <a:lnTo>
                  <a:pt x="920213" y="41118"/>
                </a:lnTo>
                <a:lnTo>
                  <a:pt x="875652" y="26625"/>
                </a:lnTo>
                <a:lnTo>
                  <a:pt x="829814" y="15151"/>
                </a:lnTo>
                <a:lnTo>
                  <a:pt x="782815" y="6811"/>
                </a:lnTo>
                <a:lnTo>
                  <a:pt x="734771" y="1722"/>
                </a:lnTo>
                <a:lnTo>
                  <a:pt x="685800" y="0"/>
                </a:lnTo>
                <a:close/>
              </a:path>
            </a:pathLst>
          </a:custGeom>
          <a:solidFill>
            <a:srgbClr val="C7850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6416" y="3008376"/>
            <a:ext cx="658368" cy="6583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8819" y="1814830"/>
            <a:ext cx="6379845" cy="1757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F38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38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38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5940" y="1678838"/>
            <a:ext cx="5031740" cy="355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C2B1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3DA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38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5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767841"/>
            <a:ext cx="762380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F38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190" y="2279650"/>
            <a:ext cx="6855459" cy="214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5940" y="6515430"/>
            <a:ext cx="222186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68759" y="6515430"/>
            <a:ext cx="17970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B665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24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4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6.png"/><Relationship Id="rId6" Type="http://schemas.openxmlformats.org/officeDocument/2006/relationships/image" Target="../media/image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819" y="1462785"/>
            <a:ext cx="36449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9715" algn="l"/>
                <a:tab pos="1858010" algn="l"/>
              </a:tabLst>
            </a:pP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C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H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A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P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T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E</a:t>
            </a:r>
            <a:r>
              <a:rPr dirty="0" sz="1500" spc="-155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R</a:t>
            </a:r>
            <a:r>
              <a:rPr dirty="0" sz="1500" spc="70" b="1">
                <a:solidFill>
                  <a:srgbClr val="F3C869"/>
                </a:solidFill>
                <a:latin typeface="Trebuchet MS"/>
                <a:cs typeface="Trebuchet MS"/>
              </a:rPr>
              <a:t>  </a:t>
            </a:r>
            <a:r>
              <a:rPr dirty="0" sz="1500" spc="-50" b="1">
                <a:solidFill>
                  <a:srgbClr val="F3C869"/>
                </a:solidFill>
                <a:latin typeface="Trebuchet MS"/>
                <a:cs typeface="Trebuchet MS"/>
              </a:rPr>
              <a:t>7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	</a:t>
            </a:r>
            <a:r>
              <a:rPr dirty="0" sz="1500" spc="-50" b="1">
                <a:solidFill>
                  <a:srgbClr val="F3C869"/>
                </a:solidFill>
                <a:latin typeface="Trebuchet MS"/>
                <a:cs typeface="Trebuchet MS"/>
              </a:rPr>
              <a:t>•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	D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A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T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A</a:t>
            </a:r>
            <a:r>
              <a:rPr dirty="0" sz="1500" spc="75" b="1">
                <a:solidFill>
                  <a:srgbClr val="F3C869"/>
                </a:solidFill>
                <a:latin typeface="Trebuchet MS"/>
                <a:cs typeface="Trebuchet MS"/>
              </a:rPr>
              <a:t> 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S</a:t>
            </a:r>
            <a:r>
              <a:rPr dirty="0" sz="1500" spc="-155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T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O</a:t>
            </a:r>
            <a:r>
              <a:rPr dirty="0" sz="1500" spc="-155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R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F3C869"/>
                </a:solidFill>
                <a:latin typeface="Trebuchet MS"/>
                <a:cs typeface="Trebuchet MS"/>
              </a:rPr>
              <a:t>A</a:t>
            </a:r>
            <a:r>
              <a:rPr dirty="0" sz="1500" spc="-16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F3C869"/>
                </a:solidFill>
                <a:latin typeface="Trebuchet MS"/>
                <a:cs typeface="Trebuchet MS"/>
              </a:rPr>
              <a:t>G</a:t>
            </a:r>
            <a:r>
              <a:rPr dirty="0" sz="1500" spc="-155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500" spc="-50" b="1">
                <a:solidFill>
                  <a:srgbClr val="F3C869"/>
                </a:solidFill>
                <a:latin typeface="Trebuchet MS"/>
                <a:cs typeface="Trebuchet MS"/>
              </a:rPr>
              <a:t>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59054" rIns="0" bIns="0" rtlCol="0" vert="horz">
            <a:spAutoFit/>
          </a:bodyPr>
          <a:lstStyle/>
          <a:p>
            <a:pPr marL="12700" marR="5080">
              <a:lnSpc>
                <a:spcPts val="5050"/>
              </a:lnSpc>
              <a:spcBef>
                <a:spcPts val="464"/>
              </a:spcBef>
            </a:pPr>
            <a:r>
              <a:rPr dirty="0" sz="4400">
                <a:solidFill>
                  <a:srgbClr val="FFFFFF"/>
                </a:solidFill>
              </a:rPr>
              <a:t>Saving</a:t>
            </a:r>
            <a:r>
              <a:rPr dirty="0" sz="4400" spc="-45">
                <a:solidFill>
                  <a:srgbClr val="FFFFFF"/>
                </a:solidFill>
              </a:rPr>
              <a:t> </a:t>
            </a:r>
            <a:r>
              <a:rPr dirty="0" sz="4400">
                <a:solidFill>
                  <a:srgbClr val="FFFFFF"/>
                </a:solidFill>
              </a:rPr>
              <a:t>Data</a:t>
            </a:r>
            <a:r>
              <a:rPr dirty="0" sz="4400" spc="-45">
                <a:solidFill>
                  <a:srgbClr val="FFFFFF"/>
                </a:solidFill>
              </a:rPr>
              <a:t> </a:t>
            </a:r>
            <a:r>
              <a:rPr dirty="0" sz="4400">
                <a:solidFill>
                  <a:srgbClr val="FFFFFF"/>
                </a:solidFill>
              </a:rPr>
              <a:t>Locally</a:t>
            </a:r>
            <a:r>
              <a:rPr dirty="0" sz="4400" spc="-70">
                <a:solidFill>
                  <a:srgbClr val="FFFFFF"/>
                </a:solidFill>
              </a:rPr>
              <a:t> </a:t>
            </a:r>
            <a:r>
              <a:rPr dirty="0" sz="4400" spc="-20">
                <a:solidFill>
                  <a:srgbClr val="FFFFFF"/>
                </a:solidFill>
              </a:rPr>
              <a:t>with </a:t>
            </a:r>
            <a:r>
              <a:rPr dirty="0" sz="4400" spc="-10">
                <a:solidFill>
                  <a:srgbClr val="FFFFFF"/>
                </a:solidFill>
              </a:rPr>
              <a:t>SQLite</a:t>
            </a:r>
            <a:endParaRPr sz="4400"/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900" spc="-10" b="0" i="1">
                <a:solidFill>
                  <a:srgbClr val="C9DCFB"/>
                </a:solidFill>
                <a:latin typeface="Calibri"/>
                <a:cs typeface="Calibri"/>
              </a:rPr>
              <a:t>Understanding</a:t>
            </a:r>
            <a:r>
              <a:rPr dirty="0" sz="1900" spc="-20" b="0" i="1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900" b="0" i="1">
                <a:solidFill>
                  <a:srgbClr val="C9DCFB"/>
                </a:solidFill>
                <a:latin typeface="Calibri"/>
                <a:cs typeface="Calibri"/>
              </a:rPr>
              <a:t>CRUD</a:t>
            </a:r>
            <a:r>
              <a:rPr dirty="0" sz="1900" spc="-60" b="0" i="1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900" b="0" i="1">
                <a:solidFill>
                  <a:srgbClr val="C9DCFB"/>
                </a:solidFill>
                <a:latin typeface="Calibri"/>
                <a:cs typeface="Calibri"/>
              </a:rPr>
              <a:t>operations</a:t>
            </a:r>
            <a:r>
              <a:rPr dirty="0" sz="1900" spc="-40" b="0" i="1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900" b="0" i="1">
                <a:solidFill>
                  <a:srgbClr val="C9DCFB"/>
                </a:solidFill>
                <a:latin typeface="Calibri"/>
                <a:cs typeface="Calibri"/>
              </a:rPr>
              <a:t>in</a:t>
            </a:r>
            <a:r>
              <a:rPr dirty="0" sz="1900" spc="-70" b="0" i="1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900" b="0" i="1">
                <a:solidFill>
                  <a:srgbClr val="C9DCFB"/>
                </a:solidFill>
                <a:latin typeface="Calibri"/>
                <a:cs typeface="Calibri"/>
              </a:rPr>
              <a:t>a</a:t>
            </a:r>
            <a:r>
              <a:rPr dirty="0" sz="1900" spc="-75" b="0" i="1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900" b="0" i="1">
                <a:solidFill>
                  <a:srgbClr val="C9DCFB"/>
                </a:solidFill>
                <a:latin typeface="Calibri"/>
                <a:cs typeface="Calibri"/>
              </a:rPr>
              <a:t>Flutter</a:t>
            </a:r>
            <a:r>
              <a:rPr dirty="0" sz="1900" spc="-45" b="0" i="1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900" spc="-25" b="0" i="1">
                <a:solidFill>
                  <a:srgbClr val="C9DCFB"/>
                </a:solidFill>
                <a:latin typeface="Calibri"/>
                <a:cs typeface="Calibri"/>
              </a:rPr>
              <a:t>app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9808" y="3977640"/>
            <a:ext cx="3291840" cy="0"/>
          </a:xfrm>
          <a:custGeom>
            <a:avLst/>
            <a:gdLst/>
            <a:ahLst/>
            <a:cxnLst/>
            <a:rect l="l" t="t" r="r" b="b"/>
            <a:pathLst>
              <a:path w="3291840" h="0">
                <a:moveTo>
                  <a:pt x="0" y="0"/>
                </a:moveTo>
                <a:lnTo>
                  <a:pt x="3291840" y="0"/>
                </a:lnTo>
              </a:path>
            </a:pathLst>
          </a:custGeom>
          <a:ln w="31750">
            <a:solidFill>
              <a:srgbClr val="C785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8819" y="4125581"/>
            <a:ext cx="3696335" cy="68516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dirty="0" sz="1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Lecturer:</a:t>
            </a:r>
            <a:r>
              <a:rPr dirty="0" sz="1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Nurul</a:t>
            </a:r>
            <a:r>
              <a:rPr dirty="0" sz="1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Amera</a:t>
            </a:r>
            <a:r>
              <a:rPr dirty="0" sz="1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Muhamad</a:t>
            </a:r>
            <a:r>
              <a:rPr dirty="0" sz="15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Nazmi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300">
                <a:solidFill>
                  <a:srgbClr val="9FB4D7"/>
                </a:solidFill>
                <a:latin typeface="Calibri"/>
                <a:cs typeface="Calibri"/>
              </a:rPr>
              <a:t>Mobile</a:t>
            </a:r>
            <a:r>
              <a:rPr dirty="0" sz="1300" spc="-45">
                <a:solidFill>
                  <a:srgbClr val="9FB4D7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9FB4D7"/>
                </a:solidFill>
                <a:latin typeface="Calibri"/>
                <a:cs typeface="Calibri"/>
              </a:rPr>
              <a:t>Application</a:t>
            </a:r>
            <a:r>
              <a:rPr dirty="0" sz="1300" spc="-25">
                <a:solidFill>
                  <a:srgbClr val="9FB4D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9FB4D7"/>
                </a:solidFill>
                <a:latin typeface="Calibri"/>
                <a:cs typeface="Calibri"/>
              </a:rPr>
              <a:t>System</a:t>
            </a:r>
            <a:r>
              <a:rPr dirty="0" sz="1300" spc="-45">
                <a:solidFill>
                  <a:srgbClr val="9FB4D7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9FB4D7"/>
                </a:solidFill>
                <a:latin typeface="Calibri"/>
                <a:cs typeface="Calibri"/>
              </a:rPr>
              <a:t>Design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32156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5645" algn="l"/>
                <a:tab pos="2524125" algn="l"/>
              </a:tabLst>
            </a:pPr>
            <a:r>
              <a:rPr dirty="0" sz="1300" spc="-20" b="1">
                <a:solidFill>
                  <a:srgbClr val="C7850D"/>
                </a:solidFill>
                <a:latin typeface="Trebuchet MS"/>
                <a:cs typeface="Trebuchet MS"/>
              </a:rPr>
              <a:t>W</a:t>
            </a:r>
            <a:r>
              <a:rPr dirty="0" sz="1300" spc="-10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20" b="1">
                <a:solidFill>
                  <a:srgbClr val="C7850D"/>
                </a:solidFill>
                <a:latin typeface="Trebuchet MS"/>
                <a:cs typeface="Trebuchet MS"/>
              </a:rPr>
              <a:t>W</a:t>
            </a:r>
            <a:r>
              <a:rPr dirty="0" sz="1300" spc="-10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10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20" b="1">
                <a:solidFill>
                  <a:srgbClr val="C7850D"/>
                </a:solidFill>
                <a:latin typeface="Trebuchet MS"/>
                <a:cs typeface="Trebuchet MS"/>
              </a:rPr>
              <a:t>W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9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C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V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Y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940" y="767841"/>
            <a:ext cx="294767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/>
              <a:t>Main</a:t>
            </a:r>
            <a:r>
              <a:rPr dirty="0" spc="-15"/>
              <a:t> </a:t>
            </a:r>
            <a:r>
              <a:rPr dirty="0" spc="-10"/>
              <a:t>Focus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02409"/>
            <a:ext cx="110617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By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end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of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this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lecture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you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should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understand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where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app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lives,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why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use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SQLite,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how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async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works,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how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all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four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CRUD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operations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are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written.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672" y="2215895"/>
            <a:ext cx="3800475" cy="1971675"/>
            <a:chOff x="423672" y="2215895"/>
            <a:chExt cx="3800475" cy="19716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2215895"/>
              <a:ext cx="3800094" cy="19712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40" y="2285999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353872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709927"/>
                  </a:lnTo>
                  <a:lnTo>
                    <a:pt x="5748" y="1738395"/>
                  </a:lnTo>
                  <a:lnTo>
                    <a:pt x="21426" y="1761648"/>
                  </a:lnTo>
                  <a:lnTo>
                    <a:pt x="44678" y="1777329"/>
                  </a:lnTo>
                  <a:lnTo>
                    <a:pt x="73151" y="1783080"/>
                  </a:lnTo>
                  <a:lnTo>
                    <a:pt x="3538728" y="1783080"/>
                  </a:lnTo>
                  <a:lnTo>
                    <a:pt x="3567195" y="1777329"/>
                  </a:lnTo>
                  <a:lnTo>
                    <a:pt x="3590448" y="1761648"/>
                  </a:lnTo>
                  <a:lnTo>
                    <a:pt x="3606129" y="1738395"/>
                  </a:lnTo>
                  <a:lnTo>
                    <a:pt x="3611880" y="1709927"/>
                  </a:lnTo>
                  <a:lnTo>
                    <a:pt x="3611880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40" y="2285999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80" y="73151"/>
                  </a:lnTo>
                  <a:lnTo>
                    <a:pt x="3611880" y="1709927"/>
                  </a:lnTo>
                  <a:lnTo>
                    <a:pt x="3606129" y="1738395"/>
                  </a:lnTo>
                  <a:lnTo>
                    <a:pt x="3590448" y="1761648"/>
                  </a:lnTo>
                  <a:lnTo>
                    <a:pt x="3567195" y="1777329"/>
                  </a:lnTo>
                  <a:lnTo>
                    <a:pt x="3538728" y="1783080"/>
                  </a:lnTo>
                  <a:lnTo>
                    <a:pt x="73151" y="1783080"/>
                  </a:lnTo>
                  <a:lnTo>
                    <a:pt x="44678" y="1777329"/>
                  </a:lnTo>
                  <a:lnTo>
                    <a:pt x="21426" y="1761648"/>
                  </a:lnTo>
                  <a:lnTo>
                    <a:pt x="5748" y="1738395"/>
                  </a:lnTo>
                  <a:lnTo>
                    <a:pt x="0" y="170992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40" y="2285999"/>
              <a:ext cx="91440" cy="1783080"/>
            </a:xfrm>
            <a:custGeom>
              <a:avLst/>
              <a:gdLst/>
              <a:ahLst/>
              <a:cxnLst/>
              <a:rect l="l" t="t" r="r" b="b"/>
              <a:pathLst>
                <a:path w="91440" h="1783079">
                  <a:moveTo>
                    <a:pt x="9144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91440" y="17830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088" y="2542031"/>
              <a:ext cx="953262" cy="9532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22960" y="260603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39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042" y="2808147"/>
              <a:ext cx="373075" cy="3730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99514" y="2596133"/>
            <a:ext cx="236156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Data</a:t>
            </a:r>
            <a:r>
              <a:rPr dirty="0" sz="1550" spc="-7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Storage</a:t>
            </a:r>
            <a:r>
              <a:rPr dirty="0" sz="1550" spc="-6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Options</a:t>
            </a:r>
            <a:r>
              <a:rPr dirty="0" baseline="21367" sz="3900" spc="-15" b="1">
                <a:solidFill>
                  <a:srgbClr val="ECE9DC"/>
                </a:solidFill>
                <a:latin typeface="Trebuchet MS"/>
                <a:cs typeface="Trebuchet MS"/>
              </a:rPr>
              <a:t>01</a:t>
            </a:r>
            <a:endParaRPr baseline="21367" sz="3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8547" y="3553460"/>
            <a:ext cx="26416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three</a:t>
            </a:r>
            <a:r>
              <a:rPr dirty="0" sz="11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ways</a:t>
            </a:r>
            <a:r>
              <a:rPr dirty="0" sz="11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1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Flutter</a:t>
            </a:r>
            <a:r>
              <a:rPr dirty="0" sz="115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app</a:t>
            </a:r>
            <a:r>
              <a:rPr dirty="0" sz="11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can</a:t>
            </a:r>
            <a:r>
              <a:rPr dirty="0" sz="11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store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data.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91584" y="2215895"/>
            <a:ext cx="3800475" cy="1971675"/>
            <a:chOff x="4291584" y="2215895"/>
            <a:chExt cx="3800475" cy="197167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1584" y="2215895"/>
              <a:ext cx="3800094" cy="19712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16552" y="2285999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3538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709927"/>
                  </a:lnTo>
                  <a:lnTo>
                    <a:pt x="5750" y="1738395"/>
                  </a:lnTo>
                  <a:lnTo>
                    <a:pt x="21431" y="1761648"/>
                  </a:lnTo>
                  <a:lnTo>
                    <a:pt x="44684" y="1777329"/>
                  </a:lnTo>
                  <a:lnTo>
                    <a:pt x="73151" y="1783080"/>
                  </a:lnTo>
                  <a:lnTo>
                    <a:pt x="3538728" y="1783080"/>
                  </a:lnTo>
                  <a:lnTo>
                    <a:pt x="3567195" y="1777329"/>
                  </a:lnTo>
                  <a:lnTo>
                    <a:pt x="3590448" y="1761648"/>
                  </a:lnTo>
                  <a:lnTo>
                    <a:pt x="3606129" y="1738395"/>
                  </a:lnTo>
                  <a:lnTo>
                    <a:pt x="3611879" y="1709927"/>
                  </a:lnTo>
                  <a:lnTo>
                    <a:pt x="3611879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416552" y="2285999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79" y="73151"/>
                  </a:lnTo>
                  <a:lnTo>
                    <a:pt x="3611879" y="1709927"/>
                  </a:lnTo>
                  <a:lnTo>
                    <a:pt x="3606129" y="1738395"/>
                  </a:lnTo>
                  <a:lnTo>
                    <a:pt x="3590448" y="1761648"/>
                  </a:lnTo>
                  <a:lnTo>
                    <a:pt x="3567195" y="1777329"/>
                  </a:lnTo>
                  <a:lnTo>
                    <a:pt x="3538728" y="1783080"/>
                  </a:lnTo>
                  <a:lnTo>
                    <a:pt x="73151" y="1783080"/>
                  </a:lnTo>
                  <a:lnTo>
                    <a:pt x="44684" y="1777329"/>
                  </a:lnTo>
                  <a:lnTo>
                    <a:pt x="21431" y="1761648"/>
                  </a:lnTo>
                  <a:lnTo>
                    <a:pt x="5750" y="1738395"/>
                  </a:lnTo>
                  <a:lnTo>
                    <a:pt x="0" y="170992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16552" y="2285999"/>
              <a:ext cx="91440" cy="1783080"/>
            </a:xfrm>
            <a:custGeom>
              <a:avLst/>
              <a:gdLst/>
              <a:ahLst/>
              <a:cxnLst/>
              <a:rect l="l" t="t" r="r" b="b"/>
              <a:pathLst>
                <a:path w="91439" h="1783079">
                  <a:moveTo>
                    <a:pt x="91439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91439" y="178308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2542031"/>
              <a:ext cx="953262" cy="9532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690872" y="260603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39" h="777239">
                  <a:moveTo>
                    <a:pt x="388619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19" y="777239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39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19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2929" y="2808147"/>
              <a:ext cx="373075" cy="37307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567807" y="2596133"/>
            <a:ext cx="236093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The</a:t>
            </a:r>
            <a:r>
              <a:rPr dirty="0" sz="1550" spc="-3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SQLite</a:t>
            </a:r>
            <a:r>
              <a:rPr dirty="0" sz="1550" spc="-3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Database</a:t>
            </a:r>
            <a:r>
              <a:rPr dirty="0" baseline="21367" sz="3900" spc="-15" b="1">
                <a:solidFill>
                  <a:srgbClr val="ECE9DC"/>
                </a:solidFill>
                <a:latin typeface="Trebuchet MS"/>
                <a:cs typeface="Trebuchet MS"/>
              </a:rPr>
              <a:t>02</a:t>
            </a:r>
            <a:endParaRPr baseline="21367" sz="3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97095" y="3465703"/>
            <a:ext cx="267843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What</a:t>
            </a:r>
            <a:r>
              <a:rPr dirty="0" sz="11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SQLite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is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1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how</a:t>
            </a:r>
            <a:r>
              <a:rPr dirty="0" sz="11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sqflite</a:t>
            </a:r>
            <a:r>
              <a:rPr dirty="0" sz="11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connects</a:t>
            </a:r>
            <a:r>
              <a:rPr dirty="0" sz="11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50" spc="-10">
                <a:solidFill>
                  <a:srgbClr val="5B6656"/>
                </a:solidFill>
                <a:latin typeface="Calibri"/>
                <a:cs typeface="Calibri"/>
              </a:rPr>
              <a:t>Flutter.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159495" y="2215895"/>
            <a:ext cx="3800475" cy="1971675"/>
            <a:chOff x="8159495" y="2215895"/>
            <a:chExt cx="3800475" cy="197167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9495" y="2215895"/>
              <a:ext cx="3800094" cy="197129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284463" y="2285999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3538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709927"/>
                  </a:lnTo>
                  <a:lnTo>
                    <a:pt x="5750" y="1738395"/>
                  </a:lnTo>
                  <a:lnTo>
                    <a:pt x="21431" y="1761648"/>
                  </a:lnTo>
                  <a:lnTo>
                    <a:pt x="44684" y="1777329"/>
                  </a:lnTo>
                  <a:lnTo>
                    <a:pt x="73151" y="1783080"/>
                  </a:lnTo>
                  <a:lnTo>
                    <a:pt x="3538728" y="1783080"/>
                  </a:lnTo>
                  <a:lnTo>
                    <a:pt x="3567195" y="1777329"/>
                  </a:lnTo>
                  <a:lnTo>
                    <a:pt x="3590448" y="1761648"/>
                  </a:lnTo>
                  <a:lnTo>
                    <a:pt x="3606129" y="1738395"/>
                  </a:lnTo>
                  <a:lnTo>
                    <a:pt x="3611879" y="1709927"/>
                  </a:lnTo>
                  <a:lnTo>
                    <a:pt x="3611879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284463" y="2285999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79" y="73151"/>
                  </a:lnTo>
                  <a:lnTo>
                    <a:pt x="3611879" y="1709927"/>
                  </a:lnTo>
                  <a:lnTo>
                    <a:pt x="3606129" y="1738395"/>
                  </a:lnTo>
                  <a:lnTo>
                    <a:pt x="3590448" y="1761648"/>
                  </a:lnTo>
                  <a:lnTo>
                    <a:pt x="3567195" y="1777329"/>
                  </a:lnTo>
                  <a:lnTo>
                    <a:pt x="3538728" y="1783080"/>
                  </a:lnTo>
                  <a:lnTo>
                    <a:pt x="73151" y="1783080"/>
                  </a:lnTo>
                  <a:lnTo>
                    <a:pt x="44684" y="1777329"/>
                  </a:lnTo>
                  <a:lnTo>
                    <a:pt x="21431" y="1761648"/>
                  </a:lnTo>
                  <a:lnTo>
                    <a:pt x="5750" y="1738395"/>
                  </a:lnTo>
                  <a:lnTo>
                    <a:pt x="0" y="170992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284463" y="2285999"/>
              <a:ext cx="91440" cy="1783080"/>
            </a:xfrm>
            <a:custGeom>
              <a:avLst/>
              <a:gdLst/>
              <a:ahLst/>
              <a:cxnLst/>
              <a:rect l="l" t="t" r="r" b="b"/>
              <a:pathLst>
                <a:path w="91440" h="1783079">
                  <a:moveTo>
                    <a:pt x="9144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91440" y="17830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9911" y="2542031"/>
              <a:ext cx="953261" cy="95326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558783" y="260603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39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0840" y="2808147"/>
              <a:ext cx="373075" cy="37307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436354" y="2596133"/>
            <a:ext cx="236093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Async,</a:t>
            </a:r>
            <a:r>
              <a:rPr dirty="0" sz="1550" spc="-7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Future,</a:t>
            </a:r>
            <a:r>
              <a:rPr dirty="0" sz="1550" spc="-4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await</a:t>
            </a:r>
            <a:r>
              <a:rPr dirty="0" baseline="21367" sz="3900" spc="-15" b="1">
                <a:solidFill>
                  <a:srgbClr val="ECE9DC"/>
                </a:solidFill>
                <a:latin typeface="Trebuchet MS"/>
                <a:cs typeface="Trebuchet MS"/>
              </a:rPr>
              <a:t>03</a:t>
            </a:r>
            <a:endParaRPr baseline="21367" sz="39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5642" y="3553460"/>
            <a:ext cx="25431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Why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database</a:t>
            </a:r>
            <a:r>
              <a:rPr dirty="0" sz="11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calls</a:t>
            </a:r>
            <a:r>
              <a:rPr dirty="0" sz="11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run</a:t>
            </a:r>
            <a:r>
              <a:rPr dirty="0" sz="11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1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B6656"/>
                </a:solidFill>
                <a:latin typeface="Calibri"/>
                <a:cs typeface="Calibri"/>
              </a:rPr>
              <a:t>background.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23672" y="4254995"/>
            <a:ext cx="3800475" cy="1971675"/>
            <a:chOff x="423672" y="4254995"/>
            <a:chExt cx="3800475" cy="197167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4254995"/>
              <a:ext cx="3800094" cy="197129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48640" y="4325112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353872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709915"/>
                  </a:lnTo>
                  <a:lnTo>
                    <a:pt x="5748" y="1738395"/>
                  </a:lnTo>
                  <a:lnTo>
                    <a:pt x="21426" y="1761651"/>
                  </a:lnTo>
                  <a:lnTo>
                    <a:pt x="44678" y="1777330"/>
                  </a:lnTo>
                  <a:lnTo>
                    <a:pt x="73151" y="1783080"/>
                  </a:lnTo>
                  <a:lnTo>
                    <a:pt x="3538728" y="1783080"/>
                  </a:lnTo>
                  <a:lnTo>
                    <a:pt x="3567195" y="1777330"/>
                  </a:lnTo>
                  <a:lnTo>
                    <a:pt x="3590448" y="1761651"/>
                  </a:lnTo>
                  <a:lnTo>
                    <a:pt x="3606129" y="1738395"/>
                  </a:lnTo>
                  <a:lnTo>
                    <a:pt x="3611880" y="1709915"/>
                  </a:lnTo>
                  <a:lnTo>
                    <a:pt x="3611880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48640" y="4325112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80" y="73151"/>
                  </a:lnTo>
                  <a:lnTo>
                    <a:pt x="3611880" y="1709915"/>
                  </a:lnTo>
                  <a:lnTo>
                    <a:pt x="3606129" y="1738395"/>
                  </a:lnTo>
                  <a:lnTo>
                    <a:pt x="3590448" y="1761651"/>
                  </a:lnTo>
                  <a:lnTo>
                    <a:pt x="3567195" y="1777330"/>
                  </a:lnTo>
                  <a:lnTo>
                    <a:pt x="3538728" y="1783080"/>
                  </a:lnTo>
                  <a:lnTo>
                    <a:pt x="73151" y="1783080"/>
                  </a:lnTo>
                  <a:lnTo>
                    <a:pt x="44678" y="1777330"/>
                  </a:lnTo>
                  <a:lnTo>
                    <a:pt x="21426" y="1761651"/>
                  </a:lnTo>
                  <a:lnTo>
                    <a:pt x="5748" y="1738395"/>
                  </a:lnTo>
                  <a:lnTo>
                    <a:pt x="0" y="1709915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48640" y="4325112"/>
              <a:ext cx="91440" cy="1783080"/>
            </a:xfrm>
            <a:custGeom>
              <a:avLst/>
              <a:gdLst/>
              <a:ahLst/>
              <a:cxnLst/>
              <a:rect l="l" t="t" r="r" b="b"/>
              <a:pathLst>
                <a:path w="91440" h="1783079">
                  <a:moveTo>
                    <a:pt x="9144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91440" y="17830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088" y="4581144"/>
              <a:ext cx="953262" cy="95326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22960" y="464515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40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5042" y="4847259"/>
              <a:ext cx="373075" cy="373075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3622675" y="4506848"/>
            <a:ext cx="41275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5" b="1">
                <a:solidFill>
                  <a:srgbClr val="ECE9DC"/>
                </a:solidFill>
                <a:latin typeface="Trebuchet MS"/>
                <a:cs typeface="Trebuchet MS"/>
              </a:rPr>
              <a:t>04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24914" y="4769865"/>
            <a:ext cx="138176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The</a:t>
            </a:r>
            <a:r>
              <a:rPr dirty="0" sz="1550" spc="-2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CRUD</a:t>
            </a:r>
            <a:r>
              <a:rPr dirty="0" sz="1550" spc="-3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20" b="1">
                <a:solidFill>
                  <a:srgbClr val="1F3863"/>
                </a:solidFill>
                <a:latin typeface="Trebuchet MS"/>
                <a:cs typeface="Trebuchet MS"/>
              </a:rPr>
              <a:t>Idea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8547" y="5592876"/>
            <a:ext cx="27387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four</a:t>
            </a:r>
            <a:r>
              <a:rPr dirty="0" sz="11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operations</a:t>
            </a:r>
            <a:r>
              <a:rPr dirty="0" sz="11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every</a:t>
            </a:r>
            <a:r>
              <a:rPr dirty="0" sz="115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app</a:t>
            </a:r>
            <a:r>
              <a:rPr dirty="0" sz="11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B6656"/>
                </a:solidFill>
                <a:latin typeface="Calibri"/>
                <a:cs typeface="Calibri"/>
              </a:rPr>
              <a:t>performs.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291584" y="4254995"/>
            <a:ext cx="3800475" cy="1971675"/>
            <a:chOff x="4291584" y="4254995"/>
            <a:chExt cx="3800475" cy="1971675"/>
          </a:xfrm>
        </p:grpSpPr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1584" y="4254995"/>
              <a:ext cx="3800094" cy="197129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416552" y="4325112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3538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709915"/>
                  </a:lnTo>
                  <a:lnTo>
                    <a:pt x="5750" y="1738395"/>
                  </a:lnTo>
                  <a:lnTo>
                    <a:pt x="21431" y="1761651"/>
                  </a:lnTo>
                  <a:lnTo>
                    <a:pt x="44684" y="1777330"/>
                  </a:lnTo>
                  <a:lnTo>
                    <a:pt x="73151" y="1783080"/>
                  </a:lnTo>
                  <a:lnTo>
                    <a:pt x="3538728" y="1783080"/>
                  </a:lnTo>
                  <a:lnTo>
                    <a:pt x="3567195" y="1777330"/>
                  </a:lnTo>
                  <a:lnTo>
                    <a:pt x="3590448" y="1761651"/>
                  </a:lnTo>
                  <a:lnTo>
                    <a:pt x="3606129" y="1738395"/>
                  </a:lnTo>
                  <a:lnTo>
                    <a:pt x="3611879" y="1709915"/>
                  </a:lnTo>
                  <a:lnTo>
                    <a:pt x="3611879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416552" y="4325112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79" y="73151"/>
                  </a:lnTo>
                  <a:lnTo>
                    <a:pt x="3611879" y="1709915"/>
                  </a:lnTo>
                  <a:lnTo>
                    <a:pt x="3606129" y="1738395"/>
                  </a:lnTo>
                  <a:lnTo>
                    <a:pt x="3590448" y="1761651"/>
                  </a:lnTo>
                  <a:lnTo>
                    <a:pt x="3567195" y="1777330"/>
                  </a:lnTo>
                  <a:lnTo>
                    <a:pt x="3538728" y="1783080"/>
                  </a:lnTo>
                  <a:lnTo>
                    <a:pt x="73151" y="1783080"/>
                  </a:lnTo>
                  <a:lnTo>
                    <a:pt x="44684" y="1777330"/>
                  </a:lnTo>
                  <a:lnTo>
                    <a:pt x="21431" y="1761651"/>
                  </a:lnTo>
                  <a:lnTo>
                    <a:pt x="5750" y="1738395"/>
                  </a:lnTo>
                  <a:lnTo>
                    <a:pt x="0" y="1709915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416552" y="4325112"/>
              <a:ext cx="91440" cy="1783080"/>
            </a:xfrm>
            <a:custGeom>
              <a:avLst/>
              <a:gdLst/>
              <a:ahLst/>
              <a:cxnLst/>
              <a:rect l="l" t="t" r="r" b="b"/>
              <a:pathLst>
                <a:path w="91439" h="1783079">
                  <a:moveTo>
                    <a:pt x="91439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91439" y="178308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4581144"/>
              <a:ext cx="953262" cy="95326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690872" y="464515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39" h="777239">
                  <a:moveTo>
                    <a:pt x="388619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19" y="777240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39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19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92929" y="4847259"/>
              <a:ext cx="373075" cy="373075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5567807" y="4635753"/>
            <a:ext cx="236093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Writing</a:t>
            </a:r>
            <a:r>
              <a:rPr dirty="0" sz="1550" spc="-5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Each</a:t>
            </a:r>
            <a:r>
              <a:rPr dirty="0" sz="1550" spc="-5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20" b="1">
                <a:solidFill>
                  <a:srgbClr val="1F3863"/>
                </a:solidFill>
                <a:latin typeface="Trebuchet MS"/>
                <a:cs typeface="Trebuchet MS"/>
              </a:rPr>
              <a:t>Ope</a:t>
            </a:r>
            <a:r>
              <a:rPr dirty="0" sz="1550" spc="-25" b="1">
                <a:solidFill>
                  <a:srgbClr val="1F3863"/>
                </a:solidFill>
                <a:latin typeface="Trebuchet MS"/>
                <a:cs typeface="Trebuchet MS"/>
              </a:rPr>
              <a:t>r</a:t>
            </a:r>
            <a:r>
              <a:rPr dirty="0" sz="1550" spc="20" b="1">
                <a:solidFill>
                  <a:srgbClr val="1F3863"/>
                </a:solidFill>
                <a:latin typeface="Trebuchet MS"/>
                <a:cs typeface="Trebuchet MS"/>
              </a:rPr>
              <a:t>at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i</a:t>
            </a:r>
            <a:r>
              <a:rPr dirty="0" baseline="21367" sz="3900" spc="-2204" b="1">
                <a:solidFill>
                  <a:srgbClr val="ECE9DC"/>
                </a:solidFill>
                <a:latin typeface="Trebuchet MS"/>
                <a:cs typeface="Trebuchet MS"/>
              </a:rPr>
              <a:t>0</a:t>
            </a:r>
            <a:r>
              <a:rPr dirty="0" sz="1550" spc="20" b="1">
                <a:solidFill>
                  <a:srgbClr val="1F3863"/>
                </a:solidFill>
                <a:latin typeface="Trebuchet MS"/>
                <a:cs typeface="Trebuchet MS"/>
              </a:rPr>
              <a:t>o</a:t>
            </a:r>
            <a:r>
              <a:rPr dirty="0" sz="1550" spc="-275" b="1">
                <a:solidFill>
                  <a:srgbClr val="1F3863"/>
                </a:solidFill>
                <a:latin typeface="Trebuchet MS"/>
                <a:cs typeface="Trebuchet MS"/>
              </a:rPr>
              <a:t>n</a:t>
            </a:r>
            <a:r>
              <a:rPr dirty="0" baseline="21367" sz="3900" spc="30" b="1">
                <a:solidFill>
                  <a:srgbClr val="ECE9DC"/>
                </a:solidFill>
                <a:latin typeface="Trebuchet MS"/>
                <a:cs typeface="Trebuchet MS"/>
              </a:rPr>
              <a:t>5</a:t>
            </a:r>
            <a:endParaRPr baseline="21367" sz="39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97095" y="5592876"/>
            <a:ext cx="31299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1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real</a:t>
            </a:r>
            <a:r>
              <a:rPr dirty="0" sz="11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Dart</a:t>
            </a:r>
            <a:r>
              <a:rPr dirty="0" sz="11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code</a:t>
            </a:r>
            <a:r>
              <a:rPr dirty="0" sz="11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for</a:t>
            </a:r>
            <a:r>
              <a:rPr dirty="0" sz="11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Create,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Read,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Update,</a:t>
            </a:r>
            <a:r>
              <a:rPr dirty="0" sz="11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5B6656"/>
                </a:solidFill>
                <a:latin typeface="Calibri"/>
                <a:cs typeface="Calibri"/>
              </a:rPr>
              <a:t>Delete.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159495" y="4254995"/>
            <a:ext cx="3800475" cy="1971675"/>
            <a:chOff x="8159495" y="4254995"/>
            <a:chExt cx="3800475" cy="1971675"/>
          </a:xfrm>
        </p:grpSpPr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9495" y="4254995"/>
              <a:ext cx="3800094" cy="197129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284463" y="4325112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3538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709915"/>
                  </a:lnTo>
                  <a:lnTo>
                    <a:pt x="5750" y="1738395"/>
                  </a:lnTo>
                  <a:lnTo>
                    <a:pt x="21431" y="1761651"/>
                  </a:lnTo>
                  <a:lnTo>
                    <a:pt x="44684" y="1777330"/>
                  </a:lnTo>
                  <a:lnTo>
                    <a:pt x="73151" y="1783080"/>
                  </a:lnTo>
                  <a:lnTo>
                    <a:pt x="3538728" y="1783080"/>
                  </a:lnTo>
                  <a:lnTo>
                    <a:pt x="3567195" y="1777330"/>
                  </a:lnTo>
                  <a:lnTo>
                    <a:pt x="3590448" y="1761651"/>
                  </a:lnTo>
                  <a:lnTo>
                    <a:pt x="3606129" y="1738395"/>
                  </a:lnTo>
                  <a:lnTo>
                    <a:pt x="3611879" y="1709915"/>
                  </a:lnTo>
                  <a:lnTo>
                    <a:pt x="3611879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284463" y="4325112"/>
              <a:ext cx="3611879" cy="1783080"/>
            </a:xfrm>
            <a:custGeom>
              <a:avLst/>
              <a:gdLst/>
              <a:ahLst/>
              <a:cxnLst/>
              <a:rect l="l" t="t" r="r" b="b"/>
              <a:pathLst>
                <a:path w="3611879" h="17830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79" y="73151"/>
                  </a:lnTo>
                  <a:lnTo>
                    <a:pt x="3611879" y="1709915"/>
                  </a:lnTo>
                  <a:lnTo>
                    <a:pt x="3606129" y="1738395"/>
                  </a:lnTo>
                  <a:lnTo>
                    <a:pt x="3590448" y="1761651"/>
                  </a:lnTo>
                  <a:lnTo>
                    <a:pt x="3567195" y="1777330"/>
                  </a:lnTo>
                  <a:lnTo>
                    <a:pt x="3538728" y="1783080"/>
                  </a:lnTo>
                  <a:lnTo>
                    <a:pt x="73151" y="1783080"/>
                  </a:lnTo>
                  <a:lnTo>
                    <a:pt x="44684" y="1777330"/>
                  </a:lnTo>
                  <a:lnTo>
                    <a:pt x="21431" y="1761651"/>
                  </a:lnTo>
                  <a:lnTo>
                    <a:pt x="5750" y="1738395"/>
                  </a:lnTo>
                  <a:lnTo>
                    <a:pt x="0" y="1709915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284463" y="4325112"/>
              <a:ext cx="91440" cy="1783080"/>
            </a:xfrm>
            <a:custGeom>
              <a:avLst/>
              <a:gdLst/>
              <a:ahLst/>
              <a:cxnLst/>
              <a:rect l="l" t="t" r="r" b="b"/>
              <a:pathLst>
                <a:path w="91440" h="1783079">
                  <a:moveTo>
                    <a:pt x="91440" y="0"/>
                  </a:moveTo>
                  <a:lnTo>
                    <a:pt x="0" y="0"/>
                  </a:lnTo>
                  <a:lnTo>
                    <a:pt x="0" y="1783080"/>
                  </a:lnTo>
                  <a:lnTo>
                    <a:pt x="91440" y="17830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9911" y="4581144"/>
              <a:ext cx="953261" cy="95326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8558783" y="464515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40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60840" y="4847259"/>
              <a:ext cx="373075" cy="373075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11359388" y="4506848"/>
            <a:ext cx="41275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5" b="1">
                <a:solidFill>
                  <a:srgbClr val="ECE9DC"/>
                </a:solidFill>
                <a:latin typeface="Trebuchet MS"/>
                <a:cs typeface="Trebuchet MS"/>
              </a:rPr>
              <a:t>06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5" name="object 65"/>
          <p:cNvSpPr txBox="1"/>
          <p:nvPr/>
        </p:nvSpPr>
        <p:spPr>
          <a:xfrm>
            <a:off x="9461754" y="4769865"/>
            <a:ext cx="144081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Common</a:t>
            </a:r>
            <a:r>
              <a:rPr dirty="0" sz="1550" spc="-7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Errors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565642" y="5592876"/>
            <a:ext cx="241490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Mistakes</a:t>
            </a:r>
            <a:r>
              <a:rPr dirty="0" sz="11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1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expect</a:t>
            </a:r>
            <a:r>
              <a:rPr dirty="0" sz="11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1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how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1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5B6656"/>
                </a:solidFill>
                <a:latin typeface="Calibri"/>
                <a:cs typeface="Calibri"/>
              </a:rPr>
              <a:t>fix</a:t>
            </a:r>
            <a:r>
              <a:rPr dirty="0" sz="1150" spc="-20">
                <a:solidFill>
                  <a:srgbClr val="5B6656"/>
                </a:solidFill>
                <a:latin typeface="Calibri"/>
                <a:cs typeface="Calibri"/>
              </a:rPr>
              <a:t> them.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30924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37565" algn="l"/>
                <a:tab pos="1976120" algn="l"/>
                <a:tab pos="2632075" algn="l"/>
              </a:tabLst>
            </a:pPr>
            <a:r>
              <a:rPr dirty="0" sz="1300" spc="-20" b="1">
                <a:solidFill>
                  <a:srgbClr val="C7850D"/>
                </a:solidFill>
                <a:latin typeface="Trebuchet MS"/>
                <a:cs typeface="Trebuchet MS"/>
              </a:rPr>
              <a:t>W</a:t>
            </a:r>
            <a:r>
              <a:rPr dirty="0" sz="1300" spc="-10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spc="10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L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V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Three</a:t>
            </a:r>
            <a:r>
              <a:rPr dirty="0" spc="-55"/>
              <a:t> </a:t>
            </a:r>
            <a:r>
              <a:rPr dirty="0"/>
              <a:t>Ways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Store</a:t>
            </a:r>
            <a:r>
              <a:rPr dirty="0" spc="-55"/>
              <a:t> </a:t>
            </a:r>
            <a:r>
              <a:rPr dirty="0" spc="-20"/>
              <a:t>Data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23672" y="2124468"/>
            <a:ext cx="3800475" cy="3800475"/>
            <a:chOff x="423672" y="2124468"/>
            <a:chExt cx="3800475" cy="38004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2124468"/>
              <a:ext cx="3800094" cy="38000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" y="2194560"/>
              <a:ext cx="3611879" cy="3611879"/>
            </a:xfrm>
            <a:custGeom>
              <a:avLst/>
              <a:gdLst/>
              <a:ahLst/>
              <a:cxnLst/>
              <a:rect l="l" t="t" r="r" b="b"/>
              <a:pathLst>
                <a:path w="3611879" h="3611879">
                  <a:moveTo>
                    <a:pt x="3538728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3538740"/>
                  </a:lnTo>
                  <a:lnTo>
                    <a:pt x="5746" y="3567206"/>
                  </a:lnTo>
                  <a:lnTo>
                    <a:pt x="21420" y="3590455"/>
                  </a:lnTo>
                  <a:lnTo>
                    <a:pt x="44668" y="3606131"/>
                  </a:lnTo>
                  <a:lnTo>
                    <a:pt x="73139" y="3611879"/>
                  </a:lnTo>
                  <a:lnTo>
                    <a:pt x="3538728" y="3611879"/>
                  </a:lnTo>
                  <a:lnTo>
                    <a:pt x="3567195" y="3606131"/>
                  </a:lnTo>
                  <a:lnTo>
                    <a:pt x="3590448" y="3590455"/>
                  </a:lnTo>
                  <a:lnTo>
                    <a:pt x="3606129" y="3567206"/>
                  </a:lnTo>
                  <a:lnTo>
                    <a:pt x="3611880" y="3538740"/>
                  </a:lnTo>
                  <a:lnTo>
                    <a:pt x="3611880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8640" y="2194560"/>
              <a:ext cx="3611879" cy="3611879"/>
            </a:xfrm>
            <a:custGeom>
              <a:avLst/>
              <a:gdLst/>
              <a:ahLst/>
              <a:cxnLst/>
              <a:rect l="l" t="t" r="r" b="b"/>
              <a:pathLst>
                <a:path w="3611879" h="3611879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80" y="73151"/>
                  </a:lnTo>
                  <a:lnTo>
                    <a:pt x="3611880" y="3538740"/>
                  </a:lnTo>
                  <a:lnTo>
                    <a:pt x="3606129" y="3567206"/>
                  </a:lnTo>
                  <a:lnTo>
                    <a:pt x="3590448" y="3590455"/>
                  </a:lnTo>
                  <a:lnTo>
                    <a:pt x="3567195" y="3606131"/>
                  </a:lnTo>
                  <a:lnTo>
                    <a:pt x="3538728" y="3611879"/>
                  </a:lnTo>
                  <a:lnTo>
                    <a:pt x="73139" y="3611879"/>
                  </a:lnTo>
                  <a:lnTo>
                    <a:pt x="44668" y="3606131"/>
                  </a:lnTo>
                  <a:lnTo>
                    <a:pt x="21420" y="3590455"/>
                  </a:lnTo>
                  <a:lnTo>
                    <a:pt x="5746" y="3567206"/>
                  </a:lnTo>
                  <a:lnTo>
                    <a:pt x="0" y="353874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068" y="2496312"/>
              <a:ext cx="1273302" cy="12733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05939" y="256032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79">
                  <a:moveTo>
                    <a:pt x="548640" y="0"/>
                  </a:moveTo>
                  <a:lnTo>
                    <a:pt x="501298" y="2013"/>
                  </a:lnTo>
                  <a:lnTo>
                    <a:pt x="455076" y="7945"/>
                  </a:lnTo>
                  <a:lnTo>
                    <a:pt x="410137" y="17629"/>
                  </a:lnTo>
                  <a:lnTo>
                    <a:pt x="366646" y="30902"/>
                  </a:lnTo>
                  <a:lnTo>
                    <a:pt x="324768" y="47598"/>
                  </a:lnTo>
                  <a:lnTo>
                    <a:pt x="284667" y="67554"/>
                  </a:lnTo>
                  <a:lnTo>
                    <a:pt x="246508" y="90604"/>
                  </a:lnTo>
                  <a:lnTo>
                    <a:pt x="210455" y="116583"/>
                  </a:lnTo>
                  <a:lnTo>
                    <a:pt x="176674" y="145328"/>
                  </a:lnTo>
                  <a:lnTo>
                    <a:pt x="145328" y="176674"/>
                  </a:lnTo>
                  <a:lnTo>
                    <a:pt x="116583" y="210455"/>
                  </a:lnTo>
                  <a:lnTo>
                    <a:pt x="90604" y="246508"/>
                  </a:lnTo>
                  <a:lnTo>
                    <a:pt x="67554" y="284667"/>
                  </a:lnTo>
                  <a:lnTo>
                    <a:pt x="47598" y="324768"/>
                  </a:lnTo>
                  <a:lnTo>
                    <a:pt x="30902" y="366646"/>
                  </a:lnTo>
                  <a:lnTo>
                    <a:pt x="17629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39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29" y="687142"/>
                  </a:lnTo>
                  <a:lnTo>
                    <a:pt x="30902" y="730633"/>
                  </a:lnTo>
                  <a:lnTo>
                    <a:pt x="47598" y="772511"/>
                  </a:lnTo>
                  <a:lnTo>
                    <a:pt x="67554" y="812612"/>
                  </a:lnTo>
                  <a:lnTo>
                    <a:pt x="90604" y="850771"/>
                  </a:lnTo>
                  <a:lnTo>
                    <a:pt x="116583" y="886824"/>
                  </a:lnTo>
                  <a:lnTo>
                    <a:pt x="145328" y="920605"/>
                  </a:lnTo>
                  <a:lnTo>
                    <a:pt x="176674" y="951951"/>
                  </a:lnTo>
                  <a:lnTo>
                    <a:pt x="210455" y="980696"/>
                  </a:lnTo>
                  <a:lnTo>
                    <a:pt x="246508" y="1006675"/>
                  </a:lnTo>
                  <a:lnTo>
                    <a:pt x="284667" y="1029725"/>
                  </a:lnTo>
                  <a:lnTo>
                    <a:pt x="324768" y="1049681"/>
                  </a:lnTo>
                  <a:lnTo>
                    <a:pt x="366646" y="1066377"/>
                  </a:lnTo>
                  <a:lnTo>
                    <a:pt x="410137" y="1079650"/>
                  </a:lnTo>
                  <a:lnTo>
                    <a:pt x="455076" y="1089334"/>
                  </a:lnTo>
                  <a:lnTo>
                    <a:pt x="501298" y="1095266"/>
                  </a:lnTo>
                  <a:lnTo>
                    <a:pt x="548640" y="1097279"/>
                  </a:lnTo>
                  <a:lnTo>
                    <a:pt x="595981" y="1095266"/>
                  </a:lnTo>
                  <a:lnTo>
                    <a:pt x="642203" y="1089334"/>
                  </a:lnTo>
                  <a:lnTo>
                    <a:pt x="687142" y="1079650"/>
                  </a:lnTo>
                  <a:lnTo>
                    <a:pt x="730633" y="1066377"/>
                  </a:lnTo>
                  <a:lnTo>
                    <a:pt x="772511" y="1049681"/>
                  </a:lnTo>
                  <a:lnTo>
                    <a:pt x="812612" y="1029725"/>
                  </a:lnTo>
                  <a:lnTo>
                    <a:pt x="850771" y="1006675"/>
                  </a:lnTo>
                  <a:lnTo>
                    <a:pt x="886824" y="980696"/>
                  </a:lnTo>
                  <a:lnTo>
                    <a:pt x="920605" y="951951"/>
                  </a:lnTo>
                  <a:lnTo>
                    <a:pt x="951951" y="920605"/>
                  </a:lnTo>
                  <a:lnTo>
                    <a:pt x="980696" y="886824"/>
                  </a:lnTo>
                  <a:lnTo>
                    <a:pt x="1006675" y="850771"/>
                  </a:lnTo>
                  <a:lnTo>
                    <a:pt x="1029725" y="812612"/>
                  </a:lnTo>
                  <a:lnTo>
                    <a:pt x="1049681" y="772511"/>
                  </a:lnTo>
                  <a:lnTo>
                    <a:pt x="1066377" y="730633"/>
                  </a:lnTo>
                  <a:lnTo>
                    <a:pt x="1079650" y="687142"/>
                  </a:lnTo>
                  <a:lnTo>
                    <a:pt x="1089334" y="642203"/>
                  </a:lnTo>
                  <a:lnTo>
                    <a:pt x="1095266" y="595981"/>
                  </a:lnTo>
                  <a:lnTo>
                    <a:pt x="1097280" y="548639"/>
                  </a:lnTo>
                  <a:lnTo>
                    <a:pt x="1095266" y="501298"/>
                  </a:lnTo>
                  <a:lnTo>
                    <a:pt x="1089334" y="455076"/>
                  </a:lnTo>
                  <a:lnTo>
                    <a:pt x="1079650" y="410137"/>
                  </a:lnTo>
                  <a:lnTo>
                    <a:pt x="1066377" y="366646"/>
                  </a:lnTo>
                  <a:lnTo>
                    <a:pt x="1049681" y="324768"/>
                  </a:lnTo>
                  <a:lnTo>
                    <a:pt x="1029725" y="284667"/>
                  </a:lnTo>
                  <a:lnTo>
                    <a:pt x="1006675" y="246508"/>
                  </a:lnTo>
                  <a:lnTo>
                    <a:pt x="980696" y="210455"/>
                  </a:lnTo>
                  <a:lnTo>
                    <a:pt x="951951" y="176674"/>
                  </a:lnTo>
                  <a:lnTo>
                    <a:pt x="920605" y="145328"/>
                  </a:lnTo>
                  <a:lnTo>
                    <a:pt x="886824" y="116583"/>
                  </a:lnTo>
                  <a:lnTo>
                    <a:pt x="850771" y="90604"/>
                  </a:lnTo>
                  <a:lnTo>
                    <a:pt x="812612" y="67554"/>
                  </a:lnTo>
                  <a:lnTo>
                    <a:pt x="772511" y="47598"/>
                  </a:lnTo>
                  <a:lnTo>
                    <a:pt x="730633" y="30902"/>
                  </a:lnTo>
                  <a:lnTo>
                    <a:pt x="687142" y="17629"/>
                  </a:lnTo>
                  <a:lnTo>
                    <a:pt x="642203" y="7945"/>
                  </a:lnTo>
                  <a:lnTo>
                    <a:pt x="595981" y="2013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3D7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1182" y="2845663"/>
              <a:ext cx="526694" cy="52669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293622" y="3862196"/>
            <a:ext cx="212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3863"/>
                </a:solidFill>
                <a:latin typeface="Trebuchet MS"/>
                <a:cs typeface="Trebuchet MS"/>
              </a:rPr>
              <a:t>Shared</a:t>
            </a:r>
            <a:r>
              <a:rPr dirty="0" sz="1800" spc="-5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rebuchet MS"/>
                <a:cs typeface="Trebuchet MS"/>
              </a:rPr>
              <a:t>Preferences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5921" y="4580001"/>
            <a:ext cx="301498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0355" marR="5080" indent="-28829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Small,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simple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pieces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of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such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as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settings,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username,</a:t>
            </a:r>
            <a:r>
              <a:rPr dirty="0" sz="1300" spc="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or</a:t>
            </a:r>
            <a:r>
              <a:rPr dirty="0" sz="130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dark-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mode</a:t>
            </a:r>
            <a:r>
              <a:rPr dirty="0" sz="1300" spc="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switch.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8529" y="5405373"/>
            <a:ext cx="24314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Example:</a:t>
            </a:r>
            <a:r>
              <a:rPr dirty="0" sz="1150" spc="-30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remember</a:t>
            </a:r>
            <a:r>
              <a:rPr dirty="0" sz="1150" spc="-25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the</a:t>
            </a:r>
            <a:r>
              <a:rPr dirty="0" sz="1150" spc="-25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user</a:t>
            </a:r>
            <a:r>
              <a:rPr dirty="0" sz="1150" spc="-10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is</a:t>
            </a:r>
            <a:r>
              <a:rPr dirty="0" sz="1150" spc="-25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logged</a:t>
            </a:r>
            <a:r>
              <a:rPr dirty="0" sz="1150" spc="-40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spc="-25" i="1">
                <a:solidFill>
                  <a:srgbClr val="3D7B3E"/>
                </a:solidFill>
                <a:latin typeface="Calibri"/>
                <a:cs typeface="Calibri"/>
              </a:rPr>
              <a:t>in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82440" y="1993392"/>
            <a:ext cx="3820160" cy="3940810"/>
            <a:chOff x="4282440" y="1993392"/>
            <a:chExt cx="3820160" cy="394081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440" y="2113788"/>
              <a:ext cx="3819905" cy="38199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16552" y="2194560"/>
              <a:ext cx="3611879" cy="3611879"/>
            </a:xfrm>
            <a:custGeom>
              <a:avLst/>
              <a:gdLst/>
              <a:ahLst/>
              <a:cxnLst/>
              <a:rect l="l" t="t" r="r" b="b"/>
              <a:pathLst>
                <a:path w="3611879" h="3611879">
                  <a:moveTo>
                    <a:pt x="3538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538740"/>
                  </a:lnTo>
                  <a:lnTo>
                    <a:pt x="5750" y="3567206"/>
                  </a:lnTo>
                  <a:lnTo>
                    <a:pt x="21431" y="3590455"/>
                  </a:lnTo>
                  <a:lnTo>
                    <a:pt x="44684" y="3606131"/>
                  </a:lnTo>
                  <a:lnTo>
                    <a:pt x="73151" y="3611879"/>
                  </a:lnTo>
                  <a:lnTo>
                    <a:pt x="3538728" y="3611879"/>
                  </a:lnTo>
                  <a:lnTo>
                    <a:pt x="3567195" y="3606131"/>
                  </a:lnTo>
                  <a:lnTo>
                    <a:pt x="3590448" y="3590455"/>
                  </a:lnTo>
                  <a:lnTo>
                    <a:pt x="3606129" y="3567206"/>
                  </a:lnTo>
                  <a:lnTo>
                    <a:pt x="3611879" y="3538740"/>
                  </a:lnTo>
                  <a:lnTo>
                    <a:pt x="3611879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16552" y="2194560"/>
              <a:ext cx="3611879" cy="3611879"/>
            </a:xfrm>
            <a:custGeom>
              <a:avLst/>
              <a:gdLst/>
              <a:ahLst/>
              <a:cxnLst/>
              <a:rect l="l" t="t" r="r" b="b"/>
              <a:pathLst>
                <a:path w="3611879" h="36118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79" y="73151"/>
                  </a:lnTo>
                  <a:lnTo>
                    <a:pt x="3611879" y="3538740"/>
                  </a:lnTo>
                  <a:lnTo>
                    <a:pt x="3606129" y="3567206"/>
                  </a:lnTo>
                  <a:lnTo>
                    <a:pt x="3590448" y="3590455"/>
                  </a:lnTo>
                  <a:lnTo>
                    <a:pt x="3567195" y="3606131"/>
                  </a:lnTo>
                  <a:lnTo>
                    <a:pt x="3538728" y="3611879"/>
                  </a:lnTo>
                  <a:lnTo>
                    <a:pt x="73151" y="3611879"/>
                  </a:lnTo>
                  <a:lnTo>
                    <a:pt x="44684" y="3606131"/>
                  </a:lnTo>
                  <a:lnTo>
                    <a:pt x="21431" y="3590455"/>
                  </a:lnTo>
                  <a:lnTo>
                    <a:pt x="5750" y="3567206"/>
                  </a:lnTo>
                  <a:lnTo>
                    <a:pt x="0" y="3538740"/>
                  </a:lnTo>
                  <a:lnTo>
                    <a:pt x="0" y="73151"/>
                  </a:lnTo>
                  <a:close/>
                </a:path>
              </a:pathLst>
            </a:custGeom>
            <a:ln w="31750">
              <a:solidFill>
                <a:srgbClr val="C785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353812" y="1993392"/>
              <a:ext cx="1737360" cy="402590"/>
            </a:xfrm>
            <a:custGeom>
              <a:avLst/>
              <a:gdLst/>
              <a:ahLst/>
              <a:cxnLst/>
              <a:rect l="l" t="t" r="r" b="b"/>
              <a:pathLst>
                <a:path w="1737359" h="402589">
                  <a:moveTo>
                    <a:pt x="1645919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310896"/>
                  </a:lnTo>
                  <a:lnTo>
                    <a:pt x="7179" y="346507"/>
                  </a:lnTo>
                  <a:lnTo>
                    <a:pt x="26765" y="375570"/>
                  </a:lnTo>
                  <a:lnTo>
                    <a:pt x="55828" y="395156"/>
                  </a:lnTo>
                  <a:lnTo>
                    <a:pt x="91439" y="402336"/>
                  </a:lnTo>
                  <a:lnTo>
                    <a:pt x="1645919" y="402336"/>
                  </a:lnTo>
                  <a:lnTo>
                    <a:pt x="1681531" y="395156"/>
                  </a:lnTo>
                  <a:lnTo>
                    <a:pt x="1710594" y="375570"/>
                  </a:lnTo>
                  <a:lnTo>
                    <a:pt x="1730180" y="346507"/>
                  </a:lnTo>
                  <a:lnTo>
                    <a:pt x="1737360" y="310896"/>
                  </a:lnTo>
                  <a:lnTo>
                    <a:pt x="1737360" y="91440"/>
                  </a:lnTo>
                  <a:lnTo>
                    <a:pt x="1730180" y="55828"/>
                  </a:lnTo>
                  <a:lnTo>
                    <a:pt x="1710594" y="26765"/>
                  </a:lnTo>
                  <a:lnTo>
                    <a:pt x="1681531" y="7179"/>
                  </a:lnTo>
                  <a:lnTo>
                    <a:pt x="1645919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35940" y="1570990"/>
            <a:ext cx="8101330" cy="71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Flutter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gives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us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few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 storage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choices.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right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one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depends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on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what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is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how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will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be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used.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500">
              <a:latin typeface="Calibri"/>
              <a:cs typeface="Calibri"/>
            </a:endParaRPr>
          </a:p>
          <a:p>
            <a:pPr marL="5193665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1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110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100" spc="4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11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1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1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110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100" spc="-5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54979" y="2496311"/>
            <a:ext cx="1273810" cy="1273810"/>
            <a:chOff x="5554979" y="2496311"/>
            <a:chExt cx="1273810" cy="127381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4979" y="2496311"/>
              <a:ext cx="1273302" cy="12733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673851" y="2560319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79" h="1097279">
                  <a:moveTo>
                    <a:pt x="548639" y="0"/>
                  </a:moveTo>
                  <a:lnTo>
                    <a:pt x="501298" y="2013"/>
                  </a:lnTo>
                  <a:lnTo>
                    <a:pt x="455076" y="7945"/>
                  </a:lnTo>
                  <a:lnTo>
                    <a:pt x="410137" y="17629"/>
                  </a:lnTo>
                  <a:lnTo>
                    <a:pt x="366646" y="30902"/>
                  </a:lnTo>
                  <a:lnTo>
                    <a:pt x="324768" y="47598"/>
                  </a:lnTo>
                  <a:lnTo>
                    <a:pt x="284667" y="67554"/>
                  </a:lnTo>
                  <a:lnTo>
                    <a:pt x="246508" y="90604"/>
                  </a:lnTo>
                  <a:lnTo>
                    <a:pt x="210455" y="116583"/>
                  </a:lnTo>
                  <a:lnTo>
                    <a:pt x="176674" y="145328"/>
                  </a:lnTo>
                  <a:lnTo>
                    <a:pt x="145328" y="176674"/>
                  </a:lnTo>
                  <a:lnTo>
                    <a:pt x="116583" y="210455"/>
                  </a:lnTo>
                  <a:lnTo>
                    <a:pt x="90604" y="246508"/>
                  </a:lnTo>
                  <a:lnTo>
                    <a:pt x="67554" y="284667"/>
                  </a:lnTo>
                  <a:lnTo>
                    <a:pt x="47598" y="324768"/>
                  </a:lnTo>
                  <a:lnTo>
                    <a:pt x="30902" y="366646"/>
                  </a:lnTo>
                  <a:lnTo>
                    <a:pt x="17629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39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29" y="687142"/>
                  </a:lnTo>
                  <a:lnTo>
                    <a:pt x="30902" y="730633"/>
                  </a:lnTo>
                  <a:lnTo>
                    <a:pt x="47598" y="772511"/>
                  </a:lnTo>
                  <a:lnTo>
                    <a:pt x="67554" y="812612"/>
                  </a:lnTo>
                  <a:lnTo>
                    <a:pt x="90604" y="850771"/>
                  </a:lnTo>
                  <a:lnTo>
                    <a:pt x="116583" y="886824"/>
                  </a:lnTo>
                  <a:lnTo>
                    <a:pt x="145328" y="920605"/>
                  </a:lnTo>
                  <a:lnTo>
                    <a:pt x="176674" y="951951"/>
                  </a:lnTo>
                  <a:lnTo>
                    <a:pt x="210455" y="980696"/>
                  </a:lnTo>
                  <a:lnTo>
                    <a:pt x="246508" y="1006675"/>
                  </a:lnTo>
                  <a:lnTo>
                    <a:pt x="284667" y="1029725"/>
                  </a:lnTo>
                  <a:lnTo>
                    <a:pt x="324768" y="1049681"/>
                  </a:lnTo>
                  <a:lnTo>
                    <a:pt x="366646" y="1066377"/>
                  </a:lnTo>
                  <a:lnTo>
                    <a:pt x="410137" y="1079650"/>
                  </a:lnTo>
                  <a:lnTo>
                    <a:pt x="455076" y="1089334"/>
                  </a:lnTo>
                  <a:lnTo>
                    <a:pt x="501298" y="1095266"/>
                  </a:lnTo>
                  <a:lnTo>
                    <a:pt x="548639" y="1097279"/>
                  </a:lnTo>
                  <a:lnTo>
                    <a:pt x="595981" y="1095266"/>
                  </a:lnTo>
                  <a:lnTo>
                    <a:pt x="642203" y="1089334"/>
                  </a:lnTo>
                  <a:lnTo>
                    <a:pt x="687142" y="1079650"/>
                  </a:lnTo>
                  <a:lnTo>
                    <a:pt x="730633" y="1066377"/>
                  </a:lnTo>
                  <a:lnTo>
                    <a:pt x="772511" y="1049681"/>
                  </a:lnTo>
                  <a:lnTo>
                    <a:pt x="812612" y="1029725"/>
                  </a:lnTo>
                  <a:lnTo>
                    <a:pt x="850771" y="1006675"/>
                  </a:lnTo>
                  <a:lnTo>
                    <a:pt x="886824" y="980696"/>
                  </a:lnTo>
                  <a:lnTo>
                    <a:pt x="920605" y="951951"/>
                  </a:lnTo>
                  <a:lnTo>
                    <a:pt x="951951" y="920605"/>
                  </a:lnTo>
                  <a:lnTo>
                    <a:pt x="980696" y="886824"/>
                  </a:lnTo>
                  <a:lnTo>
                    <a:pt x="1006675" y="850771"/>
                  </a:lnTo>
                  <a:lnTo>
                    <a:pt x="1029725" y="812612"/>
                  </a:lnTo>
                  <a:lnTo>
                    <a:pt x="1049681" y="772511"/>
                  </a:lnTo>
                  <a:lnTo>
                    <a:pt x="1066377" y="730633"/>
                  </a:lnTo>
                  <a:lnTo>
                    <a:pt x="1079650" y="687142"/>
                  </a:lnTo>
                  <a:lnTo>
                    <a:pt x="1089334" y="642203"/>
                  </a:lnTo>
                  <a:lnTo>
                    <a:pt x="1095266" y="595981"/>
                  </a:lnTo>
                  <a:lnTo>
                    <a:pt x="1097279" y="548639"/>
                  </a:lnTo>
                  <a:lnTo>
                    <a:pt x="1095266" y="501298"/>
                  </a:lnTo>
                  <a:lnTo>
                    <a:pt x="1089334" y="455076"/>
                  </a:lnTo>
                  <a:lnTo>
                    <a:pt x="1079650" y="410137"/>
                  </a:lnTo>
                  <a:lnTo>
                    <a:pt x="1066377" y="366646"/>
                  </a:lnTo>
                  <a:lnTo>
                    <a:pt x="1049681" y="324768"/>
                  </a:lnTo>
                  <a:lnTo>
                    <a:pt x="1029725" y="284667"/>
                  </a:lnTo>
                  <a:lnTo>
                    <a:pt x="1006675" y="246508"/>
                  </a:lnTo>
                  <a:lnTo>
                    <a:pt x="980696" y="210455"/>
                  </a:lnTo>
                  <a:lnTo>
                    <a:pt x="951951" y="176674"/>
                  </a:lnTo>
                  <a:lnTo>
                    <a:pt x="920605" y="145328"/>
                  </a:lnTo>
                  <a:lnTo>
                    <a:pt x="886824" y="116583"/>
                  </a:lnTo>
                  <a:lnTo>
                    <a:pt x="850771" y="90604"/>
                  </a:lnTo>
                  <a:lnTo>
                    <a:pt x="812612" y="67554"/>
                  </a:lnTo>
                  <a:lnTo>
                    <a:pt x="772511" y="47598"/>
                  </a:lnTo>
                  <a:lnTo>
                    <a:pt x="730633" y="30902"/>
                  </a:lnTo>
                  <a:lnTo>
                    <a:pt x="687142" y="17629"/>
                  </a:lnTo>
                  <a:lnTo>
                    <a:pt x="642203" y="7945"/>
                  </a:lnTo>
                  <a:lnTo>
                    <a:pt x="595981" y="2013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9093" y="2845663"/>
              <a:ext cx="526694" cy="52669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345048" y="3862196"/>
            <a:ext cx="1755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Trebuchet MS"/>
                <a:cs typeface="Trebuchet MS"/>
              </a:rPr>
              <a:t>SQLite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Database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43450" y="4580001"/>
            <a:ext cx="295465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7995" marR="5080" indent="-45593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EAF3E8"/>
                </a:solidFill>
                <a:latin typeface="Calibri"/>
                <a:cs typeface="Calibri"/>
              </a:rPr>
              <a:t>Structured</a:t>
            </a:r>
            <a:r>
              <a:rPr dirty="0" sz="1300" spc="-25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EAF3E8"/>
                </a:solidFill>
                <a:latin typeface="Calibri"/>
                <a:cs typeface="Calibri"/>
              </a:rPr>
              <a:t>data</a:t>
            </a:r>
            <a:r>
              <a:rPr dirty="0" sz="1300" spc="-15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EAF3E8"/>
                </a:solidFill>
                <a:latin typeface="Calibri"/>
                <a:cs typeface="Calibri"/>
              </a:rPr>
              <a:t>with</a:t>
            </a:r>
            <a:r>
              <a:rPr dirty="0" sz="1300" spc="-15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EAF3E8"/>
                </a:solidFill>
                <a:latin typeface="Calibri"/>
                <a:cs typeface="Calibri"/>
              </a:rPr>
              <a:t>many</a:t>
            </a:r>
            <a:r>
              <a:rPr dirty="0" sz="1300" spc="-15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EAF3E8"/>
                </a:solidFill>
                <a:latin typeface="Calibri"/>
                <a:cs typeface="Calibri"/>
              </a:rPr>
              <a:t>records</a:t>
            </a:r>
            <a:r>
              <a:rPr dirty="0" sz="1300" spc="-35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EAF3E8"/>
                </a:solidFill>
                <a:latin typeface="Calibri"/>
                <a:cs typeface="Calibri"/>
              </a:rPr>
              <a:t>that</a:t>
            </a:r>
            <a:r>
              <a:rPr dirty="0" sz="1300" spc="-20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EAF3E8"/>
                </a:solidFill>
                <a:latin typeface="Calibri"/>
                <a:cs typeface="Calibri"/>
              </a:rPr>
              <a:t>you </a:t>
            </a:r>
            <a:r>
              <a:rPr dirty="0" sz="1300" spc="-10">
                <a:solidFill>
                  <a:srgbClr val="EAF3E8"/>
                </a:solidFill>
                <a:latin typeface="Calibri"/>
                <a:cs typeface="Calibri"/>
              </a:rPr>
              <a:t>query,</a:t>
            </a:r>
            <a:r>
              <a:rPr dirty="0" sz="1300" spc="-40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EAF3E8"/>
                </a:solidFill>
                <a:latin typeface="Calibri"/>
                <a:cs typeface="Calibri"/>
              </a:rPr>
              <a:t>sort</a:t>
            </a:r>
            <a:r>
              <a:rPr dirty="0" sz="1300" spc="-25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EAF3E8"/>
                </a:solidFill>
                <a:latin typeface="Calibri"/>
                <a:cs typeface="Calibri"/>
              </a:rPr>
              <a:t>and</a:t>
            </a:r>
            <a:r>
              <a:rPr dirty="0" sz="1300" spc="-25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EAF3E8"/>
                </a:solidFill>
                <a:latin typeface="Calibri"/>
                <a:cs typeface="Calibri"/>
              </a:rPr>
              <a:t>update</a:t>
            </a:r>
            <a:r>
              <a:rPr dirty="0" sz="1300" spc="-20">
                <a:solidFill>
                  <a:srgbClr val="EAF3E8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EAF3E8"/>
                </a:solidFill>
                <a:latin typeface="Calibri"/>
                <a:cs typeface="Calibri"/>
              </a:rPr>
              <a:t>locally.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39334" y="5405373"/>
            <a:ext cx="17665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solidFill>
                  <a:srgbClr val="F3C869"/>
                </a:solidFill>
                <a:latin typeface="Calibri"/>
                <a:cs typeface="Calibri"/>
              </a:rPr>
              <a:t>Example:</a:t>
            </a:r>
            <a:r>
              <a:rPr dirty="0" sz="1150" spc="-2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F3C869"/>
                </a:solidFill>
                <a:latin typeface="Calibri"/>
                <a:cs typeface="Calibri"/>
              </a:rPr>
              <a:t>a</a:t>
            </a:r>
            <a:r>
              <a:rPr dirty="0" sz="1150" spc="-2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F3C869"/>
                </a:solidFill>
                <a:latin typeface="Calibri"/>
                <a:cs typeface="Calibri"/>
              </a:rPr>
              <a:t>list</a:t>
            </a:r>
            <a:r>
              <a:rPr dirty="0" sz="1150" spc="-15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F3C869"/>
                </a:solidFill>
                <a:latin typeface="Calibri"/>
                <a:cs typeface="Calibri"/>
              </a:rPr>
              <a:t>of</a:t>
            </a:r>
            <a:r>
              <a:rPr dirty="0" sz="1150" spc="-2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F3C869"/>
                </a:solidFill>
                <a:latin typeface="Calibri"/>
                <a:cs typeface="Calibri"/>
              </a:rPr>
              <a:t>saved</a:t>
            </a:r>
            <a:r>
              <a:rPr dirty="0" sz="1150" spc="-20" i="1">
                <a:solidFill>
                  <a:srgbClr val="F3C869"/>
                </a:solidFill>
                <a:latin typeface="Calibri"/>
                <a:cs typeface="Calibri"/>
              </a:rPr>
              <a:t> notes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59495" y="2124468"/>
            <a:ext cx="3800475" cy="3800475"/>
            <a:chOff x="8159495" y="2124468"/>
            <a:chExt cx="3800475" cy="380047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9495" y="2124468"/>
              <a:ext cx="3800094" cy="380009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284463" y="2194560"/>
              <a:ext cx="3611879" cy="3611879"/>
            </a:xfrm>
            <a:custGeom>
              <a:avLst/>
              <a:gdLst/>
              <a:ahLst/>
              <a:cxnLst/>
              <a:rect l="l" t="t" r="r" b="b"/>
              <a:pathLst>
                <a:path w="3611879" h="3611879">
                  <a:moveTo>
                    <a:pt x="3538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538740"/>
                  </a:lnTo>
                  <a:lnTo>
                    <a:pt x="5750" y="3567206"/>
                  </a:lnTo>
                  <a:lnTo>
                    <a:pt x="21431" y="3590455"/>
                  </a:lnTo>
                  <a:lnTo>
                    <a:pt x="44684" y="3606131"/>
                  </a:lnTo>
                  <a:lnTo>
                    <a:pt x="73151" y="3611879"/>
                  </a:lnTo>
                  <a:lnTo>
                    <a:pt x="3538728" y="3611879"/>
                  </a:lnTo>
                  <a:lnTo>
                    <a:pt x="3567195" y="3606131"/>
                  </a:lnTo>
                  <a:lnTo>
                    <a:pt x="3590448" y="3590455"/>
                  </a:lnTo>
                  <a:lnTo>
                    <a:pt x="3606129" y="3567206"/>
                  </a:lnTo>
                  <a:lnTo>
                    <a:pt x="3611879" y="3538740"/>
                  </a:lnTo>
                  <a:lnTo>
                    <a:pt x="3611879" y="73151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284463" y="2194560"/>
              <a:ext cx="3611879" cy="3611879"/>
            </a:xfrm>
            <a:custGeom>
              <a:avLst/>
              <a:gdLst/>
              <a:ahLst/>
              <a:cxnLst/>
              <a:rect l="l" t="t" r="r" b="b"/>
              <a:pathLst>
                <a:path w="3611879" h="36118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79" y="73151"/>
                  </a:lnTo>
                  <a:lnTo>
                    <a:pt x="3611879" y="3538740"/>
                  </a:lnTo>
                  <a:lnTo>
                    <a:pt x="3606129" y="3567206"/>
                  </a:lnTo>
                  <a:lnTo>
                    <a:pt x="3590448" y="3590455"/>
                  </a:lnTo>
                  <a:lnTo>
                    <a:pt x="3567195" y="3606131"/>
                  </a:lnTo>
                  <a:lnTo>
                    <a:pt x="3538728" y="3611879"/>
                  </a:lnTo>
                  <a:lnTo>
                    <a:pt x="73151" y="3611879"/>
                  </a:lnTo>
                  <a:lnTo>
                    <a:pt x="44684" y="3606131"/>
                  </a:lnTo>
                  <a:lnTo>
                    <a:pt x="21431" y="3590455"/>
                  </a:lnTo>
                  <a:lnTo>
                    <a:pt x="5750" y="3567206"/>
                  </a:lnTo>
                  <a:lnTo>
                    <a:pt x="0" y="353874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2891" y="2496312"/>
              <a:ext cx="1273302" cy="127330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541763" y="256032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79" h="1097279">
                  <a:moveTo>
                    <a:pt x="548639" y="0"/>
                  </a:moveTo>
                  <a:lnTo>
                    <a:pt x="501298" y="2013"/>
                  </a:lnTo>
                  <a:lnTo>
                    <a:pt x="455076" y="7945"/>
                  </a:lnTo>
                  <a:lnTo>
                    <a:pt x="410137" y="17629"/>
                  </a:lnTo>
                  <a:lnTo>
                    <a:pt x="366646" y="30902"/>
                  </a:lnTo>
                  <a:lnTo>
                    <a:pt x="324768" y="47598"/>
                  </a:lnTo>
                  <a:lnTo>
                    <a:pt x="284667" y="67554"/>
                  </a:lnTo>
                  <a:lnTo>
                    <a:pt x="246508" y="90604"/>
                  </a:lnTo>
                  <a:lnTo>
                    <a:pt x="210455" y="116583"/>
                  </a:lnTo>
                  <a:lnTo>
                    <a:pt x="176674" y="145328"/>
                  </a:lnTo>
                  <a:lnTo>
                    <a:pt x="145328" y="176674"/>
                  </a:lnTo>
                  <a:lnTo>
                    <a:pt x="116583" y="210455"/>
                  </a:lnTo>
                  <a:lnTo>
                    <a:pt x="90604" y="246508"/>
                  </a:lnTo>
                  <a:lnTo>
                    <a:pt x="67554" y="284667"/>
                  </a:lnTo>
                  <a:lnTo>
                    <a:pt x="47598" y="324768"/>
                  </a:lnTo>
                  <a:lnTo>
                    <a:pt x="30902" y="366646"/>
                  </a:lnTo>
                  <a:lnTo>
                    <a:pt x="17629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39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29" y="687142"/>
                  </a:lnTo>
                  <a:lnTo>
                    <a:pt x="30902" y="730633"/>
                  </a:lnTo>
                  <a:lnTo>
                    <a:pt x="47598" y="772511"/>
                  </a:lnTo>
                  <a:lnTo>
                    <a:pt x="67554" y="812612"/>
                  </a:lnTo>
                  <a:lnTo>
                    <a:pt x="90604" y="850771"/>
                  </a:lnTo>
                  <a:lnTo>
                    <a:pt x="116583" y="886824"/>
                  </a:lnTo>
                  <a:lnTo>
                    <a:pt x="145328" y="920605"/>
                  </a:lnTo>
                  <a:lnTo>
                    <a:pt x="176674" y="951951"/>
                  </a:lnTo>
                  <a:lnTo>
                    <a:pt x="210455" y="980696"/>
                  </a:lnTo>
                  <a:lnTo>
                    <a:pt x="246508" y="1006675"/>
                  </a:lnTo>
                  <a:lnTo>
                    <a:pt x="284667" y="1029725"/>
                  </a:lnTo>
                  <a:lnTo>
                    <a:pt x="324768" y="1049681"/>
                  </a:lnTo>
                  <a:lnTo>
                    <a:pt x="366646" y="1066377"/>
                  </a:lnTo>
                  <a:lnTo>
                    <a:pt x="410137" y="1079650"/>
                  </a:lnTo>
                  <a:lnTo>
                    <a:pt x="455076" y="1089334"/>
                  </a:lnTo>
                  <a:lnTo>
                    <a:pt x="501298" y="1095266"/>
                  </a:lnTo>
                  <a:lnTo>
                    <a:pt x="548639" y="1097279"/>
                  </a:lnTo>
                  <a:lnTo>
                    <a:pt x="595981" y="1095266"/>
                  </a:lnTo>
                  <a:lnTo>
                    <a:pt x="642203" y="1089334"/>
                  </a:lnTo>
                  <a:lnTo>
                    <a:pt x="687142" y="1079650"/>
                  </a:lnTo>
                  <a:lnTo>
                    <a:pt x="730633" y="1066377"/>
                  </a:lnTo>
                  <a:lnTo>
                    <a:pt x="772511" y="1049681"/>
                  </a:lnTo>
                  <a:lnTo>
                    <a:pt x="812612" y="1029725"/>
                  </a:lnTo>
                  <a:lnTo>
                    <a:pt x="850771" y="1006675"/>
                  </a:lnTo>
                  <a:lnTo>
                    <a:pt x="886824" y="980696"/>
                  </a:lnTo>
                  <a:lnTo>
                    <a:pt x="920605" y="951951"/>
                  </a:lnTo>
                  <a:lnTo>
                    <a:pt x="951951" y="920605"/>
                  </a:lnTo>
                  <a:lnTo>
                    <a:pt x="980696" y="886824"/>
                  </a:lnTo>
                  <a:lnTo>
                    <a:pt x="1006675" y="850771"/>
                  </a:lnTo>
                  <a:lnTo>
                    <a:pt x="1029725" y="812612"/>
                  </a:lnTo>
                  <a:lnTo>
                    <a:pt x="1049681" y="772511"/>
                  </a:lnTo>
                  <a:lnTo>
                    <a:pt x="1066377" y="730633"/>
                  </a:lnTo>
                  <a:lnTo>
                    <a:pt x="1079650" y="687142"/>
                  </a:lnTo>
                  <a:lnTo>
                    <a:pt x="1089334" y="642203"/>
                  </a:lnTo>
                  <a:lnTo>
                    <a:pt x="1095266" y="595981"/>
                  </a:lnTo>
                  <a:lnTo>
                    <a:pt x="1097279" y="548639"/>
                  </a:lnTo>
                  <a:lnTo>
                    <a:pt x="1095266" y="501298"/>
                  </a:lnTo>
                  <a:lnTo>
                    <a:pt x="1089334" y="455076"/>
                  </a:lnTo>
                  <a:lnTo>
                    <a:pt x="1079650" y="410137"/>
                  </a:lnTo>
                  <a:lnTo>
                    <a:pt x="1066377" y="366646"/>
                  </a:lnTo>
                  <a:lnTo>
                    <a:pt x="1049681" y="324768"/>
                  </a:lnTo>
                  <a:lnTo>
                    <a:pt x="1029725" y="284667"/>
                  </a:lnTo>
                  <a:lnTo>
                    <a:pt x="1006675" y="246508"/>
                  </a:lnTo>
                  <a:lnTo>
                    <a:pt x="980696" y="210455"/>
                  </a:lnTo>
                  <a:lnTo>
                    <a:pt x="951951" y="176674"/>
                  </a:lnTo>
                  <a:lnTo>
                    <a:pt x="920605" y="145328"/>
                  </a:lnTo>
                  <a:lnTo>
                    <a:pt x="886824" y="116583"/>
                  </a:lnTo>
                  <a:lnTo>
                    <a:pt x="850771" y="90604"/>
                  </a:lnTo>
                  <a:lnTo>
                    <a:pt x="812612" y="67554"/>
                  </a:lnTo>
                  <a:lnTo>
                    <a:pt x="772511" y="47598"/>
                  </a:lnTo>
                  <a:lnTo>
                    <a:pt x="730633" y="30902"/>
                  </a:lnTo>
                  <a:lnTo>
                    <a:pt x="687142" y="17629"/>
                  </a:lnTo>
                  <a:lnTo>
                    <a:pt x="642203" y="7945"/>
                  </a:lnTo>
                  <a:lnTo>
                    <a:pt x="595981" y="2013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27005" y="2845663"/>
              <a:ext cx="526694" cy="526694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346183" y="3862196"/>
            <a:ext cx="1492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3863"/>
                </a:solidFill>
                <a:latin typeface="Trebuchet MS"/>
                <a:cs typeface="Trebuchet MS"/>
              </a:rPr>
              <a:t>Cloud</a:t>
            </a:r>
            <a:r>
              <a:rPr dirty="0" sz="1800" spc="-1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1F3863"/>
                </a:solidFill>
                <a:latin typeface="Trebuchet MS"/>
                <a:cs typeface="Trebuchet MS"/>
              </a:rPr>
              <a:t>Storage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5" name="object 35"/>
          <p:cNvSpPr txBox="1"/>
          <p:nvPr/>
        </p:nvSpPr>
        <p:spPr>
          <a:xfrm>
            <a:off x="8614664" y="4580001"/>
            <a:ext cx="295084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8955" marR="5080" indent="-51689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3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that</a:t>
            </a:r>
            <a:r>
              <a:rPr dirty="0" sz="13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must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sync</a:t>
            </a:r>
            <a:r>
              <a:rPr dirty="0" sz="13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across</a:t>
            </a:r>
            <a:r>
              <a:rPr dirty="0" sz="13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devices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3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stay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available</a:t>
            </a:r>
            <a:r>
              <a:rPr dirty="0" sz="130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online</a:t>
            </a:r>
            <a:r>
              <a:rPr dirty="0" sz="130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in real</a:t>
            </a:r>
            <a:r>
              <a:rPr dirty="0" sz="13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time.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853931" y="5405373"/>
            <a:ext cx="24739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Example:</a:t>
            </a:r>
            <a:r>
              <a:rPr dirty="0" sz="1150" spc="-35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chat</a:t>
            </a:r>
            <a:r>
              <a:rPr dirty="0" sz="1150" spc="-25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messages</a:t>
            </a:r>
            <a:r>
              <a:rPr dirty="0" sz="1150" spc="-20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on</a:t>
            </a:r>
            <a:r>
              <a:rPr dirty="0" sz="1150" spc="-35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i="1">
                <a:solidFill>
                  <a:srgbClr val="3D7B3E"/>
                </a:solidFill>
                <a:latin typeface="Calibri"/>
                <a:cs typeface="Calibri"/>
              </a:rPr>
              <a:t>many</a:t>
            </a:r>
            <a:r>
              <a:rPr dirty="0" sz="1150" spc="-35" i="1">
                <a:solidFill>
                  <a:srgbClr val="3D7B3E"/>
                </a:solidFill>
                <a:latin typeface="Calibri"/>
                <a:cs typeface="Calibri"/>
              </a:rPr>
              <a:t> </a:t>
            </a:r>
            <a:r>
              <a:rPr dirty="0" sz="1150" spc="-10" i="1">
                <a:solidFill>
                  <a:srgbClr val="3D7B3E"/>
                </a:solidFill>
                <a:latin typeface="Calibri"/>
                <a:cs typeface="Calibri"/>
              </a:rPr>
              <a:t>phones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24542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85289" algn="l"/>
              </a:tabLst>
            </a:pP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C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9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V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U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SQLite</a:t>
            </a:r>
            <a:r>
              <a:rPr dirty="0" spc="-50"/>
              <a:t> </a:t>
            </a:r>
            <a:r>
              <a:rPr dirty="0"/>
              <a:t>or</a:t>
            </a:r>
            <a:r>
              <a:rPr dirty="0" spc="-50"/>
              <a:t> </a:t>
            </a:r>
            <a:r>
              <a:rPr dirty="0"/>
              <a:t>Cloud:</a:t>
            </a:r>
            <a:r>
              <a:rPr dirty="0" spc="-50"/>
              <a:t> </a:t>
            </a:r>
            <a:r>
              <a:rPr dirty="0"/>
              <a:t>When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Choose</a:t>
            </a:r>
            <a:r>
              <a:rPr dirty="0" spc="-55"/>
              <a:t> </a:t>
            </a:r>
            <a:r>
              <a:rPr dirty="0" spc="-10"/>
              <a:t>Which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70990"/>
            <a:ext cx="70789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Both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can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store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lots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of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data.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real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question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is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whether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needs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leave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phone.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672" y="2078735"/>
            <a:ext cx="5629275" cy="3891915"/>
            <a:chOff x="423672" y="2078735"/>
            <a:chExt cx="5629275" cy="38919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2078735"/>
              <a:ext cx="5628894" cy="389153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40" y="2148839"/>
              <a:ext cx="5440680" cy="3703320"/>
            </a:xfrm>
            <a:custGeom>
              <a:avLst/>
              <a:gdLst/>
              <a:ahLst/>
              <a:cxnLst/>
              <a:rect l="l" t="t" r="r" b="b"/>
              <a:pathLst>
                <a:path w="5440680" h="3703320">
                  <a:moveTo>
                    <a:pt x="536752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3630180"/>
                  </a:lnTo>
                  <a:lnTo>
                    <a:pt x="5748" y="3658646"/>
                  </a:lnTo>
                  <a:lnTo>
                    <a:pt x="21424" y="3681895"/>
                  </a:lnTo>
                  <a:lnTo>
                    <a:pt x="44673" y="3697571"/>
                  </a:lnTo>
                  <a:lnTo>
                    <a:pt x="73139" y="3703320"/>
                  </a:lnTo>
                  <a:lnTo>
                    <a:pt x="5367528" y="3703320"/>
                  </a:lnTo>
                  <a:lnTo>
                    <a:pt x="5395995" y="3697571"/>
                  </a:lnTo>
                  <a:lnTo>
                    <a:pt x="5419248" y="3681895"/>
                  </a:lnTo>
                  <a:lnTo>
                    <a:pt x="5434929" y="3658646"/>
                  </a:lnTo>
                  <a:lnTo>
                    <a:pt x="5440680" y="3630180"/>
                  </a:lnTo>
                  <a:lnTo>
                    <a:pt x="5440680" y="73151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40" y="2148839"/>
              <a:ext cx="5440680" cy="3703320"/>
            </a:xfrm>
            <a:custGeom>
              <a:avLst/>
              <a:gdLst/>
              <a:ahLst/>
              <a:cxnLst/>
              <a:rect l="l" t="t" r="r" b="b"/>
              <a:pathLst>
                <a:path w="5440680" h="3703320">
                  <a:moveTo>
                    <a:pt x="0" y="73151"/>
                  </a:moveTo>
                  <a:lnTo>
                    <a:pt x="5748" y="44684"/>
                  </a:lnTo>
                  <a:lnTo>
                    <a:pt x="21424" y="21431"/>
                  </a:lnTo>
                  <a:lnTo>
                    <a:pt x="44673" y="5750"/>
                  </a:lnTo>
                  <a:lnTo>
                    <a:pt x="73139" y="0"/>
                  </a:lnTo>
                  <a:lnTo>
                    <a:pt x="5367528" y="0"/>
                  </a:lnTo>
                  <a:lnTo>
                    <a:pt x="5395995" y="5750"/>
                  </a:lnTo>
                  <a:lnTo>
                    <a:pt x="5419248" y="21431"/>
                  </a:lnTo>
                  <a:lnTo>
                    <a:pt x="5434929" y="44684"/>
                  </a:lnTo>
                  <a:lnTo>
                    <a:pt x="5440680" y="73151"/>
                  </a:lnTo>
                  <a:lnTo>
                    <a:pt x="5440680" y="3630180"/>
                  </a:lnTo>
                  <a:lnTo>
                    <a:pt x="5434929" y="3658646"/>
                  </a:lnTo>
                  <a:lnTo>
                    <a:pt x="5419248" y="3681895"/>
                  </a:lnTo>
                  <a:lnTo>
                    <a:pt x="5395995" y="3697571"/>
                  </a:lnTo>
                  <a:lnTo>
                    <a:pt x="5367528" y="3703320"/>
                  </a:lnTo>
                  <a:lnTo>
                    <a:pt x="73139" y="3703320"/>
                  </a:lnTo>
                  <a:lnTo>
                    <a:pt x="44673" y="3697571"/>
                  </a:lnTo>
                  <a:lnTo>
                    <a:pt x="21424" y="3681895"/>
                  </a:lnTo>
                  <a:lnTo>
                    <a:pt x="5748" y="3658646"/>
                  </a:lnTo>
                  <a:lnTo>
                    <a:pt x="0" y="363018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40" y="2148839"/>
              <a:ext cx="5440680" cy="786765"/>
            </a:xfrm>
            <a:custGeom>
              <a:avLst/>
              <a:gdLst/>
              <a:ahLst/>
              <a:cxnLst/>
              <a:rect l="l" t="t" r="r" b="b"/>
              <a:pathLst>
                <a:path w="5440680" h="786764">
                  <a:moveTo>
                    <a:pt x="5440667" y="0"/>
                  </a:moveTo>
                  <a:lnTo>
                    <a:pt x="0" y="0"/>
                  </a:lnTo>
                  <a:lnTo>
                    <a:pt x="0" y="768096"/>
                  </a:lnTo>
                  <a:lnTo>
                    <a:pt x="0" y="777240"/>
                  </a:lnTo>
                  <a:lnTo>
                    <a:pt x="0" y="786384"/>
                  </a:lnTo>
                  <a:lnTo>
                    <a:pt x="5440667" y="786384"/>
                  </a:lnTo>
                  <a:lnTo>
                    <a:pt x="5440667" y="777240"/>
                  </a:lnTo>
                  <a:lnTo>
                    <a:pt x="5440667" y="768096"/>
                  </a:lnTo>
                  <a:lnTo>
                    <a:pt x="5440667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80" y="2350007"/>
              <a:ext cx="384047" cy="38404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48640" y="2366898"/>
            <a:ext cx="54406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6868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SQLite</a:t>
            </a:r>
            <a:r>
              <a:rPr dirty="0" sz="1900" spc="-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(Local)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96111" y="2078735"/>
            <a:ext cx="10780395" cy="3891915"/>
            <a:chOff x="896111" y="2078735"/>
            <a:chExt cx="10780395" cy="3891915"/>
          </a:xfrm>
        </p:grpSpPr>
        <p:sp>
          <p:nvSpPr>
            <p:cNvPr id="13" name="object 13"/>
            <p:cNvSpPr/>
            <p:nvPr/>
          </p:nvSpPr>
          <p:spPr>
            <a:xfrm>
              <a:off x="896111" y="3154679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3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3" y="292608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7" y="146304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737" y="3222305"/>
              <a:ext cx="159165" cy="15916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96111" y="366674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3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3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3" y="292607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7" y="146303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737" y="3734369"/>
              <a:ext cx="159165" cy="15916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96111" y="4178807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3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3" y="292608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7" y="146304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737" y="4246433"/>
              <a:ext cx="159165" cy="15916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96111" y="469087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3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3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3" y="292607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7" y="146303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737" y="4758497"/>
              <a:ext cx="159165" cy="15916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7232" y="2078735"/>
              <a:ext cx="5628894" cy="389153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72200" y="2148839"/>
              <a:ext cx="5440680" cy="3703320"/>
            </a:xfrm>
            <a:custGeom>
              <a:avLst/>
              <a:gdLst/>
              <a:ahLst/>
              <a:cxnLst/>
              <a:rect l="l" t="t" r="r" b="b"/>
              <a:pathLst>
                <a:path w="5440680" h="3703320">
                  <a:moveTo>
                    <a:pt x="53675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630180"/>
                  </a:lnTo>
                  <a:lnTo>
                    <a:pt x="5750" y="3658646"/>
                  </a:lnTo>
                  <a:lnTo>
                    <a:pt x="21431" y="3681895"/>
                  </a:lnTo>
                  <a:lnTo>
                    <a:pt x="44684" y="3697571"/>
                  </a:lnTo>
                  <a:lnTo>
                    <a:pt x="73151" y="3703320"/>
                  </a:lnTo>
                  <a:lnTo>
                    <a:pt x="5367528" y="3703320"/>
                  </a:lnTo>
                  <a:lnTo>
                    <a:pt x="5395995" y="3697571"/>
                  </a:lnTo>
                  <a:lnTo>
                    <a:pt x="5419248" y="3681895"/>
                  </a:lnTo>
                  <a:lnTo>
                    <a:pt x="5434929" y="3658646"/>
                  </a:lnTo>
                  <a:lnTo>
                    <a:pt x="5440680" y="3630180"/>
                  </a:lnTo>
                  <a:lnTo>
                    <a:pt x="5440680" y="73151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172200" y="2148839"/>
              <a:ext cx="5440680" cy="3703320"/>
            </a:xfrm>
            <a:custGeom>
              <a:avLst/>
              <a:gdLst/>
              <a:ahLst/>
              <a:cxnLst/>
              <a:rect l="l" t="t" r="r" b="b"/>
              <a:pathLst>
                <a:path w="5440680" h="37033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367528" y="0"/>
                  </a:lnTo>
                  <a:lnTo>
                    <a:pt x="5395995" y="5750"/>
                  </a:lnTo>
                  <a:lnTo>
                    <a:pt x="5419248" y="21431"/>
                  </a:lnTo>
                  <a:lnTo>
                    <a:pt x="5434929" y="44684"/>
                  </a:lnTo>
                  <a:lnTo>
                    <a:pt x="5440680" y="73151"/>
                  </a:lnTo>
                  <a:lnTo>
                    <a:pt x="5440680" y="3630180"/>
                  </a:lnTo>
                  <a:lnTo>
                    <a:pt x="5434929" y="3658646"/>
                  </a:lnTo>
                  <a:lnTo>
                    <a:pt x="5419248" y="3681895"/>
                  </a:lnTo>
                  <a:lnTo>
                    <a:pt x="5395995" y="3697571"/>
                  </a:lnTo>
                  <a:lnTo>
                    <a:pt x="5367528" y="3703320"/>
                  </a:lnTo>
                  <a:lnTo>
                    <a:pt x="73151" y="3703320"/>
                  </a:lnTo>
                  <a:lnTo>
                    <a:pt x="44684" y="3697571"/>
                  </a:lnTo>
                  <a:lnTo>
                    <a:pt x="21431" y="3681895"/>
                  </a:lnTo>
                  <a:lnTo>
                    <a:pt x="5750" y="3658646"/>
                  </a:lnTo>
                  <a:lnTo>
                    <a:pt x="0" y="363018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172200" y="2148839"/>
              <a:ext cx="5440680" cy="786765"/>
            </a:xfrm>
            <a:custGeom>
              <a:avLst/>
              <a:gdLst/>
              <a:ahLst/>
              <a:cxnLst/>
              <a:rect l="l" t="t" r="r" b="b"/>
              <a:pathLst>
                <a:path w="5440680" h="786764">
                  <a:moveTo>
                    <a:pt x="5440680" y="0"/>
                  </a:moveTo>
                  <a:lnTo>
                    <a:pt x="0" y="0"/>
                  </a:lnTo>
                  <a:lnTo>
                    <a:pt x="0" y="768096"/>
                  </a:lnTo>
                  <a:lnTo>
                    <a:pt x="0" y="777240"/>
                  </a:lnTo>
                  <a:lnTo>
                    <a:pt x="0" y="786384"/>
                  </a:lnTo>
                  <a:lnTo>
                    <a:pt x="5440680" y="786384"/>
                  </a:lnTo>
                  <a:lnTo>
                    <a:pt x="5440680" y="777240"/>
                  </a:lnTo>
                  <a:lnTo>
                    <a:pt x="5440680" y="768096"/>
                  </a:lnTo>
                  <a:lnTo>
                    <a:pt x="544068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2240" y="2350007"/>
              <a:ext cx="384047" cy="38404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313433" y="3173984"/>
            <a:ext cx="157353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Lives</a:t>
            </a:r>
            <a:r>
              <a:rPr dirty="0" sz="1350" spc="-4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inside</a:t>
            </a:r>
            <a:r>
              <a:rPr dirty="0" sz="135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the</a:t>
            </a:r>
            <a:r>
              <a:rPr dirty="0" sz="1350" spc="-3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1C2B1C"/>
                </a:solidFill>
                <a:latin typeface="Calibri"/>
                <a:cs typeface="Calibri"/>
              </a:rPr>
              <a:t>phone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13433" y="3686047"/>
            <a:ext cx="163004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Works</a:t>
            </a:r>
            <a:r>
              <a:rPr dirty="0" sz="1350" spc="-3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with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no</a:t>
            </a:r>
            <a:r>
              <a:rPr dirty="0" sz="1350" spc="-2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internet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13433" y="4198111"/>
            <a:ext cx="18719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Very</a:t>
            </a:r>
            <a:r>
              <a:rPr dirty="0" sz="135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fast</a:t>
            </a:r>
            <a:r>
              <a:rPr dirty="0" sz="135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to</a:t>
            </a:r>
            <a:r>
              <a:rPr dirty="0" sz="1350" spc="-6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read</a:t>
            </a:r>
            <a:r>
              <a:rPr dirty="0" sz="1350" spc="-4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and</a:t>
            </a:r>
            <a:r>
              <a:rPr dirty="0" sz="1350" spc="-4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write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13433" y="4710429"/>
            <a:ext cx="208026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Data</a:t>
            </a:r>
            <a:r>
              <a:rPr dirty="0" sz="1350" spc="-6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stays</a:t>
            </a:r>
            <a:r>
              <a:rPr dirty="0" sz="135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on</a:t>
            </a:r>
            <a:r>
              <a:rPr dirty="0" sz="135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one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device</a:t>
            </a:r>
            <a:r>
              <a:rPr dirty="0" sz="1350" spc="-1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1C2B1C"/>
                </a:solidFill>
                <a:latin typeface="Calibri"/>
                <a:cs typeface="Calibri"/>
              </a:rPr>
              <a:t>only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1700" y="5456631"/>
            <a:ext cx="4298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Best</a:t>
            </a:r>
            <a:r>
              <a:rPr dirty="0" sz="1200" spc="-30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for:</a:t>
            </a:r>
            <a:r>
              <a:rPr dirty="0" sz="1200" spc="-30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personal</a:t>
            </a:r>
            <a:r>
              <a:rPr dirty="0" sz="1200" spc="-20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data</a:t>
            </a:r>
            <a:r>
              <a:rPr dirty="0" sz="1200" spc="-35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on</a:t>
            </a:r>
            <a:r>
              <a:rPr dirty="0" sz="1200" spc="-25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a</a:t>
            </a:r>
            <a:r>
              <a:rPr dirty="0" sz="1200" spc="-25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single</a:t>
            </a:r>
            <a:r>
              <a:rPr dirty="0" sz="1200" spc="-30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phone,</a:t>
            </a:r>
            <a:r>
              <a:rPr dirty="0" sz="1200" spc="-15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like</a:t>
            </a:r>
            <a:r>
              <a:rPr dirty="0" sz="1200" spc="-15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notes</a:t>
            </a:r>
            <a:r>
              <a:rPr dirty="0" sz="1200" spc="-30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or</a:t>
            </a:r>
            <a:r>
              <a:rPr dirty="0" sz="1200" spc="-25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2C5F2C"/>
                </a:solidFill>
                <a:latin typeface="Calibri"/>
                <a:cs typeface="Calibri"/>
              </a:rPr>
              <a:t>saved</a:t>
            </a:r>
            <a:r>
              <a:rPr dirty="0" sz="1200" spc="-25" i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2C5F2C"/>
                </a:solidFill>
                <a:latin typeface="Calibri"/>
                <a:cs typeface="Calibri"/>
              </a:rPr>
              <a:t>settings.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72200" y="2366898"/>
            <a:ext cx="54406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69315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Cloud</a:t>
            </a:r>
            <a:r>
              <a:rPr dirty="0" sz="19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(Online)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519671" y="3154679"/>
            <a:ext cx="292735" cy="1828800"/>
            <a:chOff x="6519671" y="3154679"/>
            <a:chExt cx="292735" cy="1828800"/>
          </a:xfrm>
        </p:grpSpPr>
        <p:sp>
          <p:nvSpPr>
            <p:cNvPr id="33" name="object 33"/>
            <p:cNvSpPr/>
            <p:nvPr/>
          </p:nvSpPr>
          <p:spPr>
            <a:xfrm>
              <a:off x="6519671" y="3154679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3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4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3" y="292608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7" y="146304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7297" y="3222305"/>
              <a:ext cx="159165" cy="15916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519671" y="366674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3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3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7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7297" y="3734369"/>
              <a:ext cx="159165" cy="15916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519671" y="4178807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3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4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3" y="292608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7" y="146304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7297" y="4246433"/>
              <a:ext cx="159165" cy="15916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519671" y="4690871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3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3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7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7297" y="4758497"/>
              <a:ext cx="159165" cy="159165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937629" y="3173984"/>
            <a:ext cx="165227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Lives</a:t>
            </a:r>
            <a:r>
              <a:rPr dirty="0" sz="1350" spc="-4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on</a:t>
            </a:r>
            <a:r>
              <a:rPr dirty="0" sz="1350" spc="-3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a</a:t>
            </a:r>
            <a:r>
              <a:rPr dirty="0" sz="135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server</a:t>
            </a:r>
            <a:r>
              <a:rPr dirty="0" sz="1350" spc="-2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online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2" name="object 42"/>
          <p:cNvSpPr txBox="1"/>
          <p:nvPr/>
        </p:nvSpPr>
        <p:spPr>
          <a:xfrm>
            <a:off x="6937629" y="3686047"/>
            <a:ext cx="2094864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Needs</a:t>
            </a:r>
            <a:r>
              <a:rPr dirty="0" sz="1350" spc="-3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an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internet</a:t>
            </a:r>
            <a:r>
              <a:rPr dirty="0" sz="1350" spc="-2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connection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37629" y="4198111"/>
            <a:ext cx="186308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Syncs</a:t>
            </a:r>
            <a:r>
              <a:rPr dirty="0" sz="1350" spc="-5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across</a:t>
            </a:r>
            <a:r>
              <a:rPr dirty="0" sz="1350" spc="-6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many</a:t>
            </a:r>
            <a:r>
              <a:rPr dirty="0" sz="1350" spc="-4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devices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37629" y="4710429"/>
            <a:ext cx="240220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Shared</a:t>
            </a:r>
            <a:r>
              <a:rPr dirty="0" sz="1350" spc="-6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between</a:t>
            </a:r>
            <a:r>
              <a:rPr dirty="0" sz="135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users</a:t>
            </a:r>
            <a:r>
              <a:rPr dirty="0" sz="1350" spc="-5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in</a:t>
            </a:r>
            <a:r>
              <a:rPr dirty="0" sz="1350" spc="-6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real</a:t>
            </a:r>
            <a:r>
              <a:rPr dirty="0" sz="135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1C2B1C"/>
                </a:solidFill>
                <a:latin typeface="Calibri"/>
                <a:cs typeface="Calibri"/>
              </a:rPr>
              <a:t>time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526148" y="5456631"/>
            <a:ext cx="4572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Best</a:t>
            </a:r>
            <a:r>
              <a:rPr dirty="0" sz="1200" spc="-30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for:</a:t>
            </a:r>
            <a:r>
              <a:rPr dirty="0" sz="1200" spc="-35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shared</a:t>
            </a:r>
            <a:r>
              <a:rPr dirty="0" sz="1200" spc="-30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or</a:t>
            </a:r>
            <a:r>
              <a:rPr dirty="0" sz="1200" spc="-25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synced</a:t>
            </a:r>
            <a:r>
              <a:rPr dirty="0" sz="1200" spc="-30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data,</a:t>
            </a:r>
            <a:r>
              <a:rPr dirty="0" sz="1200" spc="-35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like</a:t>
            </a:r>
            <a:r>
              <a:rPr dirty="0" sz="1200" spc="-20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chat</a:t>
            </a:r>
            <a:r>
              <a:rPr dirty="0" sz="1200" spc="-30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messages</a:t>
            </a:r>
            <a:r>
              <a:rPr dirty="0" sz="1200" spc="-35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or</a:t>
            </a:r>
            <a:r>
              <a:rPr dirty="0" sz="1200" spc="-25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a</a:t>
            </a:r>
            <a:r>
              <a:rPr dirty="0" sz="1200" spc="-30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1F3863"/>
                </a:solidFill>
                <a:latin typeface="Calibri"/>
                <a:cs typeface="Calibri"/>
              </a:rPr>
              <a:t>class</a:t>
            </a:r>
            <a:r>
              <a:rPr dirty="0" sz="1200" spc="-35" i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1F3863"/>
                </a:solidFill>
                <a:latin typeface="Calibri"/>
                <a:cs typeface="Calibri"/>
              </a:rPr>
              <a:t>leaderboard.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5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35940" y="399999"/>
            <a:ext cx="24237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U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10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C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10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G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-65"/>
              <a:t> </a:t>
            </a:r>
            <a:r>
              <a:rPr dirty="0"/>
              <a:t>SQLite</a:t>
            </a:r>
            <a:r>
              <a:rPr dirty="0" spc="-45"/>
              <a:t> </a:t>
            </a:r>
            <a:r>
              <a:rPr dirty="0" spc="-10"/>
              <a:t>Database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29768" y="2404872"/>
            <a:ext cx="816610" cy="816610"/>
            <a:chOff x="429768" y="2404872"/>
            <a:chExt cx="816610" cy="8166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2404872"/>
              <a:ext cx="816102" cy="8161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39" y="246888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34" y="636610"/>
                  </a:lnTo>
                  <a:lnTo>
                    <a:pt x="412473" y="626532"/>
                  </a:lnTo>
                  <a:lnTo>
                    <a:pt x="454963" y="610339"/>
                  </a:lnTo>
                  <a:lnTo>
                    <a:pt x="494307" y="588527"/>
                  </a:lnTo>
                  <a:lnTo>
                    <a:pt x="530011" y="561589"/>
                  </a:lnTo>
                  <a:lnTo>
                    <a:pt x="561581" y="530022"/>
                  </a:lnTo>
                  <a:lnTo>
                    <a:pt x="588520" y="494318"/>
                  </a:lnTo>
                  <a:lnTo>
                    <a:pt x="610335" y="454974"/>
                  </a:lnTo>
                  <a:lnTo>
                    <a:pt x="626530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0" y="227596"/>
                  </a:lnTo>
                  <a:lnTo>
                    <a:pt x="610335" y="185105"/>
                  </a:lnTo>
                  <a:lnTo>
                    <a:pt x="588520" y="145761"/>
                  </a:lnTo>
                  <a:lnTo>
                    <a:pt x="561581" y="110057"/>
                  </a:lnTo>
                  <a:lnTo>
                    <a:pt x="530011" y="78490"/>
                  </a:lnTo>
                  <a:lnTo>
                    <a:pt x="494307" y="51552"/>
                  </a:lnTo>
                  <a:lnTo>
                    <a:pt x="454963" y="29740"/>
                  </a:lnTo>
                  <a:lnTo>
                    <a:pt x="412473" y="13547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060" y="2635351"/>
              <a:ext cx="307238" cy="30723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29768" y="3456432"/>
            <a:ext cx="816610" cy="816610"/>
            <a:chOff x="429768" y="3456432"/>
            <a:chExt cx="816610" cy="8166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3456432"/>
              <a:ext cx="816102" cy="81610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8639" y="352044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34" y="636610"/>
                  </a:lnTo>
                  <a:lnTo>
                    <a:pt x="412473" y="626532"/>
                  </a:lnTo>
                  <a:lnTo>
                    <a:pt x="454963" y="610339"/>
                  </a:lnTo>
                  <a:lnTo>
                    <a:pt x="494307" y="588527"/>
                  </a:lnTo>
                  <a:lnTo>
                    <a:pt x="530011" y="561589"/>
                  </a:lnTo>
                  <a:lnTo>
                    <a:pt x="561581" y="530022"/>
                  </a:lnTo>
                  <a:lnTo>
                    <a:pt x="588520" y="494318"/>
                  </a:lnTo>
                  <a:lnTo>
                    <a:pt x="610335" y="454974"/>
                  </a:lnTo>
                  <a:lnTo>
                    <a:pt x="626530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0" y="227596"/>
                  </a:lnTo>
                  <a:lnTo>
                    <a:pt x="610335" y="185105"/>
                  </a:lnTo>
                  <a:lnTo>
                    <a:pt x="588520" y="145761"/>
                  </a:lnTo>
                  <a:lnTo>
                    <a:pt x="561581" y="110057"/>
                  </a:lnTo>
                  <a:lnTo>
                    <a:pt x="530011" y="78490"/>
                  </a:lnTo>
                  <a:lnTo>
                    <a:pt x="494307" y="51552"/>
                  </a:lnTo>
                  <a:lnTo>
                    <a:pt x="454963" y="29740"/>
                  </a:lnTo>
                  <a:lnTo>
                    <a:pt x="412473" y="13547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060" y="3686911"/>
              <a:ext cx="307238" cy="30723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29768" y="4507991"/>
            <a:ext cx="816610" cy="816610"/>
            <a:chOff x="429768" y="4507991"/>
            <a:chExt cx="816610" cy="81661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4507991"/>
              <a:ext cx="816102" cy="81610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48639" y="4571999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34" y="636610"/>
                  </a:lnTo>
                  <a:lnTo>
                    <a:pt x="412473" y="626532"/>
                  </a:lnTo>
                  <a:lnTo>
                    <a:pt x="454963" y="610339"/>
                  </a:lnTo>
                  <a:lnTo>
                    <a:pt x="494307" y="588527"/>
                  </a:lnTo>
                  <a:lnTo>
                    <a:pt x="530011" y="561589"/>
                  </a:lnTo>
                  <a:lnTo>
                    <a:pt x="561581" y="530022"/>
                  </a:lnTo>
                  <a:lnTo>
                    <a:pt x="588520" y="494318"/>
                  </a:lnTo>
                  <a:lnTo>
                    <a:pt x="610335" y="454974"/>
                  </a:lnTo>
                  <a:lnTo>
                    <a:pt x="626530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0" y="227596"/>
                  </a:lnTo>
                  <a:lnTo>
                    <a:pt x="610335" y="185105"/>
                  </a:lnTo>
                  <a:lnTo>
                    <a:pt x="588520" y="145761"/>
                  </a:lnTo>
                  <a:lnTo>
                    <a:pt x="561581" y="110057"/>
                  </a:lnTo>
                  <a:lnTo>
                    <a:pt x="530011" y="78490"/>
                  </a:lnTo>
                  <a:lnTo>
                    <a:pt x="494307" y="51552"/>
                  </a:lnTo>
                  <a:lnTo>
                    <a:pt x="454963" y="29740"/>
                  </a:lnTo>
                  <a:lnTo>
                    <a:pt x="412473" y="13547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060" y="4738471"/>
              <a:ext cx="307238" cy="307238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dirty="0"/>
              <a:t>SQLite</a:t>
            </a:r>
            <a:r>
              <a:rPr dirty="0" spc="-3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/>
              <a:t>small,</a:t>
            </a:r>
            <a:r>
              <a:rPr dirty="0" spc="-50"/>
              <a:t> </a:t>
            </a:r>
            <a:r>
              <a:rPr dirty="0"/>
              <a:t>fast</a:t>
            </a:r>
            <a:r>
              <a:rPr dirty="0" spc="-45"/>
              <a:t> </a:t>
            </a:r>
            <a:r>
              <a:rPr dirty="0" spc="-10"/>
              <a:t>relational</a:t>
            </a:r>
            <a:r>
              <a:rPr dirty="0" spc="-35"/>
              <a:t> </a:t>
            </a:r>
            <a:r>
              <a:rPr dirty="0"/>
              <a:t>database</a:t>
            </a:r>
            <a:r>
              <a:rPr dirty="0" spc="-45"/>
              <a:t> </a:t>
            </a:r>
            <a:r>
              <a:rPr dirty="0"/>
              <a:t>that</a:t>
            </a:r>
            <a:r>
              <a:rPr dirty="0" spc="-45"/>
              <a:t> </a:t>
            </a:r>
            <a:r>
              <a:rPr dirty="0"/>
              <a:t>lives</a:t>
            </a:r>
            <a:r>
              <a:rPr dirty="0" spc="-30"/>
              <a:t> </a:t>
            </a:r>
            <a:r>
              <a:rPr dirty="0" b="1">
                <a:solidFill>
                  <a:srgbClr val="2C5F2C"/>
                </a:solidFill>
                <a:latin typeface="Calibri"/>
                <a:cs typeface="Calibri"/>
              </a:rPr>
              <a:t>inside</a:t>
            </a:r>
            <a:r>
              <a:rPr dirty="0" spc="-30" b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spc="-25" b="1">
                <a:solidFill>
                  <a:srgbClr val="2C5F2C"/>
                </a:solidFill>
                <a:latin typeface="Calibri"/>
                <a:cs typeface="Calibri"/>
              </a:rPr>
              <a:t>the </a:t>
            </a:r>
            <a:r>
              <a:rPr dirty="0" b="1">
                <a:solidFill>
                  <a:srgbClr val="2C5F2C"/>
                </a:solidFill>
                <a:latin typeface="Calibri"/>
                <a:cs typeface="Calibri"/>
              </a:rPr>
              <a:t>phone</a:t>
            </a:r>
            <a:r>
              <a:rPr dirty="0" spc="-25" b="1">
                <a:solidFill>
                  <a:srgbClr val="2C5F2C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C5F2C"/>
                </a:solidFill>
                <a:latin typeface="Calibri"/>
                <a:cs typeface="Calibri"/>
              </a:rPr>
              <a:t>itself</a:t>
            </a:r>
            <a:r>
              <a:rPr dirty="0"/>
              <a:t>.</a:t>
            </a:r>
            <a:r>
              <a:rPr dirty="0" spc="-55"/>
              <a:t> </a:t>
            </a:r>
            <a:r>
              <a:rPr dirty="0"/>
              <a:t>No</a:t>
            </a:r>
            <a:r>
              <a:rPr dirty="0" spc="-35"/>
              <a:t> </a:t>
            </a:r>
            <a:r>
              <a:rPr dirty="0"/>
              <a:t>internet</a:t>
            </a:r>
            <a:r>
              <a:rPr dirty="0" spc="-35"/>
              <a:t> </a:t>
            </a:r>
            <a:r>
              <a:rPr dirty="0" spc="-10"/>
              <a:t>needed.</a:t>
            </a:r>
          </a:p>
          <a:p>
            <a:pPr>
              <a:lnSpc>
                <a:spcPct val="100000"/>
              </a:lnSpc>
              <a:spcBef>
                <a:spcPts val="409"/>
              </a:spcBef>
            </a:pPr>
          </a:p>
          <a:p>
            <a:pPr marL="835660">
              <a:lnSpc>
                <a:spcPct val="100000"/>
              </a:lnSpc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Stores</a:t>
            </a:r>
            <a:r>
              <a:rPr dirty="0" sz="155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data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in</a:t>
            </a:r>
            <a:r>
              <a:rPr dirty="0" sz="15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tables</a:t>
            </a:r>
            <a:endParaRPr sz="1550">
              <a:latin typeface="Trebuchet MS"/>
              <a:cs typeface="Trebuchet MS"/>
            </a:endParaRPr>
          </a:p>
          <a:p>
            <a:pPr marL="835660">
              <a:lnSpc>
                <a:spcPct val="100000"/>
              </a:lnSpc>
              <a:spcBef>
                <a:spcPts val="1430"/>
              </a:spcBef>
            </a:pPr>
            <a:r>
              <a:rPr dirty="0" sz="1250">
                <a:solidFill>
                  <a:srgbClr val="5B6656"/>
                </a:solidFill>
              </a:rPr>
              <a:t>Rows</a:t>
            </a:r>
            <a:r>
              <a:rPr dirty="0" sz="1250" spc="-35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and</a:t>
            </a:r>
            <a:r>
              <a:rPr dirty="0" sz="1250" spc="-3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columns,</a:t>
            </a:r>
            <a:r>
              <a:rPr dirty="0" sz="1250" spc="-3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just</a:t>
            </a:r>
            <a:r>
              <a:rPr dirty="0" sz="1250" spc="-35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like</a:t>
            </a:r>
            <a:r>
              <a:rPr dirty="0" sz="1250" spc="-3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a</a:t>
            </a:r>
            <a:r>
              <a:rPr dirty="0" sz="1250" spc="-30">
                <a:solidFill>
                  <a:srgbClr val="5B6656"/>
                </a:solidFill>
              </a:rPr>
              <a:t> </a:t>
            </a:r>
            <a:r>
              <a:rPr dirty="0" sz="1250" spc="-10">
                <a:solidFill>
                  <a:srgbClr val="5B6656"/>
                </a:solidFill>
              </a:rPr>
              <a:t>spreadsheet.</a:t>
            </a:r>
            <a:endParaRPr sz="1250"/>
          </a:p>
          <a:p>
            <a:pPr>
              <a:lnSpc>
                <a:spcPct val="100000"/>
              </a:lnSpc>
            </a:pPr>
            <a:endParaRPr sz="1250"/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50"/>
          </a:p>
          <a:p>
            <a:pPr marL="835660">
              <a:lnSpc>
                <a:spcPct val="100000"/>
              </a:lnSpc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The</a:t>
            </a:r>
            <a:r>
              <a:rPr dirty="0" sz="1550" spc="-3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sqflite</a:t>
            </a:r>
            <a:r>
              <a:rPr dirty="0" sz="1550" spc="-5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package</a:t>
            </a:r>
            <a:endParaRPr sz="1550">
              <a:latin typeface="Trebuchet MS"/>
              <a:cs typeface="Trebuchet MS"/>
            </a:endParaRPr>
          </a:p>
          <a:p>
            <a:pPr marL="835660">
              <a:lnSpc>
                <a:spcPct val="100000"/>
              </a:lnSpc>
              <a:spcBef>
                <a:spcPts val="1430"/>
              </a:spcBef>
            </a:pPr>
            <a:r>
              <a:rPr dirty="0" sz="1250">
                <a:solidFill>
                  <a:srgbClr val="5B6656"/>
                </a:solidFill>
              </a:rPr>
              <a:t>This</a:t>
            </a:r>
            <a:r>
              <a:rPr dirty="0" sz="1250" spc="-25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is</a:t>
            </a:r>
            <a:r>
              <a:rPr dirty="0" sz="1250" spc="-3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the</a:t>
            </a:r>
            <a:r>
              <a:rPr dirty="0" sz="1250" spc="-2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bridge</a:t>
            </a:r>
            <a:r>
              <a:rPr dirty="0" sz="1250" spc="-1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that</a:t>
            </a:r>
            <a:r>
              <a:rPr dirty="0" sz="1250" spc="-3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lets</a:t>
            </a:r>
            <a:r>
              <a:rPr dirty="0" sz="1250" spc="-3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Flutter</a:t>
            </a:r>
            <a:r>
              <a:rPr dirty="0" sz="1250" spc="-35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talk</a:t>
            </a:r>
            <a:r>
              <a:rPr dirty="0" sz="1250" spc="-35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to</a:t>
            </a:r>
            <a:r>
              <a:rPr dirty="0" sz="1250" spc="-25">
                <a:solidFill>
                  <a:srgbClr val="5B6656"/>
                </a:solidFill>
              </a:rPr>
              <a:t> </a:t>
            </a:r>
            <a:r>
              <a:rPr dirty="0" sz="1250" spc="-10">
                <a:solidFill>
                  <a:srgbClr val="5B6656"/>
                </a:solidFill>
              </a:rPr>
              <a:t>SQLite.</a:t>
            </a:r>
            <a:endParaRPr sz="1250"/>
          </a:p>
          <a:p>
            <a:pPr>
              <a:lnSpc>
                <a:spcPct val="100000"/>
              </a:lnSpc>
            </a:pPr>
            <a:endParaRPr sz="1250"/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50"/>
          </a:p>
          <a:p>
            <a:pPr marL="835660">
              <a:lnSpc>
                <a:spcPct val="100000"/>
              </a:lnSpc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Supports</a:t>
            </a:r>
            <a:r>
              <a:rPr dirty="0" sz="1550" spc="-20" b="1">
                <a:solidFill>
                  <a:srgbClr val="1F3863"/>
                </a:solidFill>
                <a:latin typeface="Trebuchet MS"/>
                <a:cs typeface="Trebuchet MS"/>
              </a:rPr>
              <a:t> CRUD</a:t>
            </a:r>
            <a:endParaRPr sz="1550">
              <a:latin typeface="Trebuchet MS"/>
              <a:cs typeface="Trebuchet MS"/>
            </a:endParaRPr>
          </a:p>
          <a:p>
            <a:pPr marL="835660">
              <a:lnSpc>
                <a:spcPct val="100000"/>
              </a:lnSpc>
              <a:spcBef>
                <a:spcPts val="1430"/>
              </a:spcBef>
            </a:pPr>
            <a:r>
              <a:rPr dirty="0" sz="1250">
                <a:solidFill>
                  <a:srgbClr val="5B6656"/>
                </a:solidFill>
              </a:rPr>
              <a:t>Create,</a:t>
            </a:r>
            <a:r>
              <a:rPr dirty="0" sz="1250" spc="-4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read,</a:t>
            </a:r>
            <a:r>
              <a:rPr dirty="0" sz="1250" spc="-4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update</a:t>
            </a:r>
            <a:r>
              <a:rPr dirty="0" sz="1250" spc="-4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and</a:t>
            </a:r>
            <a:r>
              <a:rPr dirty="0" sz="1250" spc="-40">
                <a:solidFill>
                  <a:srgbClr val="5B6656"/>
                </a:solidFill>
              </a:rPr>
              <a:t> </a:t>
            </a:r>
            <a:r>
              <a:rPr dirty="0" sz="1250">
                <a:solidFill>
                  <a:srgbClr val="5B6656"/>
                </a:solidFill>
              </a:rPr>
              <a:t>delete</a:t>
            </a:r>
            <a:r>
              <a:rPr dirty="0" sz="1250" spc="-30">
                <a:solidFill>
                  <a:srgbClr val="5B6656"/>
                </a:solidFill>
              </a:rPr>
              <a:t> </a:t>
            </a:r>
            <a:r>
              <a:rPr dirty="0" sz="1250" spc="-10">
                <a:solidFill>
                  <a:srgbClr val="5B6656"/>
                </a:solidFill>
              </a:rPr>
              <a:t>records</a:t>
            </a:r>
            <a:r>
              <a:rPr dirty="0" sz="1250" spc="-40">
                <a:solidFill>
                  <a:srgbClr val="5B6656"/>
                </a:solidFill>
              </a:rPr>
              <a:t> </a:t>
            </a:r>
            <a:r>
              <a:rPr dirty="0" sz="1250" spc="-10">
                <a:solidFill>
                  <a:srgbClr val="5B6656"/>
                </a:solidFill>
              </a:rPr>
              <a:t>easily.</a:t>
            </a:r>
            <a:endParaRPr sz="1250"/>
          </a:p>
        </p:txBody>
      </p:sp>
      <p:grpSp>
        <p:nvGrpSpPr>
          <p:cNvPr id="18" name="object 18"/>
          <p:cNvGrpSpPr/>
          <p:nvPr/>
        </p:nvGrpSpPr>
        <p:grpSpPr>
          <a:xfrm>
            <a:off x="6367271" y="1758708"/>
            <a:ext cx="5309235" cy="4211955"/>
            <a:chOff x="6367271" y="1758708"/>
            <a:chExt cx="5309235" cy="421195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7271" y="1758708"/>
              <a:ext cx="5308853" cy="42115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92239" y="1828799"/>
              <a:ext cx="5120640" cy="4023360"/>
            </a:xfrm>
            <a:custGeom>
              <a:avLst/>
              <a:gdLst/>
              <a:ahLst/>
              <a:cxnLst/>
              <a:rect l="l" t="t" r="r" b="b"/>
              <a:pathLst>
                <a:path w="5120640" h="4023360">
                  <a:moveTo>
                    <a:pt x="5047488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208"/>
                  </a:lnTo>
                  <a:lnTo>
                    <a:pt x="5750" y="3978681"/>
                  </a:lnTo>
                  <a:lnTo>
                    <a:pt x="21431" y="4001933"/>
                  </a:lnTo>
                  <a:lnTo>
                    <a:pt x="44684" y="4017611"/>
                  </a:lnTo>
                  <a:lnTo>
                    <a:pt x="73152" y="4023360"/>
                  </a:lnTo>
                  <a:lnTo>
                    <a:pt x="5047488" y="4023360"/>
                  </a:lnTo>
                  <a:lnTo>
                    <a:pt x="5075955" y="4017611"/>
                  </a:lnTo>
                  <a:lnTo>
                    <a:pt x="5099208" y="4001933"/>
                  </a:lnTo>
                  <a:lnTo>
                    <a:pt x="5114889" y="3978681"/>
                  </a:lnTo>
                  <a:lnTo>
                    <a:pt x="5120640" y="3950208"/>
                  </a:lnTo>
                  <a:lnTo>
                    <a:pt x="5120640" y="73151"/>
                  </a:lnTo>
                  <a:lnTo>
                    <a:pt x="5114889" y="44684"/>
                  </a:lnTo>
                  <a:lnTo>
                    <a:pt x="5099208" y="21431"/>
                  </a:lnTo>
                  <a:lnTo>
                    <a:pt x="5075955" y="5750"/>
                  </a:lnTo>
                  <a:lnTo>
                    <a:pt x="5047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492239" y="1828799"/>
              <a:ext cx="5120640" cy="4023360"/>
            </a:xfrm>
            <a:custGeom>
              <a:avLst/>
              <a:gdLst/>
              <a:ahLst/>
              <a:cxnLst/>
              <a:rect l="l" t="t" r="r" b="b"/>
              <a:pathLst>
                <a:path w="5120640" h="40233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2" y="0"/>
                  </a:lnTo>
                  <a:lnTo>
                    <a:pt x="5047488" y="0"/>
                  </a:lnTo>
                  <a:lnTo>
                    <a:pt x="5075955" y="5750"/>
                  </a:lnTo>
                  <a:lnTo>
                    <a:pt x="5099208" y="21431"/>
                  </a:lnTo>
                  <a:lnTo>
                    <a:pt x="5114889" y="44684"/>
                  </a:lnTo>
                  <a:lnTo>
                    <a:pt x="5120640" y="73151"/>
                  </a:lnTo>
                  <a:lnTo>
                    <a:pt x="5120640" y="3950208"/>
                  </a:lnTo>
                  <a:lnTo>
                    <a:pt x="5114889" y="3978681"/>
                  </a:lnTo>
                  <a:lnTo>
                    <a:pt x="5099208" y="4001933"/>
                  </a:lnTo>
                  <a:lnTo>
                    <a:pt x="5075955" y="4017611"/>
                  </a:lnTo>
                  <a:lnTo>
                    <a:pt x="5047488" y="4023360"/>
                  </a:lnTo>
                  <a:lnTo>
                    <a:pt x="73152" y="4023360"/>
                  </a:lnTo>
                  <a:lnTo>
                    <a:pt x="44684" y="4017611"/>
                  </a:lnTo>
                  <a:lnTo>
                    <a:pt x="21431" y="4001933"/>
                  </a:lnTo>
                  <a:lnTo>
                    <a:pt x="5750" y="3978681"/>
                  </a:lnTo>
                  <a:lnTo>
                    <a:pt x="0" y="395020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287004" y="2064461"/>
            <a:ext cx="15335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C7850D"/>
                </a:solidFill>
                <a:latin typeface="Trebuchet MS"/>
                <a:cs typeface="Trebuchet MS"/>
              </a:rPr>
              <a:t>How</a:t>
            </a:r>
            <a:r>
              <a:rPr dirty="0" sz="1400" spc="-1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C7850D"/>
                </a:solidFill>
                <a:latin typeface="Trebuchet MS"/>
                <a:cs typeface="Trebuchet MS"/>
              </a:rPr>
              <a:t>they</a:t>
            </a:r>
            <a:r>
              <a:rPr dirty="0" sz="1400" spc="-10" b="1">
                <a:solidFill>
                  <a:srgbClr val="C7850D"/>
                </a:solidFill>
                <a:latin typeface="Trebuchet MS"/>
                <a:cs typeface="Trebuchet MS"/>
              </a:rPr>
              <a:t> connect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95159" y="2743200"/>
            <a:ext cx="1737360" cy="1463040"/>
            <a:chOff x="6995159" y="2743200"/>
            <a:chExt cx="1737360" cy="1463040"/>
          </a:xfrm>
        </p:grpSpPr>
        <p:sp>
          <p:nvSpPr>
            <p:cNvPr id="24" name="object 24"/>
            <p:cNvSpPr/>
            <p:nvPr/>
          </p:nvSpPr>
          <p:spPr>
            <a:xfrm>
              <a:off x="6995159" y="2743200"/>
              <a:ext cx="1737360" cy="1463040"/>
            </a:xfrm>
            <a:custGeom>
              <a:avLst/>
              <a:gdLst/>
              <a:ahLst/>
              <a:cxnLst/>
              <a:rect l="l" t="t" r="r" b="b"/>
              <a:pathLst>
                <a:path w="1737359" h="1463039">
                  <a:moveTo>
                    <a:pt x="166420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389888"/>
                  </a:lnTo>
                  <a:lnTo>
                    <a:pt x="5750" y="1418355"/>
                  </a:lnTo>
                  <a:lnTo>
                    <a:pt x="21431" y="1441608"/>
                  </a:lnTo>
                  <a:lnTo>
                    <a:pt x="44684" y="1457289"/>
                  </a:lnTo>
                  <a:lnTo>
                    <a:pt x="73151" y="1463039"/>
                  </a:lnTo>
                  <a:lnTo>
                    <a:pt x="1664208" y="1463039"/>
                  </a:lnTo>
                  <a:lnTo>
                    <a:pt x="1692675" y="1457289"/>
                  </a:lnTo>
                  <a:lnTo>
                    <a:pt x="1715928" y="1441608"/>
                  </a:lnTo>
                  <a:lnTo>
                    <a:pt x="1731609" y="1418355"/>
                  </a:lnTo>
                  <a:lnTo>
                    <a:pt x="1737360" y="1389888"/>
                  </a:lnTo>
                  <a:lnTo>
                    <a:pt x="1737360" y="73151"/>
                  </a:lnTo>
                  <a:lnTo>
                    <a:pt x="1731609" y="44684"/>
                  </a:lnTo>
                  <a:lnTo>
                    <a:pt x="1715928" y="21431"/>
                  </a:lnTo>
                  <a:lnTo>
                    <a:pt x="1692675" y="5750"/>
                  </a:lnTo>
                  <a:lnTo>
                    <a:pt x="1664208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89519" y="2971800"/>
              <a:ext cx="548640" cy="54863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582661" y="3620846"/>
            <a:ext cx="56388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Flutter</a:t>
            </a:r>
            <a:endParaRPr sz="1300">
              <a:latin typeface="Trebuchet MS"/>
              <a:cs typeface="Trebuchet MS"/>
            </a:endParaRPr>
          </a:p>
          <a:p>
            <a:pPr algn="ctr" marL="1270">
              <a:lnSpc>
                <a:spcPct val="100000"/>
              </a:lnSpc>
              <a:spcBef>
                <a:spcPts val="5"/>
              </a:spcBef>
            </a:pPr>
            <a:r>
              <a:rPr dirty="0" sz="1300" spc="-25" b="1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27" name="object 27" descr="preencoded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23959" y="3154679"/>
            <a:ext cx="640079" cy="64007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865869" y="3827145"/>
            <a:ext cx="5588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i="1">
                <a:solidFill>
                  <a:srgbClr val="3D7B3E"/>
                </a:solidFill>
                <a:latin typeface="Consolas"/>
                <a:cs typeface="Consolas"/>
              </a:rPr>
              <a:t>sqflite</a:t>
            </a:r>
            <a:endParaRPr sz="1100">
              <a:latin typeface="Consolas"/>
              <a:cs typeface="Consola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692640" y="2743200"/>
            <a:ext cx="1417320" cy="1572895"/>
            <a:chOff x="9692640" y="2743200"/>
            <a:chExt cx="1417320" cy="1572895"/>
          </a:xfrm>
        </p:grpSpPr>
        <p:sp>
          <p:nvSpPr>
            <p:cNvPr id="30" name="object 30"/>
            <p:cNvSpPr/>
            <p:nvPr/>
          </p:nvSpPr>
          <p:spPr>
            <a:xfrm>
              <a:off x="9692640" y="2743199"/>
              <a:ext cx="1417320" cy="1572895"/>
            </a:xfrm>
            <a:custGeom>
              <a:avLst/>
              <a:gdLst/>
              <a:ahLst/>
              <a:cxnLst/>
              <a:rect l="l" t="t" r="r" b="b"/>
              <a:pathLst>
                <a:path w="1417320" h="1572895">
                  <a:moveTo>
                    <a:pt x="1417320" y="192024"/>
                  </a:moveTo>
                  <a:lnTo>
                    <a:pt x="1402918" y="153327"/>
                  </a:lnTo>
                  <a:lnTo>
                    <a:pt x="1361630" y="117284"/>
                  </a:lnTo>
                  <a:lnTo>
                    <a:pt x="1296289" y="84670"/>
                  </a:lnTo>
                  <a:lnTo>
                    <a:pt x="1255496" y="69888"/>
                  </a:lnTo>
                  <a:lnTo>
                    <a:pt x="1209763" y="56248"/>
                  </a:lnTo>
                  <a:lnTo>
                    <a:pt x="1159446" y="43853"/>
                  </a:lnTo>
                  <a:lnTo>
                    <a:pt x="1104887" y="32804"/>
                  </a:lnTo>
                  <a:lnTo>
                    <a:pt x="1046454" y="23190"/>
                  </a:lnTo>
                  <a:lnTo>
                    <a:pt x="984504" y="15100"/>
                  </a:lnTo>
                  <a:lnTo>
                    <a:pt x="919403" y="8636"/>
                  </a:lnTo>
                  <a:lnTo>
                    <a:pt x="851484" y="3911"/>
                  </a:lnTo>
                  <a:lnTo>
                    <a:pt x="781113" y="1003"/>
                  </a:lnTo>
                  <a:lnTo>
                    <a:pt x="708660" y="0"/>
                  </a:lnTo>
                  <a:lnTo>
                    <a:pt x="636193" y="1003"/>
                  </a:lnTo>
                  <a:lnTo>
                    <a:pt x="565823" y="3911"/>
                  </a:lnTo>
                  <a:lnTo>
                    <a:pt x="497903" y="8636"/>
                  </a:lnTo>
                  <a:lnTo>
                    <a:pt x="432803" y="15100"/>
                  </a:lnTo>
                  <a:lnTo>
                    <a:pt x="370852" y="23190"/>
                  </a:lnTo>
                  <a:lnTo>
                    <a:pt x="312420" y="32804"/>
                  </a:lnTo>
                  <a:lnTo>
                    <a:pt x="257860" y="43853"/>
                  </a:lnTo>
                  <a:lnTo>
                    <a:pt x="207543" y="56248"/>
                  </a:lnTo>
                  <a:lnTo>
                    <a:pt x="161810" y="69888"/>
                  </a:lnTo>
                  <a:lnTo>
                    <a:pt x="121018" y="84670"/>
                  </a:lnTo>
                  <a:lnTo>
                    <a:pt x="85521" y="100507"/>
                  </a:lnTo>
                  <a:lnTo>
                    <a:pt x="31851" y="134924"/>
                  </a:lnTo>
                  <a:lnTo>
                    <a:pt x="3657" y="172402"/>
                  </a:lnTo>
                  <a:lnTo>
                    <a:pt x="0" y="192024"/>
                  </a:lnTo>
                  <a:lnTo>
                    <a:pt x="0" y="1380744"/>
                  </a:lnTo>
                  <a:lnTo>
                    <a:pt x="14389" y="1419453"/>
                  </a:lnTo>
                  <a:lnTo>
                    <a:pt x="55676" y="1455496"/>
                  </a:lnTo>
                  <a:lnTo>
                    <a:pt x="121018" y="1488109"/>
                  </a:lnTo>
                  <a:lnTo>
                    <a:pt x="161810" y="1502892"/>
                  </a:lnTo>
                  <a:lnTo>
                    <a:pt x="207543" y="1516532"/>
                  </a:lnTo>
                  <a:lnTo>
                    <a:pt x="257860" y="1528927"/>
                  </a:lnTo>
                  <a:lnTo>
                    <a:pt x="312420" y="1539976"/>
                  </a:lnTo>
                  <a:lnTo>
                    <a:pt x="370852" y="1549590"/>
                  </a:lnTo>
                  <a:lnTo>
                    <a:pt x="432803" y="1557680"/>
                  </a:lnTo>
                  <a:lnTo>
                    <a:pt x="497903" y="1564144"/>
                  </a:lnTo>
                  <a:lnTo>
                    <a:pt x="565823" y="1568869"/>
                  </a:lnTo>
                  <a:lnTo>
                    <a:pt x="636193" y="1571777"/>
                  </a:lnTo>
                  <a:lnTo>
                    <a:pt x="708660" y="1572768"/>
                  </a:lnTo>
                  <a:lnTo>
                    <a:pt x="781113" y="1571777"/>
                  </a:lnTo>
                  <a:lnTo>
                    <a:pt x="851484" y="1568869"/>
                  </a:lnTo>
                  <a:lnTo>
                    <a:pt x="919403" y="1564144"/>
                  </a:lnTo>
                  <a:lnTo>
                    <a:pt x="984504" y="1557680"/>
                  </a:lnTo>
                  <a:lnTo>
                    <a:pt x="1046454" y="1549590"/>
                  </a:lnTo>
                  <a:lnTo>
                    <a:pt x="1104887" y="1539976"/>
                  </a:lnTo>
                  <a:lnTo>
                    <a:pt x="1159446" y="1528927"/>
                  </a:lnTo>
                  <a:lnTo>
                    <a:pt x="1209763" y="1516532"/>
                  </a:lnTo>
                  <a:lnTo>
                    <a:pt x="1255496" y="1502892"/>
                  </a:lnTo>
                  <a:lnTo>
                    <a:pt x="1296289" y="1488109"/>
                  </a:lnTo>
                  <a:lnTo>
                    <a:pt x="1331785" y="1472272"/>
                  </a:lnTo>
                  <a:lnTo>
                    <a:pt x="1385455" y="1437855"/>
                  </a:lnTo>
                  <a:lnTo>
                    <a:pt x="1413649" y="1400378"/>
                  </a:lnTo>
                  <a:lnTo>
                    <a:pt x="1417320" y="1380744"/>
                  </a:lnTo>
                  <a:lnTo>
                    <a:pt x="1417320" y="192024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54412" y="3246119"/>
              <a:ext cx="493775" cy="49377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138664" y="4410836"/>
            <a:ext cx="5276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2C5F2C"/>
                </a:solidFill>
                <a:latin typeface="Trebuchet MS"/>
                <a:cs typeface="Trebuchet MS"/>
              </a:rPr>
              <a:t>SQLite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3" name="object 33"/>
          <p:cNvSpPr txBox="1"/>
          <p:nvPr/>
        </p:nvSpPr>
        <p:spPr>
          <a:xfrm>
            <a:off x="7073900" y="5114620"/>
            <a:ext cx="3957954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2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app</a:t>
            </a:r>
            <a:r>
              <a:rPr dirty="0" sz="1250" spc="-30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sends</a:t>
            </a:r>
            <a:r>
              <a:rPr dirty="0" sz="1250" spc="-10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250" spc="-3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250" spc="-40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SQLite</a:t>
            </a:r>
            <a:r>
              <a:rPr dirty="0" sz="1250" spc="-30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250" spc="-40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be</a:t>
            </a:r>
            <a:r>
              <a:rPr dirty="0" sz="1250" spc="-20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saved, and</a:t>
            </a:r>
            <a:r>
              <a:rPr dirty="0" sz="1250" spc="-30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asks</a:t>
            </a:r>
            <a:r>
              <a:rPr dirty="0" sz="1250" spc="-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for</a:t>
            </a:r>
            <a:r>
              <a:rPr dirty="0" sz="1250" spc="-2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250" spc="-3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20" i="1">
                <a:solidFill>
                  <a:srgbClr val="5B6656"/>
                </a:solidFill>
                <a:latin typeface="Calibri"/>
                <a:cs typeface="Calibri"/>
              </a:rPr>
              <a:t>back</a:t>
            </a:r>
            <a:endParaRPr sz="125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whenever</a:t>
            </a:r>
            <a:r>
              <a:rPr dirty="0" sz="1250" spc="-10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250" spc="-3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needs</a:t>
            </a:r>
            <a:r>
              <a:rPr dirty="0" sz="1250" spc="-1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250" spc="-4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656"/>
                </a:solidFill>
                <a:latin typeface="Calibri"/>
                <a:cs typeface="Calibri"/>
              </a:rPr>
              <a:t>show</a:t>
            </a:r>
            <a:r>
              <a:rPr dirty="0" sz="1250" spc="-25" i="1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5B6656"/>
                </a:solidFill>
                <a:latin typeface="Calibri"/>
                <a:cs typeface="Calibri"/>
              </a:rPr>
              <a:t>something.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17081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39494" algn="l"/>
              </a:tabLst>
            </a:pP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G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G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Y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Setting</a:t>
            </a:r>
            <a:r>
              <a:rPr dirty="0" spc="-75"/>
              <a:t> </a:t>
            </a:r>
            <a:r>
              <a:rPr dirty="0"/>
              <a:t>Up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sqflite</a:t>
            </a:r>
            <a:r>
              <a:rPr dirty="0" spc="-80"/>
              <a:t> </a:t>
            </a:r>
            <a:r>
              <a:rPr dirty="0" spc="-10"/>
              <a:t>Package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70990"/>
            <a:ext cx="75457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Before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writing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any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database</a:t>
            </a:r>
            <a:r>
              <a:rPr dirty="0" sz="1500" spc="-6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code,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add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sqflite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package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so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Flutter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knows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how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use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SQLite.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8640" y="2194560"/>
            <a:ext cx="640080" cy="640080"/>
            <a:chOff x="548640" y="2194560"/>
            <a:chExt cx="640080" cy="640080"/>
          </a:xfrm>
        </p:grpSpPr>
        <p:sp>
          <p:nvSpPr>
            <p:cNvPr id="6" name="object 6"/>
            <p:cNvSpPr/>
            <p:nvPr/>
          </p:nvSpPr>
          <p:spPr>
            <a:xfrm>
              <a:off x="548640" y="21945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79"/>
                  </a:lnTo>
                  <a:lnTo>
                    <a:pt x="367334" y="636610"/>
                  </a:lnTo>
                  <a:lnTo>
                    <a:pt x="412473" y="626532"/>
                  </a:lnTo>
                  <a:lnTo>
                    <a:pt x="454963" y="610339"/>
                  </a:lnTo>
                  <a:lnTo>
                    <a:pt x="494307" y="588527"/>
                  </a:lnTo>
                  <a:lnTo>
                    <a:pt x="530011" y="561589"/>
                  </a:lnTo>
                  <a:lnTo>
                    <a:pt x="561581" y="530022"/>
                  </a:lnTo>
                  <a:lnTo>
                    <a:pt x="588520" y="494318"/>
                  </a:lnTo>
                  <a:lnTo>
                    <a:pt x="610335" y="454974"/>
                  </a:lnTo>
                  <a:lnTo>
                    <a:pt x="626530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0" y="227596"/>
                  </a:lnTo>
                  <a:lnTo>
                    <a:pt x="610335" y="185105"/>
                  </a:lnTo>
                  <a:lnTo>
                    <a:pt x="588520" y="145761"/>
                  </a:lnTo>
                  <a:lnTo>
                    <a:pt x="561581" y="110057"/>
                  </a:lnTo>
                  <a:lnTo>
                    <a:pt x="530011" y="78490"/>
                  </a:lnTo>
                  <a:lnTo>
                    <a:pt x="494307" y="51552"/>
                  </a:lnTo>
                  <a:lnTo>
                    <a:pt x="454963" y="29740"/>
                  </a:lnTo>
                  <a:lnTo>
                    <a:pt x="412473" y="13547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232" y="2359152"/>
              <a:ext cx="310896" cy="3108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59153" y="2232786"/>
            <a:ext cx="15919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Add</a:t>
            </a:r>
            <a:r>
              <a:rPr dirty="0" sz="160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the</a:t>
            </a:r>
            <a:r>
              <a:rPr dirty="0" sz="1600" spc="-1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F3863"/>
                </a:solidFill>
                <a:latin typeface="Trebuchet MS"/>
                <a:cs typeface="Trebuchet MS"/>
              </a:rPr>
              <a:t>package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9153" y="2672333"/>
            <a:ext cx="214757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Run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this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VS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Code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 terminal.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8640" y="3429000"/>
            <a:ext cx="640080" cy="640080"/>
            <a:chOff x="548640" y="3429000"/>
            <a:chExt cx="640080" cy="640080"/>
          </a:xfrm>
        </p:grpSpPr>
        <p:sp>
          <p:nvSpPr>
            <p:cNvPr id="11" name="object 11"/>
            <p:cNvSpPr/>
            <p:nvPr/>
          </p:nvSpPr>
          <p:spPr>
            <a:xfrm>
              <a:off x="548640" y="34290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34" y="636610"/>
                  </a:lnTo>
                  <a:lnTo>
                    <a:pt x="412473" y="626532"/>
                  </a:lnTo>
                  <a:lnTo>
                    <a:pt x="454963" y="610339"/>
                  </a:lnTo>
                  <a:lnTo>
                    <a:pt x="494307" y="588527"/>
                  </a:lnTo>
                  <a:lnTo>
                    <a:pt x="530011" y="561589"/>
                  </a:lnTo>
                  <a:lnTo>
                    <a:pt x="561581" y="530022"/>
                  </a:lnTo>
                  <a:lnTo>
                    <a:pt x="588520" y="494318"/>
                  </a:lnTo>
                  <a:lnTo>
                    <a:pt x="610335" y="454974"/>
                  </a:lnTo>
                  <a:lnTo>
                    <a:pt x="626530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0" y="227596"/>
                  </a:lnTo>
                  <a:lnTo>
                    <a:pt x="610335" y="185105"/>
                  </a:lnTo>
                  <a:lnTo>
                    <a:pt x="588520" y="145761"/>
                  </a:lnTo>
                  <a:lnTo>
                    <a:pt x="561581" y="110057"/>
                  </a:lnTo>
                  <a:lnTo>
                    <a:pt x="530011" y="78490"/>
                  </a:lnTo>
                  <a:lnTo>
                    <a:pt x="494307" y="51552"/>
                  </a:lnTo>
                  <a:lnTo>
                    <a:pt x="454963" y="29740"/>
                  </a:lnTo>
                  <a:lnTo>
                    <a:pt x="412473" y="13547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232" y="3593592"/>
              <a:ext cx="310896" cy="31089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59153" y="3466922"/>
            <a:ext cx="1968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Check</a:t>
            </a:r>
            <a:r>
              <a:rPr dirty="0" sz="1600" spc="-3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F3863"/>
                </a:solidFill>
                <a:latin typeface="Trebuchet MS"/>
                <a:cs typeface="Trebuchet MS"/>
              </a:rPr>
              <a:t>pubspec.yaml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9153" y="3907027"/>
            <a:ext cx="265239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25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new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line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appears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under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dependencies.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8640" y="4663440"/>
            <a:ext cx="640080" cy="640080"/>
            <a:chOff x="548640" y="4663440"/>
            <a:chExt cx="640080" cy="640080"/>
          </a:xfrm>
        </p:grpSpPr>
        <p:sp>
          <p:nvSpPr>
            <p:cNvPr id="16" name="object 16"/>
            <p:cNvSpPr/>
            <p:nvPr/>
          </p:nvSpPr>
          <p:spPr>
            <a:xfrm>
              <a:off x="548640" y="466344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40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80"/>
                  </a:lnTo>
                  <a:lnTo>
                    <a:pt x="367334" y="636610"/>
                  </a:lnTo>
                  <a:lnTo>
                    <a:pt x="412473" y="626532"/>
                  </a:lnTo>
                  <a:lnTo>
                    <a:pt x="454963" y="610339"/>
                  </a:lnTo>
                  <a:lnTo>
                    <a:pt x="494307" y="588527"/>
                  </a:lnTo>
                  <a:lnTo>
                    <a:pt x="530011" y="561589"/>
                  </a:lnTo>
                  <a:lnTo>
                    <a:pt x="561581" y="530022"/>
                  </a:lnTo>
                  <a:lnTo>
                    <a:pt x="588520" y="494318"/>
                  </a:lnTo>
                  <a:lnTo>
                    <a:pt x="610335" y="454974"/>
                  </a:lnTo>
                  <a:lnTo>
                    <a:pt x="626530" y="412483"/>
                  </a:lnTo>
                  <a:lnTo>
                    <a:pt x="636610" y="367340"/>
                  </a:lnTo>
                  <a:lnTo>
                    <a:pt x="640079" y="320040"/>
                  </a:lnTo>
                  <a:lnTo>
                    <a:pt x="636610" y="272739"/>
                  </a:lnTo>
                  <a:lnTo>
                    <a:pt x="626530" y="227596"/>
                  </a:lnTo>
                  <a:lnTo>
                    <a:pt x="610335" y="185105"/>
                  </a:lnTo>
                  <a:lnTo>
                    <a:pt x="588520" y="145761"/>
                  </a:lnTo>
                  <a:lnTo>
                    <a:pt x="561581" y="110057"/>
                  </a:lnTo>
                  <a:lnTo>
                    <a:pt x="530011" y="78490"/>
                  </a:lnTo>
                  <a:lnTo>
                    <a:pt x="494307" y="51552"/>
                  </a:lnTo>
                  <a:lnTo>
                    <a:pt x="454963" y="29740"/>
                  </a:lnTo>
                  <a:lnTo>
                    <a:pt x="412473" y="13547"/>
                  </a:lnTo>
                  <a:lnTo>
                    <a:pt x="367334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232" y="4828032"/>
              <a:ext cx="310896" cy="31089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59153" y="4701921"/>
            <a:ext cx="8610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Import</a:t>
            </a:r>
            <a:r>
              <a:rPr dirty="0" sz="160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spc="-25" b="1">
                <a:solidFill>
                  <a:srgbClr val="1F3863"/>
                </a:solidFill>
                <a:latin typeface="Trebuchet MS"/>
                <a:cs typeface="Trebuchet MS"/>
              </a:rPr>
              <a:t>it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9153" y="5141721"/>
            <a:ext cx="293624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Add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import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at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top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of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db_service.dart.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916167" y="2084806"/>
            <a:ext cx="5754370" cy="1045210"/>
            <a:chOff x="5916167" y="2084806"/>
            <a:chExt cx="5754370" cy="104521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6167" y="2084806"/>
              <a:ext cx="5753862" cy="10447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35039" y="2148840"/>
              <a:ext cx="5577840" cy="868680"/>
            </a:xfrm>
            <a:custGeom>
              <a:avLst/>
              <a:gdLst/>
              <a:ahLst/>
              <a:cxnLst/>
              <a:rect l="l" t="t" r="r" b="b"/>
              <a:pathLst>
                <a:path w="5577840" h="868680">
                  <a:moveTo>
                    <a:pt x="55229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13815"/>
                  </a:lnTo>
                  <a:lnTo>
                    <a:pt x="4304" y="835193"/>
                  </a:lnTo>
                  <a:lnTo>
                    <a:pt x="16049" y="852630"/>
                  </a:lnTo>
                  <a:lnTo>
                    <a:pt x="33486" y="864375"/>
                  </a:lnTo>
                  <a:lnTo>
                    <a:pt x="54863" y="868680"/>
                  </a:lnTo>
                  <a:lnTo>
                    <a:pt x="5522976" y="868680"/>
                  </a:lnTo>
                  <a:lnTo>
                    <a:pt x="5544353" y="864375"/>
                  </a:lnTo>
                  <a:lnTo>
                    <a:pt x="5561790" y="852630"/>
                  </a:lnTo>
                  <a:lnTo>
                    <a:pt x="5573535" y="835193"/>
                  </a:lnTo>
                  <a:lnTo>
                    <a:pt x="5577840" y="813815"/>
                  </a:lnTo>
                  <a:lnTo>
                    <a:pt x="5577840" y="54863"/>
                  </a:lnTo>
                  <a:lnTo>
                    <a:pt x="5573535" y="33486"/>
                  </a:lnTo>
                  <a:lnTo>
                    <a:pt x="5561790" y="16049"/>
                  </a:lnTo>
                  <a:lnTo>
                    <a:pt x="5544353" y="4304"/>
                  </a:lnTo>
                  <a:lnTo>
                    <a:pt x="5522976" y="0"/>
                  </a:lnTo>
                  <a:close/>
                </a:path>
              </a:pathLst>
            </a:custGeom>
            <a:solidFill>
              <a:srgbClr val="1E1E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187821" y="2237358"/>
            <a:ext cx="210375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#</a:t>
            </a:r>
            <a:r>
              <a:rPr dirty="0" sz="130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Terminal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flutter</a:t>
            </a:r>
            <a:r>
              <a:rPr dirty="0" sz="130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pub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add</a:t>
            </a:r>
            <a:r>
              <a:rPr dirty="0" sz="130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sqflite</a:t>
            </a:r>
            <a:endParaRPr sz="1300">
              <a:latin typeface="Consolas"/>
              <a:cs typeface="Consola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16167" y="3182111"/>
            <a:ext cx="5754370" cy="1273810"/>
            <a:chOff x="5916167" y="3182111"/>
            <a:chExt cx="5754370" cy="127381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6167" y="3182111"/>
              <a:ext cx="5753862" cy="127330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035039" y="3246119"/>
              <a:ext cx="5577840" cy="1097280"/>
            </a:xfrm>
            <a:custGeom>
              <a:avLst/>
              <a:gdLst/>
              <a:ahLst/>
              <a:cxnLst/>
              <a:rect l="l" t="t" r="r" b="b"/>
              <a:pathLst>
                <a:path w="5577840" h="1097279">
                  <a:moveTo>
                    <a:pt x="55229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1042415"/>
                  </a:lnTo>
                  <a:lnTo>
                    <a:pt x="4304" y="1063793"/>
                  </a:lnTo>
                  <a:lnTo>
                    <a:pt x="16049" y="1081230"/>
                  </a:lnTo>
                  <a:lnTo>
                    <a:pt x="33486" y="1092975"/>
                  </a:lnTo>
                  <a:lnTo>
                    <a:pt x="54863" y="1097279"/>
                  </a:lnTo>
                  <a:lnTo>
                    <a:pt x="5522976" y="1097279"/>
                  </a:lnTo>
                  <a:lnTo>
                    <a:pt x="5544353" y="1092975"/>
                  </a:lnTo>
                  <a:lnTo>
                    <a:pt x="5561790" y="1081230"/>
                  </a:lnTo>
                  <a:lnTo>
                    <a:pt x="5573535" y="1063793"/>
                  </a:lnTo>
                  <a:lnTo>
                    <a:pt x="5577840" y="1042415"/>
                  </a:lnTo>
                  <a:lnTo>
                    <a:pt x="5577840" y="54863"/>
                  </a:lnTo>
                  <a:lnTo>
                    <a:pt x="5573535" y="33486"/>
                  </a:lnTo>
                  <a:lnTo>
                    <a:pt x="5561790" y="16049"/>
                  </a:lnTo>
                  <a:lnTo>
                    <a:pt x="5544353" y="4304"/>
                  </a:lnTo>
                  <a:lnTo>
                    <a:pt x="5522976" y="0"/>
                  </a:lnTo>
                  <a:close/>
                </a:path>
              </a:pathLst>
            </a:custGeom>
            <a:solidFill>
              <a:srgbClr val="1E1E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187821" y="3334639"/>
            <a:ext cx="1561465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#</a:t>
            </a:r>
            <a:r>
              <a:rPr dirty="0" sz="130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pubspec.yaml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dependencies:</a:t>
            </a:r>
            <a:endParaRPr sz="1300">
              <a:latin typeface="Consolas"/>
              <a:cs typeface="Consolas"/>
            </a:endParaRPr>
          </a:p>
          <a:p>
            <a:pPr marL="192405">
              <a:lnSpc>
                <a:spcPct val="100000"/>
              </a:lnSpc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sqflite:</a:t>
            </a:r>
            <a:r>
              <a:rPr dirty="0" sz="130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^2.4.2</a:t>
            </a:r>
            <a:endParaRPr sz="1300">
              <a:latin typeface="Consolas"/>
              <a:cs typeface="Consola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16167" y="4507991"/>
            <a:ext cx="5754370" cy="1090930"/>
            <a:chOff x="5916167" y="4507991"/>
            <a:chExt cx="5754370" cy="109093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6167" y="4507991"/>
              <a:ext cx="5753862" cy="109042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35039" y="4571999"/>
              <a:ext cx="5577840" cy="914400"/>
            </a:xfrm>
            <a:custGeom>
              <a:avLst/>
              <a:gdLst/>
              <a:ahLst/>
              <a:cxnLst/>
              <a:rect l="l" t="t" r="r" b="b"/>
              <a:pathLst>
                <a:path w="5577840" h="914400">
                  <a:moveTo>
                    <a:pt x="552297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859536"/>
                  </a:lnTo>
                  <a:lnTo>
                    <a:pt x="4304" y="880913"/>
                  </a:lnTo>
                  <a:lnTo>
                    <a:pt x="16049" y="898350"/>
                  </a:lnTo>
                  <a:lnTo>
                    <a:pt x="33486" y="910095"/>
                  </a:lnTo>
                  <a:lnTo>
                    <a:pt x="54863" y="914400"/>
                  </a:lnTo>
                  <a:lnTo>
                    <a:pt x="5522976" y="914400"/>
                  </a:lnTo>
                  <a:lnTo>
                    <a:pt x="5544353" y="910095"/>
                  </a:lnTo>
                  <a:lnTo>
                    <a:pt x="5561790" y="898350"/>
                  </a:lnTo>
                  <a:lnTo>
                    <a:pt x="5573535" y="880913"/>
                  </a:lnTo>
                  <a:lnTo>
                    <a:pt x="5577840" y="859536"/>
                  </a:lnTo>
                  <a:lnTo>
                    <a:pt x="5577840" y="54863"/>
                  </a:lnTo>
                  <a:lnTo>
                    <a:pt x="5573535" y="33486"/>
                  </a:lnTo>
                  <a:lnTo>
                    <a:pt x="5561790" y="16049"/>
                  </a:lnTo>
                  <a:lnTo>
                    <a:pt x="5544353" y="4304"/>
                  </a:lnTo>
                  <a:lnTo>
                    <a:pt x="5522976" y="0"/>
                  </a:lnTo>
                  <a:close/>
                </a:path>
              </a:pathLst>
            </a:custGeom>
            <a:solidFill>
              <a:srgbClr val="1E1E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187821" y="4660772"/>
            <a:ext cx="3221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D6DFD6"/>
                </a:solidFill>
                <a:latin typeface="Consolas"/>
                <a:cs typeface="Consolas"/>
              </a:rPr>
              <a:t>//</a:t>
            </a:r>
            <a:r>
              <a:rPr dirty="0" sz="120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D6DFD6"/>
                </a:solidFill>
                <a:latin typeface="Consolas"/>
                <a:cs typeface="Consolas"/>
              </a:rPr>
              <a:t>db_service.dart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D6DFD6"/>
                </a:solidFill>
                <a:latin typeface="Consolas"/>
                <a:cs typeface="Consolas"/>
              </a:rPr>
              <a:t>import</a:t>
            </a:r>
            <a:r>
              <a:rPr dirty="0" sz="1200" spc="-3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solidFill>
                  <a:srgbClr val="D6DFD6"/>
                </a:solidFill>
                <a:latin typeface="Consolas"/>
                <a:cs typeface="Consolas"/>
              </a:rPr>
              <a:t>'package:sqflite/sqflite.dart';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433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4040" algn="l"/>
                <a:tab pos="1762760" algn="l"/>
              </a:tabLst>
            </a:pPr>
            <a:r>
              <a:rPr dirty="0" sz="1300" spc="-20" b="1">
                <a:solidFill>
                  <a:srgbClr val="C7850D"/>
                </a:solidFill>
                <a:latin typeface="Trebuchet MS"/>
                <a:cs typeface="Trebuchet MS"/>
              </a:rPr>
              <a:t>W</a:t>
            </a:r>
            <a:r>
              <a:rPr dirty="0" sz="1300" spc="-10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Y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B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C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spc="10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K</a:t>
            </a:r>
            <a:r>
              <a:rPr dirty="0" sz="1300" spc="9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F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F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Async,</a:t>
            </a:r>
            <a:r>
              <a:rPr dirty="0" spc="-90"/>
              <a:t> </a:t>
            </a:r>
            <a:r>
              <a:rPr dirty="0"/>
              <a:t>Future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await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93850"/>
            <a:ext cx="95865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Talking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database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takes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moment.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do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not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want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app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freeze</a:t>
            </a:r>
            <a:r>
              <a:rPr dirty="0" sz="150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while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waits,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so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these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calls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run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background.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672" y="2170176"/>
            <a:ext cx="3800475" cy="2520315"/>
            <a:chOff x="423672" y="2170176"/>
            <a:chExt cx="3800475" cy="2520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2170176"/>
              <a:ext cx="3800094" cy="251993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40" y="2240280"/>
              <a:ext cx="3611879" cy="2331720"/>
            </a:xfrm>
            <a:custGeom>
              <a:avLst/>
              <a:gdLst/>
              <a:ahLst/>
              <a:cxnLst/>
              <a:rect l="l" t="t" r="r" b="b"/>
              <a:pathLst>
                <a:path w="3611879" h="2331720">
                  <a:moveTo>
                    <a:pt x="353872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2258568"/>
                  </a:lnTo>
                  <a:lnTo>
                    <a:pt x="5748" y="2287035"/>
                  </a:lnTo>
                  <a:lnTo>
                    <a:pt x="21426" y="2310288"/>
                  </a:lnTo>
                  <a:lnTo>
                    <a:pt x="44678" y="2325969"/>
                  </a:lnTo>
                  <a:lnTo>
                    <a:pt x="73151" y="2331720"/>
                  </a:lnTo>
                  <a:lnTo>
                    <a:pt x="3538728" y="2331720"/>
                  </a:lnTo>
                  <a:lnTo>
                    <a:pt x="3567195" y="2325969"/>
                  </a:lnTo>
                  <a:lnTo>
                    <a:pt x="3590448" y="2310288"/>
                  </a:lnTo>
                  <a:lnTo>
                    <a:pt x="3606129" y="2287035"/>
                  </a:lnTo>
                  <a:lnTo>
                    <a:pt x="3611880" y="2258568"/>
                  </a:lnTo>
                  <a:lnTo>
                    <a:pt x="3611880" y="73152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40" y="2240280"/>
              <a:ext cx="3611879" cy="2331720"/>
            </a:xfrm>
            <a:custGeom>
              <a:avLst/>
              <a:gdLst/>
              <a:ahLst/>
              <a:cxnLst/>
              <a:rect l="l" t="t" r="r" b="b"/>
              <a:pathLst>
                <a:path w="3611879" h="2331720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80" y="73152"/>
                  </a:lnTo>
                  <a:lnTo>
                    <a:pt x="3611880" y="2258568"/>
                  </a:lnTo>
                  <a:lnTo>
                    <a:pt x="3606129" y="2287035"/>
                  </a:lnTo>
                  <a:lnTo>
                    <a:pt x="3590448" y="2310288"/>
                  </a:lnTo>
                  <a:lnTo>
                    <a:pt x="3567195" y="2325969"/>
                  </a:lnTo>
                  <a:lnTo>
                    <a:pt x="3538728" y="2331720"/>
                  </a:lnTo>
                  <a:lnTo>
                    <a:pt x="73151" y="2331720"/>
                  </a:lnTo>
                  <a:lnTo>
                    <a:pt x="44678" y="2325969"/>
                  </a:lnTo>
                  <a:lnTo>
                    <a:pt x="21426" y="2310288"/>
                  </a:lnTo>
                  <a:lnTo>
                    <a:pt x="5748" y="2287035"/>
                  </a:lnTo>
                  <a:lnTo>
                    <a:pt x="0" y="225856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808" y="2496286"/>
              <a:ext cx="1044727" cy="10447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68680" y="256032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80" h="868679">
                  <a:moveTo>
                    <a:pt x="434339" y="0"/>
                  </a:moveTo>
                  <a:lnTo>
                    <a:pt x="387014" y="2548"/>
                  </a:lnTo>
                  <a:lnTo>
                    <a:pt x="341164" y="10016"/>
                  </a:lnTo>
                  <a:lnTo>
                    <a:pt x="297055" y="22140"/>
                  </a:lnTo>
                  <a:lnTo>
                    <a:pt x="254952" y="38654"/>
                  </a:lnTo>
                  <a:lnTo>
                    <a:pt x="215121" y="59294"/>
                  </a:lnTo>
                  <a:lnTo>
                    <a:pt x="177825" y="83795"/>
                  </a:lnTo>
                  <a:lnTo>
                    <a:pt x="143330" y="111892"/>
                  </a:lnTo>
                  <a:lnTo>
                    <a:pt x="111901" y="143320"/>
                  </a:lnTo>
                  <a:lnTo>
                    <a:pt x="83802" y="177814"/>
                  </a:lnTo>
                  <a:lnTo>
                    <a:pt x="59300" y="215109"/>
                  </a:lnTo>
                  <a:lnTo>
                    <a:pt x="38658" y="254941"/>
                  </a:lnTo>
                  <a:lnTo>
                    <a:pt x="22143" y="297045"/>
                  </a:lnTo>
                  <a:lnTo>
                    <a:pt x="10018" y="341156"/>
                  </a:lnTo>
                  <a:lnTo>
                    <a:pt x="2548" y="387009"/>
                  </a:lnTo>
                  <a:lnTo>
                    <a:pt x="0" y="434339"/>
                  </a:lnTo>
                  <a:lnTo>
                    <a:pt x="2548" y="481670"/>
                  </a:lnTo>
                  <a:lnTo>
                    <a:pt x="10018" y="527523"/>
                  </a:lnTo>
                  <a:lnTo>
                    <a:pt x="22143" y="571634"/>
                  </a:lnTo>
                  <a:lnTo>
                    <a:pt x="38658" y="613738"/>
                  </a:lnTo>
                  <a:lnTo>
                    <a:pt x="59300" y="653570"/>
                  </a:lnTo>
                  <a:lnTo>
                    <a:pt x="83802" y="690865"/>
                  </a:lnTo>
                  <a:lnTo>
                    <a:pt x="111901" y="725359"/>
                  </a:lnTo>
                  <a:lnTo>
                    <a:pt x="143330" y="756787"/>
                  </a:lnTo>
                  <a:lnTo>
                    <a:pt x="177825" y="784884"/>
                  </a:lnTo>
                  <a:lnTo>
                    <a:pt x="215121" y="809385"/>
                  </a:lnTo>
                  <a:lnTo>
                    <a:pt x="254952" y="830025"/>
                  </a:lnTo>
                  <a:lnTo>
                    <a:pt x="297055" y="846539"/>
                  </a:lnTo>
                  <a:lnTo>
                    <a:pt x="341164" y="858663"/>
                  </a:lnTo>
                  <a:lnTo>
                    <a:pt x="387014" y="866131"/>
                  </a:lnTo>
                  <a:lnTo>
                    <a:pt x="434339" y="868679"/>
                  </a:lnTo>
                  <a:lnTo>
                    <a:pt x="481670" y="866131"/>
                  </a:lnTo>
                  <a:lnTo>
                    <a:pt x="527523" y="858663"/>
                  </a:lnTo>
                  <a:lnTo>
                    <a:pt x="571634" y="846539"/>
                  </a:lnTo>
                  <a:lnTo>
                    <a:pt x="613738" y="830025"/>
                  </a:lnTo>
                  <a:lnTo>
                    <a:pt x="653570" y="809385"/>
                  </a:lnTo>
                  <a:lnTo>
                    <a:pt x="690865" y="784884"/>
                  </a:lnTo>
                  <a:lnTo>
                    <a:pt x="725359" y="756787"/>
                  </a:lnTo>
                  <a:lnTo>
                    <a:pt x="756787" y="725359"/>
                  </a:lnTo>
                  <a:lnTo>
                    <a:pt x="784884" y="690865"/>
                  </a:lnTo>
                  <a:lnTo>
                    <a:pt x="809385" y="653570"/>
                  </a:lnTo>
                  <a:lnTo>
                    <a:pt x="830025" y="613738"/>
                  </a:lnTo>
                  <a:lnTo>
                    <a:pt x="846539" y="571634"/>
                  </a:lnTo>
                  <a:lnTo>
                    <a:pt x="858663" y="527523"/>
                  </a:lnTo>
                  <a:lnTo>
                    <a:pt x="866131" y="481670"/>
                  </a:lnTo>
                  <a:lnTo>
                    <a:pt x="868680" y="434339"/>
                  </a:lnTo>
                  <a:lnTo>
                    <a:pt x="866131" y="387009"/>
                  </a:lnTo>
                  <a:lnTo>
                    <a:pt x="858663" y="341156"/>
                  </a:lnTo>
                  <a:lnTo>
                    <a:pt x="846539" y="297045"/>
                  </a:lnTo>
                  <a:lnTo>
                    <a:pt x="830025" y="254941"/>
                  </a:lnTo>
                  <a:lnTo>
                    <a:pt x="809385" y="215109"/>
                  </a:lnTo>
                  <a:lnTo>
                    <a:pt x="784884" y="177814"/>
                  </a:lnTo>
                  <a:lnTo>
                    <a:pt x="756787" y="143320"/>
                  </a:lnTo>
                  <a:lnTo>
                    <a:pt x="725359" y="111892"/>
                  </a:lnTo>
                  <a:lnTo>
                    <a:pt x="690865" y="83795"/>
                  </a:lnTo>
                  <a:lnTo>
                    <a:pt x="653570" y="59294"/>
                  </a:lnTo>
                  <a:lnTo>
                    <a:pt x="613738" y="38654"/>
                  </a:lnTo>
                  <a:lnTo>
                    <a:pt x="571634" y="22140"/>
                  </a:lnTo>
                  <a:lnTo>
                    <a:pt x="527523" y="10016"/>
                  </a:lnTo>
                  <a:lnTo>
                    <a:pt x="481670" y="2548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536" y="2786227"/>
              <a:ext cx="416966" cy="41696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862073" y="2752470"/>
            <a:ext cx="7950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C7850D"/>
                </a:solidFill>
                <a:latin typeface="Consolas"/>
                <a:cs typeface="Consolas"/>
              </a:rPr>
              <a:t>async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5980" y="3703701"/>
            <a:ext cx="2907665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Marks</a:t>
            </a:r>
            <a:r>
              <a:rPr dirty="0" sz="13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3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function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that</a:t>
            </a:r>
            <a:r>
              <a:rPr dirty="0" sz="13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takes</a:t>
            </a:r>
            <a:r>
              <a:rPr dirty="0" sz="13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time.</a:t>
            </a:r>
            <a:r>
              <a:rPr dirty="0" sz="13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3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means: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run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this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background,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do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not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freeze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the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screen.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91584" y="2170176"/>
            <a:ext cx="3800475" cy="2520315"/>
            <a:chOff x="4291584" y="2170176"/>
            <a:chExt cx="3800475" cy="252031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1584" y="2170176"/>
              <a:ext cx="3800094" cy="251993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16552" y="2240280"/>
              <a:ext cx="3611879" cy="2331720"/>
            </a:xfrm>
            <a:custGeom>
              <a:avLst/>
              <a:gdLst/>
              <a:ahLst/>
              <a:cxnLst/>
              <a:rect l="l" t="t" r="r" b="b"/>
              <a:pathLst>
                <a:path w="3611879" h="2331720">
                  <a:moveTo>
                    <a:pt x="3538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2258568"/>
                  </a:lnTo>
                  <a:lnTo>
                    <a:pt x="5750" y="2287035"/>
                  </a:lnTo>
                  <a:lnTo>
                    <a:pt x="21431" y="2310288"/>
                  </a:lnTo>
                  <a:lnTo>
                    <a:pt x="44684" y="2325969"/>
                  </a:lnTo>
                  <a:lnTo>
                    <a:pt x="73151" y="2331720"/>
                  </a:lnTo>
                  <a:lnTo>
                    <a:pt x="3538728" y="2331720"/>
                  </a:lnTo>
                  <a:lnTo>
                    <a:pt x="3567195" y="2325969"/>
                  </a:lnTo>
                  <a:lnTo>
                    <a:pt x="3590448" y="2310288"/>
                  </a:lnTo>
                  <a:lnTo>
                    <a:pt x="3606129" y="2287035"/>
                  </a:lnTo>
                  <a:lnTo>
                    <a:pt x="3611879" y="2258568"/>
                  </a:lnTo>
                  <a:lnTo>
                    <a:pt x="3611879" y="73152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16552" y="2240280"/>
              <a:ext cx="3611879" cy="2331720"/>
            </a:xfrm>
            <a:custGeom>
              <a:avLst/>
              <a:gdLst/>
              <a:ahLst/>
              <a:cxnLst/>
              <a:rect l="l" t="t" r="r" b="b"/>
              <a:pathLst>
                <a:path w="3611879" h="233172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79" y="73152"/>
                  </a:lnTo>
                  <a:lnTo>
                    <a:pt x="3611879" y="2258568"/>
                  </a:lnTo>
                  <a:lnTo>
                    <a:pt x="3606129" y="2287035"/>
                  </a:lnTo>
                  <a:lnTo>
                    <a:pt x="3590448" y="2310288"/>
                  </a:lnTo>
                  <a:lnTo>
                    <a:pt x="3567195" y="2325969"/>
                  </a:lnTo>
                  <a:lnTo>
                    <a:pt x="3538728" y="2331720"/>
                  </a:lnTo>
                  <a:lnTo>
                    <a:pt x="73151" y="2331720"/>
                  </a:lnTo>
                  <a:lnTo>
                    <a:pt x="44684" y="2325969"/>
                  </a:lnTo>
                  <a:lnTo>
                    <a:pt x="21431" y="2310288"/>
                  </a:lnTo>
                  <a:lnTo>
                    <a:pt x="5750" y="2287035"/>
                  </a:lnTo>
                  <a:lnTo>
                    <a:pt x="0" y="225856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7720" y="2496286"/>
              <a:ext cx="1044727" cy="10447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36592" y="256032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79">
                  <a:moveTo>
                    <a:pt x="434340" y="0"/>
                  </a:moveTo>
                  <a:lnTo>
                    <a:pt x="387009" y="2548"/>
                  </a:lnTo>
                  <a:lnTo>
                    <a:pt x="341156" y="10016"/>
                  </a:lnTo>
                  <a:lnTo>
                    <a:pt x="297045" y="22140"/>
                  </a:lnTo>
                  <a:lnTo>
                    <a:pt x="254941" y="38654"/>
                  </a:lnTo>
                  <a:lnTo>
                    <a:pt x="215109" y="59294"/>
                  </a:lnTo>
                  <a:lnTo>
                    <a:pt x="177814" y="83795"/>
                  </a:lnTo>
                  <a:lnTo>
                    <a:pt x="143320" y="111892"/>
                  </a:lnTo>
                  <a:lnTo>
                    <a:pt x="111892" y="143320"/>
                  </a:lnTo>
                  <a:lnTo>
                    <a:pt x="83795" y="177814"/>
                  </a:lnTo>
                  <a:lnTo>
                    <a:pt x="59294" y="215109"/>
                  </a:lnTo>
                  <a:lnTo>
                    <a:pt x="38654" y="254941"/>
                  </a:lnTo>
                  <a:lnTo>
                    <a:pt x="22140" y="297045"/>
                  </a:lnTo>
                  <a:lnTo>
                    <a:pt x="10016" y="341156"/>
                  </a:lnTo>
                  <a:lnTo>
                    <a:pt x="2548" y="387009"/>
                  </a:lnTo>
                  <a:lnTo>
                    <a:pt x="0" y="434339"/>
                  </a:lnTo>
                  <a:lnTo>
                    <a:pt x="2548" y="481670"/>
                  </a:lnTo>
                  <a:lnTo>
                    <a:pt x="10016" y="527523"/>
                  </a:lnTo>
                  <a:lnTo>
                    <a:pt x="22140" y="571634"/>
                  </a:lnTo>
                  <a:lnTo>
                    <a:pt x="38654" y="613738"/>
                  </a:lnTo>
                  <a:lnTo>
                    <a:pt x="59294" y="653570"/>
                  </a:lnTo>
                  <a:lnTo>
                    <a:pt x="83795" y="690865"/>
                  </a:lnTo>
                  <a:lnTo>
                    <a:pt x="111892" y="725359"/>
                  </a:lnTo>
                  <a:lnTo>
                    <a:pt x="143320" y="756787"/>
                  </a:lnTo>
                  <a:lnTo>
                    <a:pt x="177814" y="784884"/>
                  </a:lnTo>
                  <a:lnTo>
                    <a:pt x="215109" y="809385"/>
                  </a:lnTo>
                  <a:lnTo>
                    <a:pt x="254941" y="830025"/>
                  </a:lnTo>
                  <a:lnTo>
                    <a:pt x="297045" y="846539"/>
                  </a:lnTo>
                  <a:lnTo>
                    <a:pt x="341156" y="858663"/>
                  </a:lnTo>
                  <a:lnTo>
                    <a:pt x="387009" y="866131"/>
                  </a:lnTo>
                  <a:lnTo>
                    <a:pt x="434340" y="868679"/>
                  </a:lnTo>
                  <a:lnTo>
                    <a:pt x="481670" y="866131"/>
                  </a:lnTo>
                  <a:lnTo>
                    <a:pt x="527523" y="858663"/>
                  </a:lnTo>
                  <a:lnTo>
                    <a:pt x="571634" y="846539"/>
                  </a:lnTo>
                  <a:lnTo>
                    <a:pt x="613738" y="830025"/>
                  </a:lnTo>
                  <a:lnTo>
                    <a:pt x="653570" y="809385"/>
                  </a:lnTo>
                  <a:lnTo>
                    <a:pt x="690865" y="784884"/>
                  </a:lnTo>
                  <a:lnTo>
                    <a:pt x="725359" y="756787"/>
                  </a:lnTo>
                  <a:lnTo>
                    <a:pt x="756787" y="725359"/>
                  </a:lnTo>
                  <a:lnTo>
                    <a:pt x="784884" y="690865"/>
                  </a:lnTo>
                  <a:lnTo>
                    <a:pt x="809385" y="653570"/>
                  </a:lnTo>
                  <a:lnTo>
                    <a:pt x="830025" y="613738"/>
                  </a:lnTo>
                  <a:lnTo>
                    <a:pt x="846539" y="571634"/>
                  </a:lnTo>
                  <a:lnTo>
                    <a:pt x="858663" y="527523"/>
                  </a:lnTo>
                  <a:lnTo>
                    <a:pt x="866131" y="481670"/>
                  </a:lnTo>
                  <a:lnTo>
                    <a:pt x="868680" y="434339"/>
                  </a:lnTo>
                  <a:lnTo>
                    <a:pt x="866131" y="387009"/>
                  </a:lnTo>
                  <a:lnTo>
                    <a:pt x="858663" y="341156"/>
                  </a:lnTo>
                  <a:lnTo>
                    <a:pt x="846539" y="297045"/>
                  </a:lnTo>
                  <a:lnTo>
                    <a:pt x="830025" y="254941"/>
                  </a:lnTo>
                  <a:lnTo>
                    <a:pt x="809385" y="215109"/>
                  </a:lnTo>
                  <a:lnTo>
                    <a:pt x="784884" y="177814"/>
                  </a:lnTo>
                  <a:lnTo>
                    <a:pt x="756787" y="143320"/>
                  </a:lnTo>
                  <a:lnTo>
                    <a:pt x="725359" y="111892"/>
                  </a:lnTo>
                  <a:lnTo>
                    <a:pt x="690865" y="83795"/>
                  </a:lnTo>
                  <a:lnTo>
                    <a:pt x="653570" y="59294"/>
                  </a:lnTo>
                  <a:lnTo>
                    <a:pt x="613738" y="38654"/>
                  </a:lnTo>
                  <a:lnTo>
                    <a:pt x="571634" y="22140"/>
                  </a:lnTo>
                  <a:lnTo>
                    <a:pt x="527523" y="10016"/>
                  </a:lnTo>
                  <a:lnTo>
                    <a:pt x="481670" y="2548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2398" y="2786227"/>
              <a:ext cx="416966" cy="41696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730366" y="2752470"/>
            <a:ext cx="9512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C7850D"/>
                </a:solidFill>
                <a:latin typeface="Consolas"/>
                <a:cs typeface="Consolas"/>
              </a:rPr>
              <a:t>Future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24527" y="3703701"/>
            <a:ext cx="2869565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3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value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that is</a:t>
            </a:r>
            <a:r>
              <a:rPr dirty="0" sz="13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not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ready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yet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but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will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arrive 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later,</a:t>
            </a:r>
            <a:r>
              <a:rPr dirty="0" sz="13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like</a:t>
            </a:r>
            <a:r>
              <a:rPr dirty="0" sz="13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receipt</a:t>
            </a:r>
            <a:r>
              <a:rPr dirty="0" sz="13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you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collect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once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5B6656"/>
                </a:solidFill>
                <a:latin typeface="Calibri"/>
                <a:cs typeface="Calibri"/>
              </a:rPr>
              <a:t>the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order</a:t>
            </a:r>
            <a:r>
              <a:rPr dirty="0" sz="13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is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done.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9495" y="2170176"/>
            <a:ext cx="3800475" cy="2520315"/>
            <a:chOff x="8159495" y="2170176"/>
            <a:chExt cx="3800475" cy="252031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9495" y="2170176"/>
              <a:ext cx="3800094" cy="251993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284463" y="2240280"/>
              <a:ext cx="3611879" cy="2331720"/>
            </a:xfrm>
            <a:custGeom>
              <a:avLst/>
              <a:gdLst/>
              <a:ahLst/>
              <a:cxnLst/>
              <a:rect l="l" t="t" r="r" b="b"/>
              <a:pathLst>
                <a:path w="3611879" h="2331720">
                  <a:moveTo>
                    <a:pt x="35387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2258568"/>
                  </a:lnTo>
                  <a:lnTo>
                    <a:pt x="5750" y="2287035"/>
                  </a:lnTo>
                  <a:lnTo>
                    <a:pt x="21431" y="2310288"/>
                  </a:lnTo>
                  <a:lnTo>
                    <a:pt x="44684" y="2325969"/>
                  </a:lnTo>
                  <a:lnTo>
                    <a:pt x="73151" y="2331720"/>
                  </a:lnTo>
                  <a:lnTo>
                    <a:pt x="3538728" y="2331720"/>
                  </a:lnTo>
                  <a:lnTo>
                    <a:pt x="3567195" y="2325969"/>
                  </a:lnTo>
                  <a:lnTo>
                    <a:pt x="3590448" y="2310288"/>
                  </a:lnTo>
                  <a:lnTo>
                    <a:pt x="3606129" y="2287035"/>
                  </a:lnTo>
                  <a:lnTo>
                    <a:pt x="3611879" y="2258568"/>
                  </a:lnTo>
                  <a:lnTo>
                    <a:pt x="3611879" y="73152"/>
                  </a:lnTo>
                  <a:lnTo>
                    <a:pt x="3606129" y="44684"/>
                  </a:lnTo>
                  <a:lnTo>
                    <a:pt x="3590448" y="21431"/>
                  </a:lnTo>
                  <a:lnTo>
                    <a:pt x="3567195" y="5750"/>
                  </a:lnTo>
                  <a:lnTo>
                    <a:pt x="3538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284463" y="2240280"/>
              <a:ext cx="3611879" cy="2331720"/>
            </a:xfrm>
            <a:custGeom>
              <a:avLst/>
              <a:gdLst/>
              <a:ahLst/>
              <a:cxnLst/>
              <a:rect l="l" t="t" r="r" b="b"/>
              <a:pathLst>
                <a:path w="3611879" h="233172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538728" y="0"/>
                  </a:lnTo>
                  <a:lnTo>
                    <a:pt x="3567195" y="5750"/>
                  </a:lnTo>
                  <a:lnTo>
                    <a:pt x="3590448" y="21431"/>
                  </a:lnTo>
                  <a:lnTo>
                    <a:pt x="3606129" y="44684"/>
                  </a:lnTo>
                  <a:lnTo>
                    <a:pt x="3611879" y="73152"/>
                  </a:lnTo>
                  <a:lnTo>
                    <a:pt x="3611879" y="2258568"/>
                  </a:lnTo>
                  <a:lnTo>
                    <a:pt x="3606129" y="2287035"/>
                  </a:lnTo>
                  <a:lnTo>
                    <a:pt x="3590448" y="2310288"/>
                  </a:lnTo>
                  <a:lnTo>
                    <a:pt x="3567195" y="2325969"/>
                  </a:lnTo>
                  <a:lnTo>
                    <a:pt x="3538728" y="2331720"/>
                  </a:lnTo>
                  <a:lnTo>
                    <a:pt x="73151" y="2331720"/>
                  </a:lnTo>
                  <a:lnTo>
                    <a:pt x="44684" y="2325969"/>
                  </a:lnTo>
                  <a:lnTo>
                    <a:pt x="21431" y="2310288"/>
                  </a:lnTo>
                  <a:lnTo>
                    <a:pt x="5750" y="2287035"/>
                  </a:lnTo>
                  <a:lnTo>
                    <a:pt x="0" y="225856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85631" y="2496286"/>
              <a:ext cx="1044727" cy="104472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604503" y="256032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79" h="868679">
                  <a:moveTo>
                    <a:pt x="434340" y="0"/>
                  </a:moveTo>
                  <a:lnTo>
                    <a:pt x="387009" y="2548"/>
                  </a:lnTo>
                  <a:lnTo>
                    <a:pt x="341156" y="10016"/>
                  </a:lnTo>
                  <a:lnTo>
                    <a:pt x="297045" y="22140"/>
                  </a:lnTo>
                  <a:lnTo>
                    <a:pt x="254941" y="38654"/>
                  </a:lnTo>
                  <a:lnTo>
                    <a:pt x="215109" y="59294"/>
                  </a:lnTo>
                  <a:lnTo>
                    <a:pt x="177814" y="83795"/>
                  </a:lnTo>
                  <a:lnTo>
                    <a:pt x="143320" y="111892"/>
                  </a:lnTo>
                  <a:lnTo>
                    <a:pt x="111892" y="143320"/>
                  </a:lnTo>
                  <a:lnTo>
                    <a:pt x="83795" y="177814"/>
                  </a:lnTo>
                  <a:lnTo>
                    <a:pt x="59294" y="215109"/>
                  </a:lnTo>
                  <a:lnTo>
                    <a:pt x="38654" y="254941"/>
                  </a:lnTo>
                  <a:lnTo>
                    <a:pt x="22140" y="297045"/>
                  </a:lnTo>
                  <a:lnTo>
                    <a:pt x="10016" y="341156"/>
                  </a:lnTo>
                  <a:lnTo>
                    <a:pt x="2548" y="387009"/>
                  </a:lnTo>
                  <a:lnTo>
                    <a:pt x="0" y="434339"/>
                  </a:lnTo>
                  <a:lnTo>
                    <a:pt x="2548" y="481670"/>
                  </a:lnTo>
                  <a:lnTo>
                    <a:pt x="10016" y="527523"/>
                  </a:lnTo>
                  <a:lnTo>
                    <a:pt x="22140" y="571634"/>
                  </a:lnTo>
                  <a:lnTo>
                    <a:pt x="38654" y="613738"/>
                  </a:lnTo>
                  <a:lnTo>
                    <a:pt x="59294" y="653570"/>
                  </a:lnTo>
                  <a:lnTo>
                    <a:pt x="83795" y="690865"/>
                  </a:lnTo>
                  <a:lnTo>
                    <a:pt x="111892" y="725359"/>
                  </a:lnTo>
                  <a:lnTo>
                    <a:pt x="143320" y="756787"/>
                  </a:lnTo>
                  <a:lnTo>
                    <a:pt x="177814" y="784884"/>
                  </a:lnTo>
                  <a:lnTo>
                    <a:pt x="215109" y="809385"/>
                  </a:lnTo>
                  <a:lnTo>
                    <a:pt x="254941" y="830025"/>
                  </a:lnTo>
                  <a:lnTo>
                    <a:pt x="297045" y="846539"/>
                  </a:lnTo>
                  <a:lnTo>
                    <a:pt x="341156" y="858663"/>
                  </a:lnTo>
                  <a:lnTo>
                    <a:pt x="387009" y="866131"/>
                  </a:lnTo>
                  <a:lnTo>
                    <a:pt x="434340" y="868679"/>
                  </a:lnTo>
                  <a:lnTo>
                    <a:pt x="481670" y="866131"/>
                  </a:lnTo>
                  <a:lnTo>
                    <a:pt x="527523" y="858663"/>
                  </a:lnTo>
                  <a:lnTo>
                    <a:pt x="571634" y="846539"/>
                  </a:lnTo>
                  <a:lnTo>
                    <a:pt x="613738" y="830025"/>
                  </a:lnTo>
                  <a:lnTo>
                    <a:pt x="653570" y="809385"/>
                  </a:lnTo>
                  <a:lnTo>
                    <a:pt x="690865" y="784884"/>
                  </a:lnTo>
                  <a:lnTo>
                    <a:pt x="725359" y="756787"/>
                  </a:lnTo>
                  <a:lnTo>
                    <a:pt x="756787" y="725359"/>
                  </a:lnTo>
                  <a:lnTo>
                    <a:pt x="784884" y="690865"/>
                  </a:lnTo>
                  <a:lnTo>
                    <a:pt x="809385" y="653570"/>
                  </a:lnTo>
                  <a:lnTo>
                    <a:pt x="830025" y="613738"/>
                  </a:lnTo>
                  <a:lnTo>
                    <a:pt x="846539" y="571634"/>
                  </a:lnTo>
                  <a:lnTo>
                    <a:pt x="858663" y="527523"/>
                  </a:lnTo>
                  <a:lnTo>
                    <a:pt x="866131" y="481670"/>
                  </a:lnTo>
                  <a:lnTo>
                    <a:pt x="868679" y="434339"/>
                  </a:lnTo>
                  <a:lnTo>
                    <a:pt x="866131" y="387009"/>
                  </a:lnTo>
                  <a:lnTo>
                    <a:pt x="858663" y="341156"/>
                  </a:lnTo>
                  <a:lnTo>
                    <a:pt x="846539" y="297045"/>
                  </a:lnTo>
                  <a:lnTo>
                    <a:pt x="830025" y="254941"/>
                  </a:lnTo>
                  <a:lnTo>
                    <a:pt x="809385" y="215109"/>
                  </a:lnTo>
                  <a:lnTo>
                    <a:pt x="784884" y="177814"/>
                  </a:lnTo>
                  <a:lnTo>
                    <a:pt x="756787" y="143320"/>
                  </a:lnTo>
                  <a:lnTo>
                    <a:pt x="725359" y="111892"/>
                  </a:lnTo>
                  <a:lnTo>
                    <a:pt x="690865" y="83795"/>
                  </a:lnTo>
                  <a:lnTo>
                    <a:pt x="653570" y="59294"/>
                  </a:lnTo>
                  <a:lnTo>
                    <a:pt x="613738" y="38654"/>
                  </a:lnTo>
                  <a:lnTo>
                    <a:pt x="571634" y="22140"/>
                  </a:lnTo>
                  <a:lnTo>
                    <a:pt x="527523" y="10016"/>
                  </a:lnTo>
                  <a:lnTo>
                    <a:pt x="481670" y="2548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30309" y="2786227"/>
              <a:ext cx="416966" cy="41696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598914" y="2752470"/>
            <a:ext cx="7950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C7850D"/>
                </a:solidFill>
                <a:latin typeface="Consolas"/>
                <a:cs typeface="Consolas"/>
              </a:rPr>
              <a:t>await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8593073" y="3802760"/>
            <a:ext cx="291020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Means: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pause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here</a:t>
            </a:r>
            <a:r>
              <a:rPr dirty="0" sz="13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until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this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finishes,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5B6656"/>
                </a:solidFill>
                <a:latin typeface="Calibri"/>
                <a:cs typeface="Calibri"/>
              </a:rPr>
              <a:t>then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carry</a:t>
            </a:r>
            <a:r>
              <a:rPr dirty="0" sz="13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on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with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30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next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line</a:t>
            </a:r>
            <a:r>
              <a:rPr dirty="0" sz="130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using</a:t>
            </a:r>
            <a:r>
              <a:rPr dirty="0" sz="13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300" spc="-10">
                <a:solidFill>
                  <a:srgbClr val="5B6656"/>
                </a:solidFill>
                <a:latin typeface="Calibri"/>
                <a:cs typeface="Calibri"/>
              </a:rPr>
              <a:t> result.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1476" y="5081092"/>
            <a:ext cx="83369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Read</a:t>
            </a:r>
            <a:r>
              <a:rPr dirty="0" sz="140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it</a:t>
            </a:r>
            <a:r>
              <a:rPr dirty="0" sz="140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like</a:t>
            </a:r>
            <a:r>
              <a:rPr dirty="0" sz="140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a</a:t>
            </a:r>
            <a:r>
              <a:rPr dirty="0" sz="140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sentence:</a:t>
            </a:r>
            <a:r>
              <a:rPr dirty="0" sz="1400" spc="27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2C5F2C"/>
                </a:solidFill>
                <a:latin typeface="Consolas"/>
                <a:cs typeface="Consolas"/>
              </a:rPr>
              <a:t>await</a:t>
            </a:r>
            <a:r>
              <a:rPr dirty="0" sz="1400" spc="-55" b="1">
                <a:solidFill>
                  <a:srgbClr val="2C5F2C"/>
                </a:solidFill>
                <a:latin typeface="Consolas"/>
                <a:cs typeface="Consolas"/>
              </a:rPr>
              <a:t> </a:t>
            </a:r>
            <a:r>
              <a:rPr dirty="0" sz="1400" spc="-10" b="1">
                <a:solidFill>
                  <a:srgbClr val="2C5F2C"/>
                </a:solidFill>
                <a:latin typeface="Consolas"/>
                <a:cs typeface="Consolas"/>
              </a:rPr>
              <a:t>DatabaseService.db()</a:t>
            </a:r>
            <a:r>
              <a:rPr dirty="0" sz="1400" spc="-145" b="1">
                <a:solidFill>
                  <a:srgbClr val="2C5F2C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means</a:t>
            </a:r>
            <a:r>
              <a:rPr dirty="0" sz="140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“wait</a:t>
            </a:r>
            <a:r>
              <a:rPr dirty="0" sz="140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for</a:t>
            </a:r>
            <a:r>
              <a:rPr dirty="0" sz="140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C2B1C"/>
                </a:solidFill>
                <a:latin typeface="Calibri"/>
                <a:cs typeface="Calibri"/>
              </a:rPr>
              <a:t>database</a:t>
            </a:r>
            <a:r>
              <a:rPr dirty="0" sz="1400" spc="-2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to</a:t>
            </a:r>
            <a:r>
              <a:rPr dirty="0" sz="140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open,</a:t>
            </a:r>
            <a:r>
              <a:rPr dirty="0" sz="140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C2B1C"/>
                </a:solidFill>
                <a:latin typeface="Calibri"/>
                <a:cs typeface="Calibri"/>
              </a:rPr>
              <a:t>then</a:t>
            </a:r>
            <a:r>
              <a:rPr dirty="0" sz="1400" spc="-2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C2B1C"/>
                </a:solidFill>
                <a:latin typeface="Calibri"/>
                <a:cs typeface="Calibri"/>
              </a:rPr>
              <a:t>continue.”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314515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2545" algn="l"/>
              </a:tabLst>
            </a:pP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10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F</a:t>
            </a:r>
            <a:r>
              <a:rPr dirty="0" sz="1300" spc="10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10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C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CRUD:</a:t>
            </a:r>
            <a:r>
              <a:rPr dirty="0" spc="-17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/>
              <a:t>Four</a:t>
            </a:r>
            <a:r>
              <a:rPr dirty="0" spc="-130"/>
              <a:t> </a:t>
            </a:r>
            <a:r>
              <a:rPr dirty="0" spc="-10"/>
              <a:t>Operations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23672" y="2170176"/>
            <a:ext cx="2886075" cy="3754754"/>
            <a:chOff x="423672" y="2170176"/>
            <a:chExt cx="2886075" cy="375475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2170176"/>
              <a:ext cx="2885693" cy="37543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48640" y="2240280"/>
              <a:ext cx="2697480" cy="3566160"/>
            </a:xfrm>
            <a:custGeom>
              <a:avLst/>
              <a:gdLst/>
              <a:ahLst/>
              <a:cxnLst/>
              <a:rect l="l" t="t" r="r" b="b"/>
              <a:pathLst>
                <a:path w="2697480" h="3566160">
                  <a:moveTo>
                    <a:pt x="262432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3493008"/>
                  </a:lnTo>
                  <a:lnTo>
                    <a:pt x="5748" y="3521481"/>
                  </a:lnTo>
                  <a:lnTo>
                    <a:pt x="21426" y="3544733"/>
                  </a:lnTo>
                  <a:lnTo>
                    <a:pt x="44678" y="3560411"/>
                  </a:lnTo>
                  <a:lnTo>
                    <a:pt x="73151" y="3566160"/>
                  </a:lnTo>
                  <a:lnTo>
                    <a:pt x="2624328" y="3566160"/>
                  </a:lnTo>
                  <a:lnTo>
                    <a:pt x="2652795" y="3560411"/>
                  </a:lnTo>
                  <a:lnTo>
                    <a:pt x="2676048" y="3544733"/>
                  </a:lnTo>
                  <a:lnTo>
                    <a:pt x="2691729" y="3521481"/>
                  </a:lnTo>
                  <a:lnTo>
                    <a:pt x="2697479" y="3493008"/>
                  </a:lnTo>
                  <a:lnTo>
                    <a:pt x="2697479" y="73152"/>
                  </a:lnTo>
                  <a:lnTo>
                    <a:pt x="2691729" y="44684"/>
                  </a:lnTo>
                  <a:lnTo>
                    <a:pt x="2676048" y="21431"/>
                  </a:lnTo>
                  <a:lnTo>
                    <a:pt x="2652795" y="5750"/>
                  </a:lnTo>
                  <a:lnTo>
                    <a:pt x="2624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8640" y="2240280"/>
              <a:ext cx="2697480" cy="3566160"/>
            </a:xfrm>
            <a:custGeom>
              <a:avLst/>
              <a:gdLst/>
              <a:ahLst/>
              <a:cxnLst/>
              <a:rect l="l" t="t" r="r" b="b"/>
              <a:pathLst>
                <a:path w="2697480" h="3566160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2624328" y="0"/>
                  </a:lnTo>
                  <a:lnTo>
                    <a:pt x="2652795" y="5750"/>
                  </a:lnTo>
                  <a:lnTo>
                    <a:pt x="2676048" y="21431"/>
                  </a:lnTo>
                  <a:lnTo>
                    <a:pt x="2691729" y="44684"/>
                  </a:lnTo>
                  <a:lnTo>
                    <a:pt x="2697479" y="73152"/>
                  </a:lnTo>
                  <a:lnTo>
                    <a:pt x="2697479" y="3493008"/>
                  </a:lnTo>
                  <a:lnTo>
                    <a:pt x="2691729" y="3521481"/>
                  </a:lnTo>
                  <a:lnTo>
                    <a:pt x="2676048" y="3544733"/>
                  </a:lnTo>
                  <a:lnTo>
                    <a:pt x="2652795" y="3560411"/>
                  </a:lnTo>
                  <a:lnTo>
                    <a:pt x="2624328" y="3566160"/>
                  </a:lnTo>
                  <a:lnTo>
                    <a:pt x="73151" y="3566160"/>
                  </a:lnTo>
                  <a:lnTo>
                    <a:pt x="44678" y="3560411"/>
                  </a:lnTo>
                  <a:lnTo>
                    <a:pt x="21426" y="3544733"/>
                  </a:lnTo>
                  <a:lnTo>
                    <a:pt x="5748" y="3521481"/>
                  </a:lnTo>
                  <a:lnTo>
                    <a:pt x="0" y="3493008"/>
                  </a:lnTo>
                  <a:lnTo>
                    <a:pt x="0" y="73152"/>
                  </a:lnTo>
                  <a:close/>
                </a:path>
              </a:pathLst>
            </a:custGeom>
            <a:ln w="12699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40" y="2240280"/>
              <a:ext cx="2697480" cy="109855"/>
            </a:xfrm>
            <a:custGeom>
              <a:avLst/>
              <a:gdLst/>
              <a:ahLst/>
              <a:cxnLst/>
              <a:rect l="l" t="t" r="r" b="b"/>
              <a:pathLst>
                <a:path w="2697480" h="109855">
                  <a:moveTo>
                    <a:pt x="269748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697480" y="109727"/>
                  </a:lnTo>
                  <a:lnTo>
                    <a:pt x="269748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1308" y="3410712"/>
              <a:ext cx="1090422" cy="10904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40180" y="347472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199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399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199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7924" y="3712464"/>
              <a:ext cx="438912" cy="43891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08505" y="4515992"/>
            <a:ext cx="7772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1F3863"/>
                </a:solidFill>
                <a:latin typeface="Trebuchet MS"/>
                <a:cs typeface="Trebuchet MS"/>
              </a:rPr>
              <a:t>Create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9358" y="5099380"/>
            <a:ext cx="22739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Add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new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record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into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database.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9158" y="5478576"/>
            <a:ext cx="99504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2C5F2C"/>
                </a:solidFill>
                <a:latin typeface="Consolas"/>
                <a:cs typeface="Consolas"/>
              </a:rPr>
              <a:t>createItem()</a:t>
            </a:r>
            <a:endParaRPr sz="1150">
              <a:latin typeface="Consolas"/>
              <a:cs typeface="Consola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68040" y="2170176"/>
            <a:ext cx="2886075" cy="3754754"/>
            <a:chOff x="3368040" y="2170176"/>
            <a:chExt cx="2886075" cy="3754754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8040" y="2170176"/>
              <a:ext cx="2885693" cy="37543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493008" y="2240280"/>
              <a:ext cx="2697480" cy="3566160"/>
            </a:xfrm>
            <a:custGeom>
              <a:avLst/>
              <a:gdLst/>
              <a:ahLst/>
              <a:cxnLst/>
              <a:rect l="l" t="t" r="r" b="b"/>
              <a:pathLst>
                <a:path w="2697479" h="3566160">
                  <a:moveTo>
                    <a:pt x="26243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3493008"/>
                  </a:lnTo>
                  <a:lnTo>
                    <a:pt x="5750" y="3521481"/>
                  </a:lnTo>
                  <a:lnTo>
                    <a:pt x="21431" y="3544733"/>
                  </a:lnTo>
                  <a:lnTo>
                    <a:pt x="44684" y="3560411"/>
                  </a:lnTo>
                  <a:lnTo>
                    <a:pt x="73151" y="3566160"/>
                  </a:lnTo>
                  <a:lnTo>
                    <a:pt x="2624328" y="3566160"/>
                  </a:lnTo>
                  <a:lnTo>
                    <a:pt x="2652795" y="3560411"/>
                  </a:lnTo>
                  <a:lnTo>
                    <a:pt x="2676048" y="3544733"/>
                  </a:lnTo>
                  <a:lnTo>
                    <a:pt x="2691729" y="3521481"/>
                  </a:lnTo>
                  <a:lnTo>
                    <a:pt x="2697479" y="3493008"/>
                  </a:lnTo>
                  <a:lnTo>
                    <a:pt x="2697479" y="73152"/>
                  </a:lnTo>
                  <a:lnTo>
                    <a:pt x="2691729" y="44684"/>
                  </a:lnTo>
                  <a:lnTo>
                    <a:pt x="2676048" y="21431"/>
                  </a:lnTo>
                  <a:lnTo>
                    <a:pt x="2652795" y="5750"/>
                  </a:lnTo>
                  <a:lnTo>
                    <a:pt x="2624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493008" y="2240280"/>
              <a:ext cx="2697480" cy="3566160"/>
            </a:xfrm>
            <a:custGeom>
              <a:avLst/>
              <a:gdLst/>
              <a:ahLst/>
              <a:cxnLst/>
              <a:rect l="l" t="t" r="r" b="b"/>
              <a:pathLst>
                <a:path w="2697479" h="356616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624328" y="0"/>
                  </a:lnTo>
                  <a:lnTo>
                    <a:pt x="2652795" y="5750"/>
                  </a:lnTo>
                  <a:lnTo>
                    <a:pt x="2676048" y="21431"/>
                  </a:lnTo>
                  <a:lnTo>
                    <a:pt x="2691729" y="44684"/>
                  </a:lnTo>
                  <a:lnTo>
                    <a:pt x="2697479" y="73152"/>
                  </a:lnTo>
                  <a:lnTo>
                    <a:pt x="2697479" y="3493008"/>
                  </a:lnTo>
                  <a:lnTo>
                    <a:pt x="2691729" y="3521481"/>
                  </a:lnTo>
                  <a:lnTo>
                    <a:pt x="2676048" y="3544733"/>
                  </a:lnTo>
                  <a:lnTo>
                    <a:pt x="2652795" y="3560411"/>
                  </a:lnTo>
                  <a:lnTo>
                    <a:pt x="2624328" y="3566160"/>
                  </a:lnTo>
                  <a:lnTo>
                    <a:pt x="73151" y="3566160"/>
                  </a:lnTo>
                  <a:lnTo>
                    <a:pt x="44684" y="3560411"/>
                  </a:lnTo>
                  <a:lnTo>
                    <a:pt x="21431" y="3544733"/>
                  </a:lnTo>
                  <a:lnTo>
                    <a:pt x="5750" y="3521481"/>
                  </a:lnTo>
                  <a:lnTo>
                    <a:pt x="0" y="3493008"/>
                  </a:lnTo>
                  <a:lnTo>
                    <a:pt x="0" y="73152"/>
                  </a:lnTo>
                  <a:close/>
                </a:path>
              </a:pathLst>
            </a:custGeom>
            <a:ln w="12699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493008" y="2240280"/>
              <a:ext cx="2697480" cy="109855"/>
            </a:xfrm>
            <a:custGeom>
              <a:avLst/>
              <a:gdLst/>
              <a:ahLst/>
              <a:cxnLst/>
              <a:rect l="l" t="t" r="r" b="b"/>
              <a:pathLst>
                <a:path w="2697479" h="109855">
                  <a:moveTo>
                    <a:pt x="269748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697480" y="109727"/>
                  </a:lnTo>
                  <a:lnTo>
                    <a:pt x="2697480" y="0"/>
                  </a:lnTo>
                  <a:close/>
                </a:path>
              </a:pathLst>
            </a:custGeom>
            <a:solidFill>
              <a:srgbClr val="3D7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676" y="3410712"/>
              <a:ext cx="1090422" cy="109042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84548" y="347472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199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399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199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3D7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22292" y="3712464"/>
              <a:ext cx="438912" cy="43891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552315" y="4515992"/>
            <a:ext cx="58039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20" b="1">
                <a:solidFill>
                  <a:srgbClr val="1F3863"/>
                </a:solidFill>
                <a:latin typeface="Trebuchet MS"/>
                <a:cs typeface="Trebuchet MS"/>
              </a:rPr>
              <a:t>Read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4938" y="5099380"/>
            <a:ext cx="229362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Get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records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out</a:t>
            </a:r>
            <a:r>
              <a:rPr dirty="0" sz="12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display</a:t>
            </a:r>
            <a:r>
              <a:rPr dirty="0" sz="12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on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screen.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24553" y="5478576"/>
            <a:ext cx="83311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2C5F2C"/>
                </a:solidFill>
                <a:latin typeface="Consolas"/>
                <a:cs typeface="Consolas"/>
              </a:rPr>
              <a:t>getItems()</a:t>
            </a:r>
            <a:endParaRPr sz="1150">
              <a:latin typeface="Consolas"/>
              <a:cs typeface="Consola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12408" y="2170176"/>
            <a:ext cx="2886075" cy="3754754"/>
            <a:chOff x="6312408" y="2170176"/>
            <a:chExt cx="2886075" cy="3754754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2408" y="2170176"/>
              <a:ext cx="2885693" cy="37543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437376" y="2240280"/>
              <a:ext cx="2697480" cy="3566160"/>
            </a:xfrm>
            <a:custGeom>
              <a:avLst/>
              <a:gdLst/>
              <a:ahLst/>
              <a:cxnLst/>
              <a:rect l="l" t="t" r="r" b="b"/>
              <a:pathLst>
                <a:path w="2697479" h="3566160">
                  <a:moveTo>
                    <a:pt x="26243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3493008"/>
                  </a:lnTo>
                  <a:lnTo>
                    <a:pt x="5750" y="3521481"/>
                  </a:lnTo>
                  <a:lnTo>
                    <a:pt x="21431" y="3544733"/>
                  </a:lnTo>
                  <a:lnTo>
                    <a:pt x="44684" y="3560411"/>
                  </a:lnTo>
                  <a:lnTo>
                    <a:pt x="73151" y="3566160"/>
                  </a:lnTo>
                  <a:lnTo>
                    <a:pt x="2624328" y="3566160"/>
                  </a:lnTo>
                  <a:lnTo>
                    <a:pt x="2652795" y="3560411"/>
                  </a:lnTo>
                  <a:lnTo>
                    <a:pt x="2676048" y="3544733"/>
                  </a:lnTo>
                  <a:lnTo>
                    <a:pt x="2691729" y="3521481"/>
                  </a:lnTo>
                  <a:lnTo>
                    <a:pt x="2697479" y="3493008"/>
                  </a:lnTo>
                  <a:lnTo>
                    <a:pt x="2697479" y="73152"/>
                  </a:lnTo>
                  <a:lnTo>
                    <a:pt x="2691729" y="44684"/>
                  </a:lnTo>
                  <a:lnTo>
                    <a:pt x="2676048" y="21431"/>
                  </a:lnTo>
                  <a:lnTo>
                    <a:pt x="2652795" y="5750"/>
                  </a:lnTo>
                  <a:lnTo>
                    <a:pt x="2624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437376" y="2240280"/>
              <a:ext cx="2697480" cy="3566160"/>
            </a:xfrm>
            <a:custGeom>
              <a:avLst/>
              <a:gdLst/>
              <a:ahLst/>
              <a:cxnLst/>
              <a:rect l="l" t="t" r="r" b="b"/>
              <a:pathLst>
                <a:path w="2697479" h="356616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624328" y="0"/>
                  </a:lnTo>
                  <a:lnTo>
                    <a:pt x="2652795" y="5750"/>
                  </a:lnTo>
                  <a:lnTo>
                    <a:pt x="2676048" y="21431"/>
                  </a:lnTo>
                  <a:lnTo>
                    <a:pt x="2691729" y="44684"/>
                  </a:lnTo>
                  <a:lnTo>
                    <a:pt x="2697479" y="73152"/>
                  </a:lnTo>
                  <a:lnTo>
                    <a:pt x="2697479" y="3493008"/>
                  </a:lnTo>
                  <a:lnTo>
                    <a:pt x="2691729" y="3521481"/>
                  </a:lnTo>
                  <a:lnTo>
                    <a:pt x="2676048" y="3544733"/>
                  </a:lnTo>
                  <a:lnTo>
                    <a:pt x="2652795" y="3560411"/>
                  </a:lnTo>
                  <a:lnTo>
                    <a:pt x="2624328" y="3566160"/>
                  </a:lnTo>
                  <a:lnTo>
                    <a:pt x="73151" y="3566160"/>
                  </a:lnTo>
                  <a:lnTo>
                    <a:pt x="44684" y="3560411"/>
                  </a:lnTo>
                  <a:lnTo>
                    <a:pt x="21431" y="3544733"/>
                  </a:lnTo>
                  <a:lnTo>
                    <a:pt x="5750" y="3521481"/>
                  </a:lnTo>
                  <a:lnTo>
                    <a:pt x="0" y="3493008"/>
                  </a:lnTo>
                  <a:lnTo>
                    <a:pt x="0" y="73152"/>
                  </a:lnTo>
                  <a:close/>
                </a:path>
              </a:pathLst>
            </a:custGeom>
            <a:ln w="12699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37376" y="2240280"/>
              <a:ext cx="2697480" cy="109855"/>
            </a:xfrm>
            <a:custGeom>
              <a:avLst/>
              <a:gdLst/>
              <a:ahLst/>
              <a:cxnLst/>
              <a:rect l="l" t="t" r="r" b="b"/>
              <a:pathLst>
                <a:path w="2697479" h="109855">
                  <a:moveTo>
                    <a:pt x="2697479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697479" y="109727"/>
                  </a:lnTo>
                  <a:lnTo>
                    <a:pt x="2697479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0044" y="3410712"/>
              <a:ext cx="1090422" cy="109042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328916" y="347472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199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399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199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66660" y="3712464"/>
              <a:ext cx="438911" cy="43891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370826" y="4515992"/>
            <a:ext cx="83121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1F3863"/>
                </a:solidFill>
                <a:latin typeface="Trebuchet MS"/>
                <a:cs typeface="Trebuchet MS"/>
              </a:rPr>
              <a:t>Update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00519" y="5099380"/>
            <a:ext cx="21704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Change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an</a:t>
            </a:r>
            <a:r>
              <a:rPr dirty="0" sz="120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existing record's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values.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88530" y="5478576"/>
            <a:ext cx="99504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2C5F2C"/>
                </a:solidFill>
                <a:latin typeface="Consolas"/>
                <a:cs typeface="Consolas"/>
              </a:rPr>
              <a:t>updateItem()</a:t>
            </a:r>
            <a:endParaRPr sz="1150">
              <a:latin typeface="Consolas"/>
              <a:cs typeface="Consola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256776" y="2170176"/>
            <a:ext cx="2886075" cy="3754754"/>
            <a:chOff x="9256776" y="2170176"/>
            <a:chExt cx="2886075" cy="3754754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56776" y="2170176"/>
              <a:ext cx="2885694" cy="375437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381744" y="2240280"/>
              <a:ext cx="2697480" cy="3566160"/>
            </a:xfrm>
            <a:custGeom>
              <a:avLst/>
              <a:gdLst/>
              <a:ahLst/>
              <a:cxnLst/>
              <a:rect l="l" t="t" r="r" b="b"/>
              <a:pathLst>
                <a:path w="2697479" h="3566160">
                  <a:moveTo>
                    <a:pt x="26243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3493008"/>
                  </a:lnTo>
                  <a:lnTo>
                    <a:pt x="5750" y="3521481"/>
                  </a:lnTo>
                  <a:lnTo>
                    <a:pt x="21431" y="3544733"/>
                  </a:lnTo>
                  <a:lnTo>
                    <a:pt x="44684" y="3560411"/>
                  </a:lnTo>
                  <a:lnTo>
                    <a:pt x="73151" y="3566160"/>
                  </a:lnTo>
                  <a:lnTo>
                    <a:pt x="2624328" y="3566160"/>
                  </a:lnTo>
                  <a:lnTo>
                    <a:pt x="2652795" y="3560411"/>
                  </a:lnTo>
                  <a:lnTo>
                    <a:pt x="2676048" y="3544733"/>
                  </a:lnTo>
                  <a:lnTo>
                    <a:pt x="2691729" y="3521481"/>
                  </a:lnTo>
                  <a:lnTo>
                    <a:pt x="2697479" y="3493008"/>
                  </a:lnTo>
                  <a:lnTo>
                    <a:pt x="2697479" y="73152"/>
                  </a:lnTo>
                  <a:lnTo>
                    <a:pt x="2691729" y="44684"/>
                  </a:lnTo>
                  <a:lnTo>
                    <a:pt x="2676048" y="21431"/>
                  </a:lnTo>
                  <a:lnTo>
                    <a:pt x="2652795" y="5750"/>
                  </a:lnTo>
                  <a:lnTo>
                    <a:pt x="2624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381744" y="2240280"/>
              <a:ext cx="2697480" cy="3566160"/>
            </a:xfrm>
            <a:custGeom>
              <a:avLst/>
              <a:gdLst/>
              <a:ahLst/>
              <a:cxnLst/>
              <a:rect l="l" t="t" r="r" b="b"/>
              <a:pathLst>
                <a:path w="2697479" h="356616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624328" y="0"/>
                  </a:lnTo>
                  <a:lnTo>
                    <a:pt x="2652795" y="5750"/>
                  </a:lnTo>
                  <a:lnTo>
                    <a:pt x="2676048" y="21431"/>
                  </a:lnTo>
                  <a:lnTo>
                    <a:pt x="2691729" y="44684"/>
                  </a:lnTo>
                  <a:lnTo>
                    <a:pt x="2697479" y="73152"/>
                  </a:lnTo>
                  <a:lnTo>
                    <a:pt x="2697479" y="3493008"/>
                  </a:lnTo>
                  <a:lnTo>
                    <a:pt x="2691729" y="3521481"/>
                  </a:lnTo>
                  <a:lnTo>
                    <a:pt x="2676048" y="3544733"/>
                  </a:lnTo>
                  <a:lnTo>
                    <a:pt x="2652795" y="3560411"/>
                  </a:lnTo>
                  <a:lnTo>
                    <a:pt x="2624328" y="3566160"/>
                  </a:lnTo>
                  <a:lnTo>
                    <a:pt x="73151" y="3566160"/>
                  </a:lnTo>
                  <a:lnTo>
                    <a:pt x="44684" y="3560411"/>
                  </a:lnTo>
                  <a:lnTo>
                    <a:pt x="21431" y="3544733"/>
                  </a:lnTo>
                  <a:lnTo>
                    <a:pt x="5750" y="3521481"/>
                  </a:lnTo>
                  <a:lnTo>
                    <a:pt x="0" y="3493008"/>
                  </a:lnTo>
                  <a:lnTo>
                    <a:pt x="0" y="73152"/>
                  </a:lnTo>
                  <a:close/>
                </a:path>
              </a:pathLst>
            </a:custGeom>
            <a:ln w="12699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9381744" y="2240280"/>
              <a:ext cx="2697480" cy="109855"/>
            </a:xfrm>
            <a:custGeom>
              <a:avLst/>
              <a:gdLst/>
              <a:ahLst/>
              <a:cxnLst/>
              <a:rect l="l" t="t" r="r" b="b"/>
              <a:pathLst>
                <a:path w="2697479" h="109855">
                  <a:moveTo>
                    <a:pt x="2697479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697479" y="109727"/>
                  </a:lnTo>
                  <a:lnTo>
                    <a:pt x="2697479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535940" y="1593850"/>
            <a:ext cx="11055350" cy="1760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Almost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every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data-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driven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app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does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these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same</a:t>
            </a:r>
            <a:r>
              <a:rPr dirty="0" sz="15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four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things.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Learn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them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once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you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can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build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notes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app,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contact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list,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to-do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list,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anything.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500">
              <a:latin typeface="Calibri"/>
              <a:cs typeface="Calibri"/>
            </a:endParaRPr>
          </a:p>
          <a:p>
            <a:pPr marL="1128395">
              <a:lnSpc>
                <a:spcPct val="100000"/>
              </a:lnSpc>
              <a:tabLst>
                <a:tab pos="4072890" algn="l"/>
                <a:tab pos="6991350" algn="l"/>
                <a:tab pos="9949815" algn="l"/>
              </a:tabLst>
            </a:pPr>
            <a:r>
              <a:rPr dirty="0" sz="6000" spc="-50" b="1">
                <a:solidFill>
                  <a:srgbClr val="ECE9DC"/>
                </a:solidFill>
                <a:latin typeface="Trebuchet MS"/>
                <a:cs typeface="Trebuchet MS"/>
              </a:rPr>
              <a:t>C</a:t>
            </a:r>
            <a:r>
              <a:rPr dirty="0" sz="6000" b="1">
                <a:solidFill>
                  <a:srgbClr val="ECE9DC"/>
                </a:solidFill>
                <a:latin typeface="Trebuchet MS"/>
                <a:cs typeface="Trebuchet MS"/>
              </a:rPr>
              <a:t>	</a:t>
            </a:r>
            <a:r>
              <a:rPr dirty="0" sz="6000" spc="-50" b="1">
                <a:solidFill>
                  <a:srgbClr val="ECE9DC"/>
                </a:solidFill>
                <a:latin typeface="Trebuchet MS"/>
                <a:cs typeface="Trebuchet MS"/>
              </a:rPr>
              <a:t>R</a:t>
            </a:r>
            <a:r>
              <a:rPr dirty="0" sz="6000" b="1">
                <a:solidFill>
                  <a:srgbClr val="ECE9DC"/>
                </a:solidFill>
                <a:latin typeface="Trebuchet MS"/>
                <a:cs typeface="Trebuchet MS"/>
              </a:rPr>
              <a:t>	</a:t>
            </a:r>
            <a:r>
              <a:rPr dirty="0" sz="6000" spc="-50" b="1">
                <a:solidFill>
                  <a:srgbClr val="ECE9DC"/>
                </a:solidFill>
                <a:latin typeface="Trebuchet MS"/>
                <a:cs typeface="Trebuchet MS"/>
              </a:rPr>
              <a:t>U</a:t>
            </a:r>
            <a:r>
              <a:rPr dirty="0" sz="6000" b="1">
                <a:solidFill>
                  <a:srgbClr val="ECE9DC"/>
                </a:solidFill>
                <a:latin typeface="Trebuchet MS"/>
                <a:cs typeface="Trebuchet MS"/>
              </a:rPr>
              <a:t>	</a:t>
            </a:r>
            <a:r>
              <a:rPr dirty="0" sz="6000" spc="-50" b="1">
                <a:solidFill>
                  <a:srgbClr val="ECE9DC"/>
                </a:solidFill>
                <a:latin typeface="Trebuchet MS"/>
                <a:cs typeface="Trebuchet MS"/>
              </a:rPr>
              <a:t>D</a:t>
            </a:r>
            <a:endParaRPr sz="6000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0154411" y="3410711"/>
            <a:ext cx="1090930" cy="1090930"/>
            <a:chOff x="10154411" y="3410711"/>
            <a:chExt cx="1090930" cy="1090930"/>
          </a:xfrm>
        </p:grpSpPr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4411" y="3410711"/>
              <a:ext cx="1090422" cy="109042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0273283" y="347471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199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399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199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11027" y="3712463"/>
              <a:ext cx="438912" cy="438912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0348976" y="4515992"/>
            <a:ext cx="76390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1F3863"/>
                </a:solidFill>
                <a:latin typeface="Trebuchet MS"/>
                <a:cs typeface="Trebuchet MS"/>
              </a:rPr>
              <a:t>Delete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8" name="object 48"/>
          <p:cNvSpPr txBox="1"/>
          <p:nvPr/>
        </p:nvSpPr>
        <p:spPr>
          <a:xfrm>
            <a:off x="9559797" y="5099380"/>
            <a:ext cx="23431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Remove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record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you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no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longer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need.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233152" y="5478576"/>
            <a:ext cx="99504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2C5F2C"/>
                </a:solidFill>
                <a:latin typeface="Consolas"/>
                <a:cs typeface="Consolas"/>
              </a:rPr>
              <a:t>deleteItem()</a:t>
            </a:r>
            <a:endParaRPr sz="1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29152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37565" algn="l"/>
                <a:tab pos="1893570" algn="l"/>
                <a:tab pos="2396490" algn="l"/>
              </a:tabLst>
            </a:pPr>
            <a:r>
              <a:rPr dirty="0" sz="1300" spc="-20" b="1">
                <a:solidFill>
                  <a:srgbClr val="C7850D"/>
                </a:solidFill>
                <a:latin typeface="Trebuchet MS"/>
                <a:cs typeface="Trebuchet MS"/>
              </a:rPr>
              <a:t>W</a:t>
            </a:r>
            <a:r>
              <a:rPr dirty="0" sz="1300" spc="-10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C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K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dirty="0" spc="-245"/>
              <a:t> </a:t>
            </a:r>
            <a:r>
              <a:rPr dirty="0" spc="-55"/>
              <a:t>Table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Just</a:t>
            </a:r>
            <a:r>
              <a:rPr dirty="0" spc="-45"/>
              <a:t> </a:t>
            </a:r>
            <a:r>
              <a:rPr dirty="0"/>
              <a:t>Rows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Columns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93850"/>
            <a:ext cx="88703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When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create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table,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decide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its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columns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what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type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of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each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one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holds.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Here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is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simple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notes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table.</a:t>
            </a:r>
            <a:endParaRPr sz="15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2290" y="2279650"/>
          <a:ext cx="6855459" cy="2146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/>
                <a:gridCol w="2468880"/>
                <a:gridCol w="3291839"/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400" spc="-25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id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35255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title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35255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description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35255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1F3863"/>
                    </a:solidFill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5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1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Shopping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Buy</a:t>
                      </a:r>
                      <a:r>
                        <a:rPr dirty="0" sz="1400" spc="-3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milk</a:t>
                      </a:r>
                      <a:r>
                        <a:rPr dirty="0" sz="1400" spc="-3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400" spc="-2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 bread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5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 spc="-1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40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Quiz</a:t>
                      </a:r>
                      <a:r>
                        <a:rPr dirty="0" sz="1400" spc="-2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1400" spc="-3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Friday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400" spc="-5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845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400" spc="-25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Gym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845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140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Leg</a:t>
                      </a:r>
                      <a:r>
                        <a:rPr dirty="0" sz="1400" spc="-25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day</a:t>
                      </a:r>
                      <a:r>
                        <a:rPr dirty="0" sz="1400" spc="-35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400" spc="-30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5">
                          <a:solidFill>
                            <a:srgbClr val="1C2B1C"/>
                          </a:solidFill>
                          <a:latin typeface="Calibri"/>
                          <a:cs typeface="Calibri"/>
                        </a:rPr>
                        <a:t>6pm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56845">
                    <a:lnL w="12700">
                      <a:solidFill>
                        <a:srgbClr val="D7D4C7"/>
                      </a:solidFill>
                      <a:prstDash val="solid"/>
                    </a:lnL>
                    <a:lnR w="12700">
                      <a:solidFill>
                        <a:srgbClr val="D7D4C7"/>
                      </a:solidFill>
                      <a:prstDash val="solid"/>
                    </a:lnR>
                    <a:lnT w="12700">
                      <a:solidFill>
                        <a:srgbClr val="D7D4C7"/>
                      </a:solidFill>
                      <a:prstDash val="solid"/>
                    </a:lnT>
                    <a:lnB w="12700">
                      <a:solidFill>
                        <a:srgbClr val="D7D4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510271" y="2215895"/>
            <a:ext cx="4166235" cy="1285875"/>
            <a:chOff x="7510271" y="2215895"/>
            <a:chExt cx="4166235" cy="12858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0271" y="2215895"/>
              <a:ext cx="4165854" cy="128549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35239" y="2285999"/>
              <a:ext cx="3977640" cy="1097280"/>
            </a:xfrm>
            <a:custGeom>
              <a:avLst/>
              <a:gdLst/>
              <a:ahLst/>
              <a:cxnLst/>
              <a:rect l="l" t="t" r="r" b="b"/>
              <a:pathLst>
                <a:path w="3977640" h="1097279">
                  <a:moveTo>
                    <a:pt x="3913631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1033272"/>
                  </a:lnTo>
                  <a:lnTo>
                    <a:pt x="5036" y="1058167"/>
                  </a:lnTo>
                  <a:lnTo>
                    <a:pt x="18764" y="1078515"/>
                  </a:lnTo>
                  <a:lnTo>
                    <a:pt x="39112" y="1092243"/>
                  </a:lnTo>
                  <a:lnTo>
                    <a:pt x="64007" y="1097279"/>
                  </a:lnTo>
                  <a:lnTo>
                    <a:pt x="3913631" y="1097279"/>
                  </a:lnTo>
                  <a:lnTo>
                    <a:pt x="3938527" y="1092243"/>
                  </a:lnTo>
                  <a:lnTo>
                    <a:pt x="3958875" y="1078515"/>
                  </a:lnTo>
                  <a:lnTo>
                    <a:pt x="3972603" y="1058167"/>
                  </a:lnTo>
                  <a:lnTo>
                    <a:pt x="3977639" y="1033272"/>
                  </a:lnTo>
                  <a:lnTo>
                    <a:pt x="3977639" y="64008"/>
                  </a:lnTo>
                  <a:lnTo>
                    <a:pt x="3972603" y="39112"/>
                  </a:lnTo>
                  <a:lnTo>
                    <a:pt x="3958875" y="18764"/>
                  </a:lnTo>
                  <a:lnTo>
                    <a:pt x="3938527" y="5036"/>
                  </a:lnTo>
                  <a:lnTo>
                    <a:pt x="3913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635239" y="2285999"/>
              <a:ext cx="3977640" cy="1097280"/>
            </a:xfrm>
            <a:custGeom>
              <a:avLst/>
              <a:gdLst/>
              <a:ahLst/>
              <a:cxnLst/>
              <a:rect l="l" t="t" r="r" b="b"/>
              <a:pathLst>
                <a:path w="3977640" h="1097279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3913631" y="0"/>
                  </a:lnTo>
                  <a:lnTo>
                    <a:pt x="3938527" y="5036"/>
                  </a:lnTo>
                  <a:lnTo>
                    <a:pt x="3958875" y="18764"/>
                  </a:lnTo>
                  <a:lnTo>
                    <a:pt x="3972603" y="39112"/>
                  </a:lnTo>
                  <a:lnTo>
                    <a:pt x="3977639" y="64008"/>
                  </a:lnTo>
                  <a:lnTo>
                    <a:pt x="3977639" y="1033272"/>
                  </a:lnTo>
                  <a:lnTo>
                    <a:pt x="3972603" y="1058167"/>
                  </a:lnTo>
                  <a:lnTo>
                    <a:pt x="3958875" y="1078515"/>
                  </a:lnTo>
                  <a:lnTo>
                    <a:pt x="3938527" y="1092243"/>
                  </a:lnTo>
                  <a:lnTo>
                    <a:pt x="3913631" y="1097279"/>
                  </a:lnTo>
                  <a:lnTo>
                    <a:pt x="64007" y="1097279"/>
                  </a:lnTo>
                  <a:lnTo>
                    <a:pt x="39112" y="1092243"/>
                  </a:lnTo>
                  <a:lnTo>
                    <a:pt x="18764" y="1078515"/>
                  </a:lnTo>
                  <a:lnTo>
                    <a:pt x="5036" y="1058167"/>
                  </a:lnTo>
                  <a:lnTo>
                    <a:pt x="0" y="1033272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35239" y="2285999"/>
              <a:ext cx="91440" cy="1097280"/>
            </a:xfrm>
            <a:custGeom>
              <a:avLst/>
              <a:gdLst/>
              <a:ahLst/>
              <a:cxnLst/>
              <a:rect l="l" t="t" r="r" b="b"/>
              <a:pathLst>
                <a:path w="91440" h="1097279">
                  <a:moveTo>
                    <a:pt x="91440" y="0"/>
                  </a:moveTo>
                  <a:lnTo>
                    <a:pt x="0" y="0"/>
                  </a:lnTo>
                  <a:lnTo>
                    <a:pt x="0" y="1097279"/>
                  </a:lnTo>
                  <a:lnTo>
                    <a:pt x="91440" y="1097279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852029" y="2467483"/>
            <a:ext cx="3043555" cy="718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C5F2C"/>
                </a:solidFill>
                <a:latin typeface="Consolas"/>
                <a:cs typeface="Consolas"/>
              </a:rPr>
              <a:t>id</a:t>
            </a:r>
            <a:r>
              <a:rPr dirty="0" sz="1500" spc="-5" b="1">
                <a:solidFill>
                  <a:srgbClr val="2C5F2C"/>
                </a:solidFill>
                <a:latin typeface="Consolas"/>
                <a:cs typeface="Consolas"/>
              </a:rPr>
              <a:t>  </a:t>
            </a:r>
            <a:r>
              <a:rPr dirty="0" sz="1500" spc="-10" b="1">
                <a:solidFill>
                  <a:srgbClr val="C7850D"/>
                </a:solidFill>
                <a:latin typeface="Consolas"/>
                <a:cs typeface="Consolas"/>
              </a:rPr>
              <a:t>INTEGER</a:t>
            </a:r>
            <a:endParaRPr sz="15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Whole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number.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SQLite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fills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for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us,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1,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2,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3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...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10271" y="3450335"/>
            <a:ext cx="4166235" cy="1285875"/>
            <a:chOff x="7510271" y="3450335"/>
            <a:chExt cx="4166235" cy="128587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0271" y="3450335"/>
              <a:ext cx="4165854" cy="128549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635239" y="3520439"/>
              <a:ext cx="3977640" cy="1097280"/>
            </a:xfrm>
            <a:custGeom>
              <a:avLst/>
              <a:gdLst/>
              <a:ahLst/>
              <a:cxnLst/>
              <a:rect l="l" t="t" r="r" b="b"/>
              <a:pathLst>
                <a:path w="3977640" h="1097279">
                  <a:moveTo>
                    <a:pt x="3913631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1033272"/>
                  </a:lnTo>
                  <a:lnTo>
                    <a:pt x="5036" y="1058167"/>
                  </a:lnTo>
                  <a:lnTo>
                    <a:pt x="18764" y="1078515"/>
                  </a:lnTo>
                  <a:lnTo>
                    <a:pt x="39112" y="1092243"/>
                  </a:lnTo>
                  <a:lnTo>
                    <a:pt x="64007" y="1097280"/>
                  </a:lnTo>
                  <a:lnTo>
                    <a:pt x="3913631" y="1097280"/>
                  </a:lnTo>
                  <a:lnTo>
                    <a:pt x="3938527" y="1092243"/>
                  </a:lnTo>
                  <a:lnTo>
                    <a:pt x="3958875" y="1078515"/>
                  </a:lnTo>
                  <a:lnTo>
                    <a:pt x="3972603" y="1058167"/>
                  </a:lnTo>
                  <a:lnTo>
                    <a:pt x="3977639" y="1033272"/>
                  </a:lnTo>
                  <a:lnTo>
                    <a:pt x="3977639" y="64008"/>
                  </a:lnTo>
                  <a:lnTo>
                    <a:pt x="3972603" y="39112"/>
                  </a:lnTo>
                  <a:lnTo>
                    <a:pt x="3958875" y="18764"/>
                  </a:lnTo>
                  <a:lnTo>
                    <a:pt x="3938527" y="5036"/>
                  </a:lnTo>
                  <a:lnTo>
                    <a:pt x="3913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635239" y="3520439"/>
              <a:ext cx="3977640" cy="1097280"/>
            </a:xfrm>
            <a:custGeom>
              <a:avLst/>
              <a:gdLst/>
              <a:ahLst/>
              <a:cxnLst/>
              <a:rect l="l" t="t" r="r" b="b"/>
              <a:pathLst>
                <a:path w="3977640" h="1097279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3913631" y="0"/>
                  </a:lnTo>
                  <a:lnTo>
                    <a:pt x="3938527" y="5036"/>
                  </a:lnTo>
                  <a:lnTo>
                    <a:pt x="3958875" y="18764"/>
                  </a:lnTo>
                  <a:lnTo>
                    <a:pt x="3972603" y="39112"/>
                  </a:lnTo>
                  <a:lnTo>
                    <a:pt x="3977639" y="64008"/>
                  </a:lnTo>
                  <a:lnTo>
                    <a:pt x="3977639" y="1033272"/>
                  </a:lnTo>
                  <a:lnTo>
                    <a:pt x="3972603" y="1058167"/>
                  </a:lnTo>
                  <a:lnTo>
                    <a:pt x="3958875" y="1078515"/>
                  </a:lnTo>
                  <a:lnTo>
                    <a:pt x="3938527" y="1092243"/>
                  </a:lnTo>
                  <a:lnTo>
                    <a:pt x="3913631" y="1097280"/>
                  </a:lnTo>
                  <a:lnTo>
                    <a:pt x="64007" y="1097280"/>
                  </a:lnTo>
                  <a:lnTo>
                    <a:pt x="39112" y="1092243"/>
                  </a:lnTo>
                  <a:lnTo>
                    <a:pt x="18764" y="1078515"/>
                  </a:lnTo>
                  <a:lnTo>
                    <a:pt x="5036" y="1058167"/>
                  </a:lnTo>
                  <a:lnTo>
                    <a:pt x="0" y="1033272"/>
                  </a:lnTo>
                  <a:lnTo>
                    <a:pt x="0" y="64008"/>
                  </a:lnTo>
                  <a:close/>
                </a:path>
              </a:pathLst>
            </a:custGeom>
            <a:ln w="12699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35239" y="3520439"/>
              <a:ext cx="91440" cy="1097280"/>
            </a:xfrm>
            <a:custGeom>
              <a:avLst/>
              <a:gdLst/>
              <a:ahLst/>
              <a:cxnLst/>
              <a:rect l="l" t="t" r="r" b="b"/>
              <a:pathLst>
                <a:path w="91440" h="1097279">
                  <a:moveTo>
                    <a:pt x="914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91440" y="10972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852029" y="3702177"/>
            <a:ext cx="2532380" cy="718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C5F2C"/>
                </a:solidFill>
                <a:latin typeface="Consolas"/>
                <a:cs typeface="Consolas"/>
              </a:rPr>
              <a:t>title</a:t>
            </a:r>
            <a:r>
              <a:rPr dirty="0" sz="1500" spc="-25" b="1">
                <a:solidFill>
                  <a:srgbClr val="2C5F2C"/>
                </a:solidFill>
                <a:latin typeface="Consolas"/>
                <a:cs typeface="Consolas"/>
              </a:rPr>
              <a:t>  </a:t>
            </a:r>
            <a:r>
              <a:rPr dirty="0" sz="1500" spc="-20" b="1">
                <a:solidFill>
                  <a:srgbClr val="C7850D"/>
                </a:solidFill>
                <a:latin typeface="Consolas"/>
                <a:cs typeface="Consolas"/>
              </a:rPr>
              <a:t>TEXT</a:t>
            </a:r>
            <a:endParaRPr sz="15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25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short</a:t>
            </a:r>
            <a:r>
              <a:rPr dirty="0" sz="12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heading,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like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Shopping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or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Gym.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510271" y="4684763"/>
            <a:ext cx="4166235" cy="1285875"/>
            <a:chOff x="7510271" y="4684763"/>
            <a:chExt cx="4166235" cy="12858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0271" y="4684763"/>
              <a:ext cx="4165854" cy="128549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635239" y="4754879"/>
              <a:ext cx="3977640" cy="1097280"/>
            </a:xfrm>
            <a:custGeom>
              <a:avLst/>
              <a:gdLst/>
              <a:ahLst/>
              <a:cxnLst/>
              <a:rect l="l" t="t" r="r" b="b"/>
              <a:pathLst>
                <a:path w="3977640" h="1097279">
                  <a:moveTo>
                    <a:pt x="3913631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1033272"/>
                  </a:lnTo>
                  <a:lnTo>
                    <a:pt x="5036" y="1058189"/>
                  </a:lnTo>
                  <a:lnTo>
                    <a:pt x="18764" y="1078534"/>
                  </a:lnTo>
                  <a:lnTo>
                    <a:pt x="39112" y="1092250"/>
                  </a:lnTo>
                  <a:lnTo>
                    <a:pt x="64007" y="1097280"/>
                  </a:lnTo>
                  <a:lnTo>
                    <a:pt x="3913631" y="1097280"/>
                  </a:lnTo>
                  <a:lnTo>
                    <a:pt x="3938527" y="1092250"/>
                  </a:lnTo>
                  <a:lnTo>
                    <a:pt x="3958875" y="1078534"/>
                  </a:lnTo>
                  <a:lnTo>
                    <a:pt x="3972603" y="1058189"/>
                  </a:lnTo>
                  <a:lnTo>
                    <a:pt x="3977639" y="1033272"/>
                  </a:lnTo>
                  <a:lnTo>
                    <a:pt x="3977639" y="64008"/>
                  </a:lnTo>
                  <a:lnTo>
                    <a:pt x="3972603" y="39112"/>
                  </a:lnTo>
                  <a:lnTo>
                    <a:pt x="3958875" y="18764"/>
                  </a:lnTo>
                  <a:lnTo>
                    <a:pt x="3938527" y="5036"/>
                  </a:lnTo>
                  <a:lnTo>
                    <a:pt x="39136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635239" y="4754879"/>
              <a:ext cx="3977640" cy="1097280"/>
            </a:xfrm>
            <a:custGeom>
              <a:avLst/>
              <a:gdLst/>
              <a:ahLst/>
              <a:cxnLst/>
              <a:rect l="l" t="t" r="r" b="b"/>
              <a:pathLst>
                <a:path w="3977640" h="1097279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3913631" y="0"/>
                  </a:lnTo>
                  <a:lnTo>
                    <a:pt x="3938527" y="5036"/>
                  </a:lnTo>
                  <a:lnTo>
                    <a:pt x="3958875" y="18764"/>
                  </a:lnTo>
                  <a:lnTo>
                    <a:pt x="3972603" y="39112"/>
                  </a:lnTo>
                  <a:lnTo>
                    <a:pt x="3977639" y="64008"/>
                  </a:lnTo>
                  <a:lnTo>
                    <a:pt x="3977639" y="1033272"/>
                  </a:lnTo>
                  <a:lnTo>
                    <a:pt x="3972603" y="1058189"/>
                  </a:lnTo>
                  <a:lnTo>
                    <a:pt x="3958875" y="1078534"/>
                  </a:lnTo>
                  <a:lnTo>
                    <a:pt x="3938527" y="1092250"/>
                  </a:lnTo>
                  <a:lnTo>
                    <a:pt x="3913631" y="1097280"/>
                  </a:lnTo>
                  <a:lnTo>
                    <a:pt x="64007" y="1097280"/>
                  </a:lnTo>
                  <a:lnTo>
                    <a:pt x="39112" y="1092250"/>
                  </a:lnTo>
                  <a:lnTo>
                    <a:pt x="18764" y="1078534"/>
                  </a:lnTo>
                  <a:lnTo>
                    <a:pt x="5036" y="1058189"/>
                  </a:lnTo>
                  <a:lnTo>
                    <a:pt x="0" y="1033272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635239" y="4754879"/>
              <a:ext cx="91440" cy="1097280"/>
            </a:xfrm>
            <a:custGeom>
              <a:avLst/>
              <a:gdLst/>
              <a:ahLst/>
              <a:cxnLst/>
              <a:rect l="l" t="t" r="r" b="b"/>
              <a:pathLst>
                <a:path w="91440" h="1097279">
                  <a:moveTo>
                    <a:pt x="91440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91440" y="10972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852029" y="4936617"/>
            <a:ext cx="1807210" cy="718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C5F2C"/>
                </a:solidFill>
                <a:latin typeface="Consolas"/>
                <a:cs typeface="Consolas"/>
              </a:rPr>
              <a:t>description</a:t>
            </a:r>
            <a:r>
              <a:rPr dirty="0" sz="1500" spc="-55" b="1">
                <a:solidFill>
                  <a:srgbClr val="2C5F2C"/>
                </a:solidFill>
                <a:latin typeface="Consolas"/>
                <a:cs typeface="Consolas"/>
              </a:rPr>
              <a:t>  </a:t>
            </a:r>
            <a:r>
              <a:rPr dirty="0" sz="1500" spc="-20" b="1">
                <a:solidFill>
                  <a:srgbClr val="C7850D"/>
                </a:solidFill>
                <a:latin typeface="Consolas"/>
                <a:cs typeface="Consolas"/>
              </a:rPr>
              <a:t>TEXT</a:t>
            </a:r>
            <a:endParaRPr sz="15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note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details</a:t>
            </a:r>
            <a:r>
              <a:rPr dirty="0" sz="12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words.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33274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27150" algn="l"/>
                <a:tab pos="2232660" algn="l"/>
                <a:tab pos="2532380" algn="l"/>
              </a:tabLst>
            </a:pP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1</a:t>
            </a:r>
            <a:r>
              <a:rPr dirty="0" sz="1300" spc="9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F</a:t>
            </a:r>
            <a:r>
              <a:rPr dirty="0" sz="1300" spc="9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4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•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C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Create:</a:t>
            </a:r>
            <a:r>
              <a:rPr dirty="0" spc="-210"/>
              <a:t> </a:t>
            </a:r>
            <a:r>
              <a:rPr dirty="0"/>
              <a:t>Add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New</a:t>
            </a:r>
            <a:r>
              <a:rPr dirty="0" spc="-35"/>
              <a:t> </a:t>
            </a:r>
            <a:r>
              <a:rPr dirty="0" spc="-10"/>
              <a:t>Record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508760"/>
            <a:ext cx="1325880" cy="384175"/>
          </a:xfrm>
          <a:custGeom>
            <a:avLst/>
            <a:gdLst/>
            <a:ahLst/>
            <a:cxnLst/>
            <a:rect l="l" t="t" r="r" b="b"/>
            <a:pathLst>
              <a:path w="1325880" h="384175">
                <a:moveTo>
                  <a:pt x="1234440" y="0"/>
                </a:moveTo>
                <a:lnTo>
                  <a:pt x="91439" y="0"/>
                </a:lnTo>
                <a:lnTo>
                  <a:pt x="55849" y="7179"/>
                </a:lnTo>
                <a:lnTo>
                  <a:pt x="26784" y="26765"/>
                </a:lnTo>
                <a:lnTo>
                  <a:pt x="7186" y="55828"/>
                </a:lnTo>
                <a:lnTo>
                  <a:pt x="0" y="91439"/>
                </a:lnTo>
                <a:lnTo>
                  <a:pt x="0" y="292607"/>
                </a:lnTo>
                <a:lnTo>
                  <a:pt x="7186" y="328219"/>
                </a:lnTo>
                <a:lnTo>
                  <a:pt x="26784" y="357282"/>
                </a:lnTo>
                <a:lnTo>
                  <a:pt x="55849" y="376868"/>
                </a:lnTo>
                <a:lnTo>
                  <a:pt x="91439" y="384048"/>
                </a:lnTo>
                <a:lnTo>
                  <a:pt x="1234440" y="384048"/>
                </a:lnTo>
                <a:lnTo>
                  <a:pt x="1270051" y="376868"/>
                </a:lnTo>
                <a:lnTo>
                  <a:pt x="1299114" y="357282"/>
                </a:lnTo>
                <a:lnTo>
                  <a:pt x="1318700" y="328219"/>
                </a:lnTo>
                <a:lnTo>
                  <a:pt x="1325880" y="292607"/>
                </a:lnTo>
                <a:lnTo>
                  <a:pt x="1325880" y="91439"/>
                </a:lnTo>
                <a:lnTo>
                  <a:pt x="1318700" y="55828"/>
                </a:lnTo>
                <a:lnTo>
                  <a:pt x="1299114" y="26765"/>
                </a:lnTo>
                <a:lnTo>
                  <a:pt x="1270051" y="7179"/>
                </a:lnTo>
                <a:lnTo>
                  <a:pt x="1234440" y="0"/>
                </a:lnTo>
                <a:close/>
              </a:path>
            </a:pathLst>
          </a:custGeom>
          <a:solidFill>
            <a:srgbClr val="2C5F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6076" y="1587753"/>
            <a:ext cx="9645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685" algn="l"/>
              </a:tabLst>
            </a:pP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2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20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2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9233" y="1578609"/>
            <a:ext cx="54406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4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pass</a:t>
            </a:r>
            <a:r>
              <a:rPr dirty="0" sz="14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title</a:t>
            </a:r>
            <a:r>
              <a:rPr dirty="0" sz="14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description,</a:t>
            </a:r>
            <a:r>
              <a:rPr dirty="0" sz="14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then</a:t>
            </a:r>
            <a:r>
              <a:rPr dirty="0" sz="14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insert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them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as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new</a:t>
            </a:r>
            <a:r>
              <a:rPr dirty="0" sz="14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row</a:t>
            </a:r>
            <a:r>
              <a:rPr dirty="0" sz="14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table.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9768" y="2084818"/>
            <a:ext cx="6120130" cy="4017010"/>
            <a:chOff x="429768" y="2084818"/>
            <a:chExt cx="6120130" cy="40170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2084818"/>
              <a:ext cx="6119621" cy="40165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639" y="2148840"/>
              <a:ext cx="5943600" cy="3840479"/>
            </a:xfrm>
            <a:custGeom>
              <a:avLst/>
              <a:gdLst/>
              <a:ahLst/>
              <a:cxnLst/>
              <a:rect l="l" t="t" r="r" b="b"/>
              <a:pathLst>
                <a:path w="5943600" h="3840479">
                  <a:moveTo>
                    <a:pt x="5888736" y="0"/>
                  </a:moveTo>
                  <a:lnTo>
                    <a:pt x="54876" y="0"/>
                  </a:lnTo>
                  <a:lnTo>
                    <a:pt x="33518" y="4304"/>
                  </a:lnTo>
                  <a:lnTo>
                    <a:pt x="16075" y="16049"/>
                  </a:lnTo>
                  <a:lnTo>
                    <a:pt x="4313" y="33486"/>
                  </a:lnTo>
                  <a:lnTo>
                    <a:pt x="0" y="54863"/>
                  </a:lnTo>
                  <a:lnTo>
                    <a:pt x="0" y="3785603"/>
                  </a:lnTo>
                  <a:lnTo>
                    <a:pt x="4313" y="3806961"/>
                  </a:lnTo>
                  <a:lnTo>
                    <a:pt x="16075" y="3824404"/>
                  </a:lnTo>
                  <a:lnTo>
                    <a:pt x="33518" y="3836166"/>
                  </a:lnTo>
                  <a:lnTo>
                    <a:pt x="54876" y="3840479"/>
                  </a:lnTo>
                  <a:lnTo>
                    <a:pt x="5888736" y="3840479"/>
                  </a:lnTo>
                  <a:lnTo>
                    <a:pt x="5910113" y="3836166"/>
                  </a:lnTo>
                  <a:lnTo>
                    <a:pt x="5927550" y="3824404"/>
                  </a:lnTo>
                  <a:lnTo>
                    <a:pt x="5939295" y="3806961"/>
                  </a:lnTo>
                  <a:lnTo>
                    <a:pt x="5943600" y="3785603"/>
                  </a:lnTo>
                  <a:lnTo>
                    <a:pt x="5943600" y="54863"/>
                  </a:lnTo>
                  <a:lnTo>
                    <a:pt x="5939295" y="33486"/>
                  </a:lnTo>
                  <a:lnTo>
                    <a:pt x="5927550" y="16049"/>
                  </a:lnTo>
                  <a:lnTo>
                    <a:pt x="5910113" y="4304"/>
                  </a:lnTo>
                  <a:lnTo>
                    <a:pt x="5888736" y="0"/>
                  </a:lnTo>
                  <a:close/>
                </a:path>
              </a:pathLst>
            </a:custGeom>
            <a:solidFill>
              <a:srgbClr val="1E1E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00531" y="2237358"/>
            <a:ext cx="3964304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static</a:t>
            </a:r>
            <a:r>
              <a:rPr dirty="0" sz="1250" spc="-7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Future&lt;int&gt;</a:t>
            </a:r>
            <a:r>
              <a:rPr dirty="0" sz="1250" spc="-6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createItem(</a:t>
            </a:r>
            <a:endParaRPr sz="1250">
              <a:latin typeface="Consolas"/>
              <a:cs typeface="Consolas"/>
            </a:endParaRPr>
          </a:p>
          <a:p>
            <a:pPr marL="186055" marR="5080" indent="173355">
              <a:lnSpc>
                <a:spcPct val="100000"/>
              </a:lnSpc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String</a:t>
            </a:r>
            <a:r>
              <a:rPr dirty="0" sz="1250" spc="-3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title,</a:t>
            </a:r>
            <a:r>
              <a:rPr dirty="0" sz="125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String</a:t>
            </a:r>
            <a:r>
              <a:rPr dirty="0" sz="125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description)</a:t>
            </a:r>
            <a:r>
              <a:rPr dirty="0" sz="1250" spc="-3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async</a:t>
            </a:r>
            <a:r>
              <a:rPr dirty="0" sz="1250" spc="-3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50">
                <a:solidFill>
                  <a:srgbClr val="D6DFD6"/>
                </a:solidFill>
                <a:latin typeface="Consolas"/>
                <a:cs typeface="Consolas"/>
              </a:rPr>
              <a:t>{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final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db</a:t>
            </a:r>
            <a:r>
              <a:rPr dirty="0" sz="1250" spc="-3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=</a:t>
            </a:r>
            <a:r>
              <a:rPr dirty="0" sz="125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await</a:t>
            </a:r>
            <a:r>
              <a:rPr dirty="0" sz="1250" spc="-3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DatabaseService.db();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4267" y="2999358"/>
            <a:ext cx="2564765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055" marR="1055370" indent="-17399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final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data</a:t>
            </a:r>
            <a:r>
              <a:rPr dirty="0" sz="125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=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50">
                <a:solidFill>
                  <a:srgbClr val="D6DFD6"/>
                </a:solidFill>
                <a:latin typeface="Consolas"/>
                <a:cs typeface="Consolas"/>
              </a:rPr>
              <a:t>{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'title':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title,</a:t>
            </a:r>
            <a:endParaRPr sz="1250">
              <a:latin typeface="Consolas"/>
              <a:cs typeface="Consolas"/>
            </a:endParaRPr>
          </a:p>
          <a:p>
            <a:pPr marL="186055">
              <a:lnSpc>
                <a:spcPct val="100000"/>
              </a:lnSpc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'description':</a:t>
            </a:r>
            <a:r>
              <a:rPr dirty="0" sz="1250" spc="-5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description,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};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4267" y="3952113"/>
            <a:ext cx="2381250" cy="977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055" marR="5080" indent="-17399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final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id</a:t>
            </a:r>
            <a:r>
              <a:rPr dirty="0" sz="1250" spc="-3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=</a:t>
            </a:r>
            <a:r>
              <a:rPr dirty="0" sz="125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await</a:t>
            </a:r>
            <a:r>
              <a:rPr dirty="0" sz="1250" spc="-3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db.insert( 'items',</a:t>
            </a:r>
            <a:endParaRPr sz="1250">
              <a:latin typeface="Consolas"/>
              <a:cs typeface="Consolas"/>
            </a:endParaRPr>
          </a:p>
          <a:p>
            <a:pPr marL="186055">
              <a:lnSpc>
                <a:spcPct val="100000"/>
              </a:lnSpc>
            </a:pP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data,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);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return</a:t>
            </a:r>
            <a:r>
              <a:rPr dirty="0" sz="1250" spc="-4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id;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0531" y="4904613"/>
            <a:ext cx="11303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50">
                <a:solidFill>
                  <a:srgbClr val="D6DFD6"/>
                </a:solidFill>
                <a:latin typeface="Consolas"/>
                <a:cs typeface="Consolas"/>
              </a:rPr>
              <a:t>}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93407" y="2176310"/>
            <a:ext cx="725170" cy="725170"/>
            <a:chOff x="6693407" y="2176310"/>
            <a:chExt cx="725170" cy="72517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2176310"/>
              <a:ext cx="724623" cy="7246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12279" y="224028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2382951"/>
              <a:ext cx="263347" cy="26334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486268" y="2280666"/>
            <a:ext cx="164211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Open</a:t>
            </a:r>
            <a:r>
              <a:rPr dirty="0" sz="1450" spc="-3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the</a:t>
            </a:r>
            <a:r>
              <a:rPr dirty="0" sz="1450" spc="-3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1F3863"/>
                </a:solidFill>
                <a:latin typeface="Trebuchet MS"/>
                <a:cs typeface="Trebuchet MS"/>
              </a:rPr>
              <a:t>database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86268" y="2795142"/>
            <a:ext cx="2636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await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db()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gets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ready-to-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use</a:t>
            </a:r>
            <a:r>
              <a:rPr dirty="0" sz="12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connection.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93407" y="3255302"/>
            <a:ext cx="725170" cy="725170"/>
            <a:chOff x="6693407" y="3255302"/>
            <a:chExt cx="725170" cy="72517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3255302"/>
              <a:ext cx="724623" cy="72462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12279" y="331927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3461943"/>
              <a:ext cx="263347" cy="26334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486268" y="3359911"/>
            <a:ext cx="144399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Build</a:t>
            </a:r>
            <a:r>
              <a:rPr dirty="0" sz="1450" spc="-1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a</a:t>
            </a:r>
            <a:r>
              <a:rPr dirty="0" sz="14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data</a:t>
            </a:r>
            <a:r>
              <a:rPr dirty="0" sz="14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Map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86268" y="3874389"/>
            <a:ext cx="26035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Pairs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column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names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with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their</a:t>
            </a:r>
            <a:r>
              <a:rPr dirty="0" sz="12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values.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693407" y="4334293"/>
            <a:ext cx="725170" cy="725170"/>
            <a:chOff x="6693407" y="4334293"/>
            <a:chExt cx="725170" cy="72517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4334293"/>
              <a:ext cx="724623" cy="72462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812279" y="4398263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4540935"/>
              <a:ext cx="263347" cy="26334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486268" y="4439158"/>
            <a:ext cx="125095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Insert</a:t>
            </a:r>
            <a:r>
              <a:rPr dirty="0" sz="145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the</a:t>
            </a:r>
            <a:r>
              <a:rPr dirty="0" sz="1450" spc="-1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row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7486268" y="4953380"/>
            <a:ext cx="25012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db.insert</a:t>
            </a:r>
            <a:r>
              <a:rPr dirty="0" sz="12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adds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returns</a:t>
            </a:r>
            <a:r>
              <a:rPr dirty="0" sz="12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new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id.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30626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27150" algn="l"/>
                <a:tab pos="2232660" algn="l"/>
                <a:tab pos="2532380" algn="l"/>
              </a:tabLst>
            </a:pP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2</a:t>
            </a:r>
            <a:r>
              <a:rPr dirty="0" sz="1300" spc="9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F</a:t>
            </a:r>
            <a:r>
              <a:rPr dirty="0" sz="1300" spc="9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4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•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Read:</a:t>
            </a:r>
            <a:r>
              <a:rPr dirty="0" spc="-50"/>
              <a:t> </a:t>
            </a:r>
            <a:r>
              <a:rPr dirty="0"/>
              <a:t>Get</a:t>
            </a:r>
            <a:r>
              <a:rPr dirty="0" spc="-210"/>
              <a:t> </a:t>
            </a:r>
            <a:r>
              <a:rPr dirty="0"/>
              <a:t>All</a:t>
            </a:r>
            <a:r>
              <a:rPr dirty="0" spc="-40"/>
              <a:t> </a:t>
            </a:r>
            <a:r>
              <a:rPr dirty="0" spc="-10"/>
              <a:t>Records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508760"/>
            <a:ext cx="1325880" cy="384175"/>
          </a:xfrm>
          <a:custGeom>
            <a:avLst/>
            <a:gdLst/>
            <a:ahLst/>
            <a:cxnLst/>
            <a:rect l="l" t="t" r="r" b="b"/>
            <a:pathLst>
              <a:path w="1325880" h="384175">
                <a:moveTo>
                  <a:pt x="1234440" y="0"/>
                </a:moveTo>
                <a:lnTo>
                  <a:pt x="91439" y="0"/>
                </a:lnTo>
                <a:lnTo>
                  <a:pt x="55849" y="7179"/>
                </a:lnTo>
                <a:lnTo>
                  <a:pt x="26784" y="26765"/>
                </a:lnTo>
                <a:lnTo>
                  <a:pt x="7186" y="55828"/>
                </a:lnTo>
                <a:lnTo>
                  <a:pt x="0" y="91439"/>
                </a:lnTo>
                <a:lnTo>
                  <a:pt x="0" y="292607"/>
                </a:lnTo>
                <a:lnTo>
                  <a:pt x="7186" y="328219"/>
                </a:lnTo>
                <a:lnTo>
                  <a:pt x="26784" y="357282"/>
                </a:lnTo>
                <a:lnTo>
                  <a:pt x="55849" y="376868"/>
                </a:lnTo>
                <a:lnTo>
                  <a:pt x="91439" y="384048"/>
                </a:lnTo>
                <a:lnTo>
                  <a:pt x="1234440" y="384048"/>
                </a:lnTo>
                <a:lnTo>
                  <a:pt x="1270051" y="376868"/>
                </a:lnTo>
                <a:lnTo>
                  <a:pt x="1299114" y="357282"/>
                </a:lnTo>
                <a:lnTo>
                  <a:pt x="1318700" y="328219"/>
                </a:lnTo>
                <a:lnTo>
                  <a:pt x="1325880" y="292607"/>
                </a:lnTo>
                <a:lnTo>
                  <a:pt x="1325880" y="91439"/>
                </a:lnTo>
                <a:lnTo>
                  <a:pt x="1318700" y="55828"/>
                </a:lnTo>
                <a:lnTo>
                  <a:pt x="1299114" y="26765"/>
                </a:lnTo>
                <a:lnTo>
                  <a:pt x="1270051" y="7179"/>
                </a:lnTo>
                <a:lnTo>
                  <a:pt x="1234440" y="0"/>
                </a:lnTo>
                <a:close/>
              </a:path>
            </a:pathLst>
          </a:custGeom>
          <a:solidFill>
            <a:srgbClr val="3D7B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28852" y="1587753"/>
            <a:ext cx="7385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685" algn="l"/>
              </a:tabLst>
            </a:pP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20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9233" y="1578609"/>
            <a:ext cx="47999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4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pull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every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row</a:t>
            </a:r>
            <a:r>
              <a:rPr dirty="0" sz="14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out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of</a:t>
            </a:r>
            <a:r>
              <a:rPr dirty="0" sz="14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table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so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screen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can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display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them.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9768" y="2084818"/>
            <a:ext cx="6120130" cy="4017010"/>
            <a:chOff x="429768" y="2084818"/>
            <a:chExt cx="6120130" cy="40170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2084818"/>
              <a:ext cx="6119621" cy="40165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639" y="2148840"/>
              <a:ext cx="5943600" cy="3840479"/>
            </a:xfrm>
            <a:custGeom>
              <a:avLst/>
              <a:gdLst/>
              <a:ahLst/>
              <a:cxnLst/>
              <a:rect l="l" t="t" r="r" b="b"/>
              <a:pathLst>
                <a:path w="5943600" h="3840479">
                  <a:moveTo>
                    <a:pt x="5888736" y="0"/>
                  </a:moveTo>
                  <a:lnTo>
                    <a:pt x="54876" y="0"/>
                  </a:lnTo>
                  <a:lnTo>
                    <a:pt x="33518" y="4304"/>
                  </a:lnTo>
                  <a:lnTo>
                    <a:pt x="16075" y="16049"/>
                  </a:lnTo>
                  <a:lnTo>
                    <a:pt x="4313" y="33486"/>
                  </a:lnTo>
                  <a:lnTo>
                    <a:pt x="0" y="54863"/>
                  </a:lnTo>
                  <a:lnTo>
                    <a:pt x="0" y="3785603"/>
                  </a:lnTo>
                  <a:lnTo>
                    <a:pt x="4313" y="3806961"/>
                  </a:lnTo>
                  <a:lnTo>
                    <a:pt x="16075" y="3824404"/>
                  </a:lnTo>
                  <a:lnTo>
                    <a:pt x="33518" y="3836166"/>
                  </a:lnTo>
                  <a:lnTo>
                    <a:pt x="54876" y="3840479"/>
                  </a:lnTo>
                  <a:lnTo>
                    <a:pt x="5888736" y="3840479"/>
                  </a:lnTo>
                  <a:lnTo>
                    <a:pt x="5910113" y="3836166"/>
                  </a:lnTo>
                  <a:lnTo>
                    <a:pt x="5927550" y="3824404"/>
                  </a:lnTo>
                  <a:lnTo>
                    <a:pt x="5939295" y="3806961"/>
                  </a:lnTo>
                  <a:lnTo>
                    <a:pt x="5943600" y="3785603"/>
                  </a:lnTo>
                  <a:lnTo>
                    <a:pt x="5943600" y="54863"/>
                  </a:lnTo>
                  <a:lnTo>
                    <a:pt x="5939295" y="33486"/>
                  </a:lnTo>
                  <a:lnTo>
                    <a:pt x="5927550" y="16049"/>
                  </a:lnTo>
                  <a:lnTo>
                    <a:pt x="5910113" y="4304"/>
                  </a:lnTo>
                  <a:lnTo>
                    <a:pt x="5888736" y="0"/>
                  </a:lnTo>
                  <a:close/>
                </a:path>
              </a:pathLst>
            </a:custGeom>
            <a:solidFill>
              <a:srgbClr val="1E1E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00531" y="2234310"/>
            <a:ext cx="3865245" cy="643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7350" marR="5080" indent="-375285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static</a:t>
            </a:r>
            <a:r>
              <a:rPr dirty="0" sz="1350" spc="-5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Future&lt;List&lt;Map&lt;String,</a:t>
            </a:r>
            <a:r>
              <a:rPr dirty="0" sz="1350" spc="-5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 spc="-10">
                <a:solidFill>
                  <a:srgbClr val="D6DFD6"/>
                </a:solidFill>
                <a:latin typeface="Consolas"/>
                <a:cs typeface="Consolas"/>
              </a:rPr>
              <a:t>dynamic&gt;&gt;&gt; </a:t>
            </a: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getItems()</a:t>
            </a:r>
            <a:r>
              <a:rPr dirty="0" sz="1350" spc="-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async</a:t>
            </a:r>
            <a:r>
              <a:rPr dirty="0" sz="1350" spc="-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 spc="-50">
                <a:solidFill>
                  <a:srgbClr val="D6DFD6"/>
                </a:solidFill>
                <a:latin typeface="Consolas"/>
                <a:cs typeface="Consolas"/>
              </a:rPr>
              <a:t>{</a:t>
            </a:r>
            <a:endParaRPr sz="1350">
              <a:latin typeface="Consolas"/>
              <a:cs typeface="Consolas"/>
            </a:endParaRPr>
          </a:p>
          <a:p>
            <a:pPr marL="200025">
              <a:lnSpc>
                <a:spcPct val="100000"/>
              </a:lnSpc>
            </a:pP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final</a:t>
            </a:r>
            <a:r>
              <a:rPr dirty="0" sz="1350" spc="-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db</a:t>
            </a:r>
            <a:r>
              <a:rPr dirty="0" sz="13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=</a:t>
            </a:r>
            <a:r>
              <a:rPr dirty="0" sz="1350" spc="-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await</a:t>
            </a:r>
            <a:r>
              <a:rPr dirty="0" sz="1350" spc="-10">
                <a:solidFill>
                  <a:srgbClr val="D6DFD6"/>
                </a:solidFill>
                <a:latin typeface="Consolas"/>
                <a:cs typeface="Consolas"/>
              </a:rPr>
              <a:t> DatabaseService.db();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7983" y="3057271"/>
            <a:ext cx="1529715" cy="849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0025" marR="9525" indent="-18796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return</a:t>
            </a:r>
            <a:r>
              <a:rPr dirty="0" sz="135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 spc="-10">
                <a:solidFill>
                  <a:srgbClr val="D6DFD6"/>
                </a:solidFill>
                <a:latin typeface="Consolas"/>
                <a:cs typeface="Consolas"/>
              </a:rPr>
              <a:t>db.query( 'items',</a:t>
            </a:r>
            <a:endParaRPr sz="1350">
              <a:latin typeface="Consolas"/>
              <a:cs typeface="Consolas"/>
            </a:endParaRPr>
          </a:p>
          <a:p>
            <a:pPr marL="200025">
              <a:lnSpc>
                <a:spcPct val="100000"/>
              </a:lnSpc>
            </a:pPr>
            <a:r>
              <a:rPr dirty="0" sz="1350">
                <a:solidFill>
                  <a:srgbClr val="D6DFD6"/>
                </a:solidFill>
                <a:latin typeface="Consolas"/>
                <a:cs typeface="Consolas"/>
              </a:rPr>
              <a:t>orderBy:</a:t>
            </a:r>
            <a:r>
              <a:rPr dirty="0" sz="135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50" spc="-10">
                <a:solidFill>
                  <a:srgbClr val="D6DFD6"/>
                </a:solidFill>
                <a:latin typeface="Consolas"/>
                <a:cs typeface="Consolas"/>
              </a:rPr>
              <a:t>'id',</a:t>
            </a:r>
            <a:endParaRPr sz="13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50" spc="-25">
                <a:solidFill>
                  <a:srgbClr val="D6DFD6"/>
                </a:solidFill>
                <a:latin typeface="Consolas"/>
                <a:cs typeface="Consolas"/>
              </a:rPr>
              <a:t>);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0531" y="3880484"/>
            <a:ext cx="1206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D6DFD6"/>
                </a:solidFill>
                <a:latin typeface="Consolas"/>
                <a:cs typeface="Consolas"/>
              </a:rPr>
              <a:t>}</a:t>
            </a:r>
            <a:endParaRPr sz="135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93407" y="2176310"/>
            <a:ext cx="725170" cy="725170"/>
            <a:chOff x="6693407" y="2176310"/>
            <a:chExt cx="725170" cy="72517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2176310"/>
              <a:ext cx="724623" cy="72462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12279" y="224028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3D7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2382951"/>
              <a:ext cx="263347" cy="26334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486268" y="2280666"/>
            <a:ext cx="116459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Returns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a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1F3863"/>
                </a:solidFill>
                <a:latin typeface="Trebuchet MS"/>
                <a:cs typeface="Trebuchet MS"/>
              </a:rPr>
              <a:t>list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86268" y="2795142"/>
            <a:ext cx="2631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Each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item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list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is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one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record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(a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Map).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93407" y="3255302"/>
            <a:ext cx="725170" cy="725170"/>
            <a:chOff x="6693407" y="3255302"/>
            <a:chExt cx="725170" cy="72517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3255302"/>
              <a:ext cx="724623" cy="72462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812279" y="331927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3D7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3461943"/>
              <a:ext cx="263347" cy="26334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486268" y="3359911"/>
            <a:ext cx="179578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db.query</a:t>
            </a:r>
            <a:r>
              <a:rPr dirty="0" sz="1450" spc="-4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reads</a:t>
            </a:r>
            <a:r>
              <a:rPr dirty="0" sz="1450" spc="-5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1F3863"/>
                </a:solidFill>
                <a:latin typeface="Trebuchet MS"/>
                <a:cs typeface="Trebuchet MS"/>
              </a:rPr>
              <a:t>rows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86268" y="3874389"/>
            <a:ext cx="2627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fetches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everything</a:t>
            </a:r>
            <a:r>
              <a:rPr dirty="0" sz="12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from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items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table.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693407" y="4334293"/>
            <a:ext cx="725170" cy="725170"/>
            <a:chOff x="6693407" y="4334293"/>
            <a:chExt cx="725170" cy="72517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4334293"/>
              <a:ext cx="724623" cy="7246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812279" y="4398263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3D7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4540935"/>
              <a:ext cx="263347" cy="26334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486268" y="4439158"/>
            <a:ext cx="2348230" cy="722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orderBy</a:t>
            </a:r>
            <a:r>
              <a:rPr dirty="0" sz="1450" spc="-5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keeps</a:t>
            </a:r>
            <a:r>
              <a:rPr dirty="0" sz="145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1F3863"/>
                </a:solidFill>
                <a:latin typeface="Trebuchet MS"/>
                <a:cs typeface="Trebuchet MS"/>
              </a:rPr>
              <a:t>order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Records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come back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sorted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by</a:t>
            </a:r>
            <a:r>
              <a:rPr dirty="0" sz="12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their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id.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33458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27150" algn="l"/>
                <a:tab pos="2232660" algn="l"/>
                <a:tab pos="2532380" algn="l"/>
              </a:tabLst>
            </a:pP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3</a:t>
            </a:r>
            <a:r>
              <a:rPr dirty="0" sz="1300" spc="9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F</a:t>
            </a:r>
            <a:r>
              <a:rPr dirty="0" sz="1300" spc="9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4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•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U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Update:</a:t>
            </a:r>
            <a:r>
              <a:rPr dirty="0" spc="-35"/>
              <a:t> </a:t>
            </a:r>
            <a:r>
              <a:rPr dirty="0"/>
              <a:t>Change</a:t>
            </a:r>
            <a:r>
              <a:rPr dirty="0" spc="-45"/>
              <a:t> </a:t>
            </a:r>
            <a:r>
              <a:rPr dirty="0"/>
              <a:t>an</a:t>
            </a:r>
            <a:r>
              <a:rPr dirty="0" spc="-30"/>
              <a:t> </a:t>
            </a:r>
            <a:r>
              <a:rPr dirty="0"/>
              <a:t>Existing</a:t>
            </a:r>
            <a:r>
              <a:rPr dirty="0" spc="-60"/>
              <a:t> </a:t>
            </a:r>
            <a:r>
              <a:rPr dirty="0" spc="-10"/>
              <a:t>Record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508760"/>
            <a:ext cx="1325880" cy="384175"/>
          </a:xfrm>
          <a:custGeom>
            <a:avLst/>
            <a:gdLst/>
            <a:ahLst/>
            <a:cxnLst/>
            <a:rect l="l" t="t" r="r" b="b"/>
            <a:pathLst>
              <a:path w="1325880" h="384175">
                <a:moveTo>
                  <a:pt x="1234440" y="0"/>
                </a:moveTo>
                <a:lnTo>
                  <a:pt x="91439" y="0"/>
                </a:lnTo>
                <a:lnTo>
                  <a:pt x="55849" y="7179"/>
                </a:lnTo>
                <a:lnTo>
                  <a:pt x="26784" y="26765"/>
                </a:lnTo>
                <a:lnTo>
                  <a:pt x="7186" y="55828"/>
                </a:lnTo>
                <a:lnTo>
                  <a:pt x="0" y="91439"/>
                </a:lnTo>
                <a:lnTo>
                  <a:pt x="0" y="292607"/>
                </a:lnTo>
                <a:lnTo>
                  <a:pt x="7186" y="328219"/>
                </a:lnTo>
                <a:lnTo>
                  <a:pt x="26784" y="357282"/>
                </a:lnTo>
                <a:lnTo>
                  <a:pt x="55849" y="376868"/>
                </a:lnTo>
                <a:lnTo>
                  <a:pt x="91439" y="384048"/>
                </a:lnTo>
                <a:lnTo>
                  <a:pt x="1234440" y="384048"/>
                </a:lnTo>
                <a:lnTo>
                  <a:pt x="1270051" y="376868"/>
                </a:lnTo>
                <a:lnTo>
                  <a:pt x="1299114" y="357282"/>
                </a:lnTo>
                <a:lnTo>
                  <a:pt x="1318700" y="328219"/>
                </a:lnTo>
                <a:lnTo>
                  <a:pt x="1325880" y="292607"/>
                </a:lnTo>
                <a:lnTo>
                  <a:pt x="1325880" y="91439"/>
                </a:lnTo>
                <a:lnTo>
                  <a:pt x="1318700" y="55828"/>
                </a:lnTo>
                <a:lnTo>
                  <a:pt x="1299114" y="26765"/>
                </a:lnTo>
                <a:lnTo>
                  <a:pt x="1270051" y="7179"/>
                </a:lnTo>
                <a:lnTo>
                  <a:pt x="1234440" y="0"/>
                </a:lnTo>
                <a:close/>
              </a:path>
            </a:pathLst>
          </a:custGeom>
          <a:solidFill>
            <a:srgbClr val="C785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2360" y="1587753"/>
            <a:ext cx="9918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210" algn="l"/>
              </a:tabLst>
            </a:pP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	U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120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2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2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9233" y="1578609"/>
            <a:ext cx="57365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4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find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row</a:t>
            </a:r>
            <a:r>
              <a:rPr dirty="0" sz="14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by</a:t>
            </a:r>
            <a:r>
              <a:rPr dirty="0" sz="14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its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id,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then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replace</a:t>
            </a:r>
            <a:r>
              <a:rPr dirty="0" sz="14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its</a:t>
            </a:r>
            <a:r>
              <a:rPr dirty="0" sz="14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title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description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with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new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values.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9768" y="2084818"/>
            <a:ext cx="6120130" cy="4017010"/>
            <a:chOff x="429768" y="2084818"/>
            <a:chExt cx="6120130" cy="40170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2084818"/>
              <a:ext cx="6119621" cy="40165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639" y="2148840"/>
              <a:ext cx="5943600" cy="3840479"/>
            </a:xfrm>
            <a:custGeom>
              <a:avLst/>
              <a:gdLst/>
              <a:ahLst/>
              <a:cxnLst/>
              <a:rect l="l" t="t" r="r" b="b"/>
              <a:pathLst>
                <a:path w="5943600" h="3840479">
                  <a:moveTo>
                    <a:pt x="5888736" y="0"/>
                  </a:moveTo>
                  <a:lnTo>
                    <a:pt x="54876" y="0"/>
                  </a:lnTo>
                  <a:lnTo>
                    <a:pt x="33518" y="4304"/>
                  </a:lnTo>
                  <a:lnTo>
                    <a:pt x="16075" y="16049"/>
                  </a:lnTo>
                  <a:lnTo>
                    <a:pt x="4313" y="33486"/>
                  </a:lnTo>
                  <a:lnTo>
                    <a:pt x="0" y="54863"/>
                  </a:lnTo>
                  <a:lnTo>
                    <a:pt x="0" y="3785603"/>
                  </a:lnTo>
                  <a:lnTo>
                    <a:pt x="4313" y="3806961"/>
                  </a:lnTo>
                  <a:lnTo>
                    <a:pt x="16075" y="3824404"/>
                  </a:lnTo>
                  <a:lnTo>
                    <a:pt x="33518" y="3836166"/>
                  </a:lnTo>
                  <a:lnTo>
                    <a:pt x="54876" y="3840479"/>
                  </a:lnTo>
                  <a:lnTo>
                    <a:pt x="5888736" y="3840479"/>
                  </a:lnTo>
                  <a:lnTo>
                    <a:pt x="5910113" y="3836166"/>
                  </a:lnTo>
                  <a:lnTo>
                    <a:pt x="5927550" y="3824404"/>
                  </a:lnTo>
                  <a:lnTo>
                    <a:pt x="5939295" y="3806961"/>
                  </a:lnTo>
                  <a:lnTo>
                    <a:pt x="5943600" y="3785603"/>
                  </a:lnTo>
                  <a:lnTo>
                    <a:pt x="5943600" y="54863"/>
                  </a:lnTo>
                  <a:lnTo>
                    <a:pt x="5939295" y="33486"/>
                  </a:lnTo>
                  <a:lnTo>
                    <a:pt x="5927550" y="16049"/>
                  </a:lnTo>
                  <a:lnTo>
                    <a:pt x="5910113" y="4304"/>
                  </a:lnTo>
                  <a:lnTo>
                    <a:pt x="5888736" y="0"/>
                  </a:lnTo>
                  <a:close/>
                </a:path>
              </a:pathLst>
            </a:custGeom>
            <a:solidFill>
              <a:srgbClr val="1E1E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00531" y="2237358"/>
            <a:ext cx="3964304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static</a:t>
            </a:r>
            <a:r>
              <a:rPr dirty="0" sz="1250" spc="-8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Future&lt;int&gt;</a:t>
            </a:r>
            <a:r>
              <a:rPr dirty="0" sz="1250" spc="-8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updateItem(int</a:t>
            </a:r>
            <a:r>
              <a:rPr dirty="0" sz="1250" spc="-6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id,</a:t>
            </a:r>
            <a:endParaRPr sz="1250">
              <a:latin typeface="Consolas"/>
              <a:cs typeface="Consolas"/>
            </a:endParaRPr>
          </a:p>
          <a:p>
            <a:pPr marL="186055" marR="5080" indent="173355">
              <a:lnSpc>
                <a:spcPct val="100000"/>
              </a:lnSpc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String</a:t>
            </a:r>
            <a:r>
              <a:rPr dirty="0" sz="1250" spc="-3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title,</a:t>
            </a:r>
            <a:r>
              <a:rPr dirty="0" sz="125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String</a:t>
            </a:r>
            <a:r>
              <a:rPr dirty="0" sz="125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description)</a:t>
            </a:r>
            <a:r>
              <a:rPr dirty="0" sz="1250" spc="-3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async</a:t>
            </a:r>
            <a:r>
              <a:rPr dirty="0" sz="1250" spc="-3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50">
                <a:solidFill>
                  <a:srgbClr val="D6DFD6"/>
                </a:solidFill>
                <a:latin typeface="Consolas"/>
                <a:cs typeface="Consolas"/>
              </a:rPr>
              <a:t>{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final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db</a:t>
            </a:r>
            <a:r>
              <a:rPr dirty="0" sz="1250" spc="-3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=</a:t>
            </a:r>
            <a:r>
              <a:rPr dirty="0" sz="125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await</a:t>
            </a:r>
            <a:r>
              <a:rPr dirty="0" sz="1250" spc="-3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DatabaseService.db();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4267" y="2999358"/>
            <a:ext cx="2564765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055" marR="1055370" indent="-17399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final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data</a:t>
            </a:r>
            <a:r>
              <a:rPr dirty="0" sz="125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=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50">
                <a:solidFill>
                  <a:srgbClr val="D6DFD6"/>
                </a:solidFill>
                <a:latin typeface="Consolas"/>
                <a:cs typeface="Consolas"/>
              </a:rPr>
              <a:t>{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'title':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title,</a:t>
            </a:r>
            <a:endParaRPr sz="1250">
              <a:latin typeface="Consolas"/>
              <a:cs typeface="Consolas"/>
            </a:endParaRPr>
          </a:p>
          <a:p>
            <a:pPr marL="186055">
              <a:lnSpc>
                <a:spcPct val="100000"/>
              </a:lnSpc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'description':</a:t>
            </a:r>
            <a:r>
              <a:rPr dirty="0" sz="1250" spc="-5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description,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};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4267" y="3952113"/>
            <a:ext cx="1601470" cy="977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055" marR="95885" indent="-17399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return</a:t>
            </a:r>
            <a:r>
              <a:rPr dirty="0" sz="1250" spc="-4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10">
                <a:solidFill>
                  <a:srgbClr val="D6DFD6"/>
                </a:solidFill>
                <a:latin typeface="Consolas"/>
                <a:cs typeface="Consolas"/>
              </a:rPr>
              <a:t>db.update(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'items',</a:t>
            </a:r>
            <a:r>
              <a:rPr dirty="0" sz="1250" spc="-3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20">
                <a:solidFill>
                  <a:srgbClr val="D6DFD6"/>
                </a:solidFill>
                <a:latin typeface="Consolas"/>
                <a:cs typeface="Consolas"/>
              </a:rPr>
              <a:t>data,</a:t>
            </a:r>
            <a:endParaRPr sz="1250">
              <a:latin typeface="Consolas"/>
              <a:cs typeface="Consolas"/>
            </a:endParaRPr>
          </a:p>
          <a:p>
            <a:pPr marL="186055" marR="5080">
              <a:lnSpc>
                <a:spcPct val="100000"/>
              </a:lnSpc>
            </a:pP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where:</a:t>
            </a:r>
            <a:r>
              <a:rPr dirty="0" sz="125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'id</a:t>
            </a:r>
            <a:r>
              <a:rPr dirty="0" sz="1250" spc="-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= </a:t>
            </a: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?', </a:t>
            </a:r>
            <a:r>
              <a:rPr dirty="0" sz="1250">
                <a:solidFill>
                  <a:srgbClr val="D6DFD6"/>
                </a:solidFill>
                <a:latin typeface="Consolas"/>
                <a:cs typeface="Consolas"/>
              </a:rPr>
              <a:t>whereArgs:</a:t>
            </a:r>
            <a:r>
              <a:rPr dirty="0" sz="1250" spc="-3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250" spc="-20">
                <a:solidFill>
                  <a:srgbClr val="D6DFD6"/>
                </a:solidFill>
                <a:latin typeface="Consolas"/>
                <a:cs typeface="Consolas"/>
              </a:rPr>
              <a:t>[id],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250" spc="-25">
                <a:solidFill>
                  <a:srgbClr val="D6DFD6"/>
                </a:solidFill>
                <a:latin typeface="Consolas"/>
                <a:cs typeface="Consolas"/>
              </a:rPr>
              <a:t>);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0531" y="4904613"/>
            <a:ext cx="11303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50">
                <a:solidFill>
                  <a:srgbClr val="D6DFD6"/>
                </a:solidFill>
                <a:latin typeface="Consolas"/>
                <a:cs typeface="Consolas"/>
              </a:rPr>
              <a:t>}</a:t>
            </a:r>
            <a:endParaRPr sz="1250">
              <a:latin typeface="Consolas"/>
              <a:cs typeface="Consola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93407" y="2176310"/>
            <a:ext cx="725170" cy="725170"/>
            <a:chOff x="6693407" y="2176310"/>
            <a:chExt cx="725170" cy="72517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2176310"/>
              <a:ext cx="724623" cy="7246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12279" y="224028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2382951"/>
              <a:ext cx="263347" cy="26334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486268" y="2280666"/>
            <a:ext cx="131318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Same</a:t>
            </a:r>
            <a:r>
              <a:rPr dirty="0" sz="145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data</a:t>
            </a:r>
            <a:r>
              <a:rPr dirty="0" sz="1450" spc="-3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Map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86268" y="2795142"/>
            <a:ext cx="2701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Holds</a:t>
            </a:r>
            <a:r>
              <a:rPr dirty="0" sz="1200" spc="-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new title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description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save.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93407" y="3255302"/>
            <a:ext cx="725170" cy="725170"/>
            <a:chOff x="6693407" y="3255302"/>
            <a:chExt cx="725170" cy="72517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3255302"/>
              <a:ext cx="724623" cy="72462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12279" y="331927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3461943"/>
              <a:ext cx="263347" cy="26334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486268" y="3359911"/>
            <a:ext cx="1793239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where</a:t>
            </a:r>
            <a:r>
              <a:rPr dirty="0" sz="145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picks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the</a:t>
            </a:r>
            <a:r>
              <a:rPr dirty="0" sz="145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row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86268" y="3874389"/>
            <a:ext cx="18281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id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= ?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targets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just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one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record.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693407" y="4334293"/>
            <a:ext cx="725170" cy="725170"/>
            <a:chOff x="6693407" y="4334293"/>
            <a:chExt cx="725170" cy="72517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4334293"/>
              <a:ext cx="724623" cy="72462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812279" y="4398263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4540935"/>
              <a:ext cx="263347" cy="26334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486268" y="4439158"/>
            <a:ext cx="153416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whereArgs</a:t>
            </a:r>
            <a:r>
              <a:rPr dirty="0" sz="1450" spc="-6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is</a:t>
            </a:r>
            <a:r>
              <a:rPr dirty="0" sz="1450" spc="-3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20" b="1">
                <a:solidFill>
                  <a:srgbClr val="1F3863"/>
                </a:solidFill>
                <a:latin typeface="Trebuchet MS"/>
                <a:cs typeface="Trebuchet MS"/>
              </a:rPr>
              <a:t>safe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1" name="object 31"/>
          <p:cNvSpPr txBox="1"/>
          <p:nvPr/>
        </p:nvSpPr>
        <p:spPr>
          <a:xfrm>
            <a:off x="7486268" y="4953380"/>
            <a:ext cx="1978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Fills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?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with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real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id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value.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33121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27150" algn="l"/>
                <a:tab pos="2232660" algn="l"/>
                <a:tab pos="2532380" algn="l"/>
              </a:tabLst>
            </a:pP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P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4</a:t>
            </a:r>
            <a:r>
              <a:rPr dirty="0" sz="1300" spc="9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F</a:t>
            </a:r>
            <a:r>
              <a:rPr dirty="0" sz="1300" spc="9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4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•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D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L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Delete:</a:t>
            </a:r>
            <a:r>
              <a:rPr dirty="0" spc="-70"/>
              <a:t> </a:t>
            </a:r>
            <a:r>
              <a:rPr dirty="0"/>
              <a:t>Remove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10"/>
              <a:t>Record</a:t>
            </a:r>
          </a:p>
        </p:txBody>
      </p:sp>
      <p:sp>
        <p:nvSpPr>
          <p:cNvPr id="4" name="object 4"/>
          <p:cNvSpPr/>
          <p:nvPr/>
        </p:nvSpPr>
        <p:spPr>
          <a:xfrm>
            <a:off x="548640" y="1508760"/>
            <a:ext cx="1325880" cy="384175"/>
          </a:xfrm>
          <a:custGeom>
            <a:avLst/>
            <a:gdLst/>
            <a:ahLst/>
            <a:cxnLst/>
            <a:rect l="l" t="t" r="r" b="b"/>
            <a:pathLst>
              <a:path w="1325880" h="384175">
                <a:moveTo>
                  <a:pt x="1234440" y="0"/>
                </a:moveTo>
                <a:lnTo>
                  <a:pt x="91439" y="0"/>
                </a:lnTo>
                <a:lnTo>
                  <a:pt x="55849" y="7179"/>
                </a:lnTo>
                <a:lnTo>
                  <a:pt x="26784" y="26765"/>
                </a:lnTo>
                <a:lnTo>
                  <a:pt x="7186" y="55828"/>
                </a:lnTo>
                <a:lnTo>
                  <a:pt x="0" y="91439"/>
                </a:lnTo>
                <a:lnTo>
                  <a:pt x="0" y="292607"/>
                </a:lnTo>
                <a:lnTo>
                  <a:pt x="7186" y="328219"/>
                </a:lnTo>
                <a:lnTo>
                  <a:pt x="26784" y="357282"/>
                </a:lnTo>
                <a:lnTo>
                  <a:pt x="55849" y="376868"/>
                </a:lnTo>
                <a:lnTo>
                  <a:pt x="91439" y="384048"/>
                </a:lnTo>
                <a:lnTo>
                  <a:pt x="1234440" y="384048"/>
                </a:lnTo>
                <a:lnTo>
                  <a:pt x="1270051" y="376868"/>
                </a:lnTo>
                <a:lnTo>
                  <a:pt x="1299114" y="357282"/>
                </a:lnTo>
                <a:lnTo>
                  <a:pt x="1318700" y="328219"/>
                </a:lnTo>
                <a:lnTo>
                  <a:pt x="1325880" y="292607"/>
                </a:lnTo>
                <a:lnTo>
                  <a:pt x="1325880" y="91439"/>
                </a:lnTo>
                <a:lnTo>
                  <a:pt x="1318700" y="55828"/>
                </a:lnTo>
                <a:lnTo>
                  <a:pt x="1299114" y="26765"/>
                </a:lnTo>
                <a:lnTo>
                  <a:pt x="1270051" y="7179"/>
                </a:lnTo>
                <a:lnTo>
                  <a:pt x="123444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20648" y="1587753"/>
            <a:ext cx="955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</a:tabLst>
            </a:pP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20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2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9233" y="1578609"/>
            <a:ext cx="48456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4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remove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one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 spc="-40">
                <a:solidFill>
                  <a:srgbClr val="5B6656"/>
                </a:solidFill>
                <a:latin typeface="Calibri"/>
                <a:cs typeface="Calibri"/>
              </a:rPr>
              <a:t>row,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chosen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by</a:t>
            </a:r>
            <a:r>
              <a:rPr dirty="0" sz="14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its</a:t>
            </a:r>
            <a:r>
              <a:rPr dirty="0" sz="14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id,</a:t>
            </a:r>
            <a:r>
              <a:rPr dirty="0" sz="14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wrap</a:t>
            </a:r>
            <a:r>
              <a:rPr dirty="0" sz="14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4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4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4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safety</a:t>
            </a:r>
            <a:r>
              <a:rPr dirty="0" sz="14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5B6656"/>
                </a:solidFill>
                <a:latin typeface="Calibri"/>
                <a:cs typeface="Calibri"/>
              </a:rPr>
              <a:t>check.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9768" y="2084818"/>
            <a:ext cx="6120130" cy="4017010"/>
            <a:chOff x="429768" y="2084818"/>
            <a:chExt cx="6120130" cy="40170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8" y="2084818"/>
              <a:ext cx="6119621" cy="40165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639" y="2148840"/>
              <a:ext cx="5943600" cy="3840479"/>
            </a:xfrm>
            <a:custGeom>
              <a:avLst/>
              <a:gdLst/>
              <a:ahLst/>
              <a:cxnLst/>
              <a:rect l="l" t="t" r="r" b="b"/>
              <a:pathLst>
                <a:path w="5943600" h="3840479">
                  <a:moveTo>
                    <a:pt x="5888736" y="0"/>
                  </a:moveTo>
                  <a:lnTo>
                    <a:pt x="54876" y="0"/>
                  </a:lnTo>
                  <a:lnTo>
                    <a:pt x="33518" y="4304"/>
                  </a:lnTo>
                  <a:lnTo>
                    <a:pt x="16075" y="16049"/>
                  </a:lnTo>
                  <a:lnTo>
                    <a:pt x="4313" y="33486"/>
                  </a:lnTo>
                  <a:lnTo>
                    <a:pt x="0" y="54863"/>
                  </a:lnTo>
                  <a:lnTo>
                    <a:pt x="0" y="3785603"/>
                  </a:lnTo>
                  <a:lnTo>
                    <a:pt x="4313" y="3806961"/>
                  </a:lnTo>
                  <a:lnTo>
                    <a:pt x="16075" y="3824404"/>
                  </a:lnTo>
                  <a:lnTo>
                    <a:pt x="33518" y="3836166"/>
                  </a:lnTo>
                  <a:lnTo>
                    <a:pt x="54876" y="3840479"/>
                  </a:lnTo>
                  <a:lnTo>
                    <a:pt x="5888736" y="3840479"/>
                  </a:lnTo>
                  <a:lnTo>
                    <a:pt x="5910113" y="3836166"/>
                  </a:lnTo>
                  <a:lnTo>
                    <a:pt x="5927550" y="3824404"/>
                  </a:lnTo>
                  <a:lnTo>
                    <a:pt x="5939295" y="3806961"/>
                  </a:lnTo>
                  <a:lnTo>
                    <a:pt x="5943600" y="3785603"/>
                  </a:lnTo>
                  <a:lnTo>
                    <a:pt x="5943600" y="54863"/>
                  </a:lnTo>
                  <a:lnTo>
                    <a:pt x="5939295" y="33486"/>
                  </a:lnTo>
                  <a:lnTo>
                    <a:pt x="5927550" y="16049"/>
                  </a:lnTo>
                  <a:lnTo>
                    <a:pt x="5910113" y="4304"/>
                  </a:lnTo>
                  <a:lnTo>
                    <a:pt x="5888736" y="0"/>
                  </a:lnTo>
                  <a:close/>
                </a:path>
              </a:pathLst>
            </a:custGeom>
            <a:solidFill>
              <a:srgbClr val="1E1E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00531" y="2237358"/>
            <a:ext cx="4182745" cy="2402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static</a:t>
            </a:r>
            <a:r>
              <a:rPr dirty="0" sz="130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Future&lt;void&gt;</a:t>
            </a:r>
            <a:r>
              <a:rPr dirty="0" sz="130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deleteItem(int</a:t>
            </a:r>
            <a:r>
              <a:rPr dirty="0" sz="130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id)</a:t>
            </a:r>
            <a:r>
              <a:rPr dirty="0" sz="130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async</a:t>
            </a:r>
            <a:r>
              <a:rPr dirty="0" sz="1300" spc="-2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50">
                <a:solidFill>
                  <a:srgbClr val="D6DFD6"/>
                </a:solidFill>
                <a:latin typeface="Consolas"/>
                <a:cs typeface="Consolas"/>
              </a:rPr>
              <a:t>{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final</a:t>
            </a:r>
            <a:r>
              <a:rPr dirty="0" sz="130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db</a:t>
            </a:r>
            <a:r>
              <a:rPr dirty="0" sz="1300" spc="-1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=</a:t>
            </a:r>
            <a:r>
              <a:rPr dirty="0" sz="1300" spc="-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await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 DatabaseService.db();</a:t>
            </a:r>
            <a:endParaRPr sz="1300">
              <a:latin typeface="Consolas"/>
              <a:cs typeface="Consolas"/>
            </a:endParaRPr>
          </a:p>
          <a:p>
            <a:pPr marL="192405">
              <a:lnSpc>
                <a:spcPct val="100000"/>
              </a:lnSpc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try</a:t>
            </a:r>
            <a:r>
              <a:rPr dirty="0" sz="1300" spc="-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50">
                <a:solidFill>
                  <a:srgbClr val="D6DFD6"/>
                </a:solidFill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554990" marR="2350135" indent="-182245">
              <a:lnSpc>
                <a:spcPct val="100000"/>
              </a:lnSpc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await</a:t>
            </a:r>
            <a:r>
              <a:rPr dirty="0" sz="1300" spc="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db.delete( 'items',</a:t>
            </a:r>
            <a:endParaRPr sz="1300">
              <a:latin typeface="Consolas"/>
              <a:cs typeface="Consolas"/>
            </a:endParaRPr>
          </a:p>
          <a:p>
            <a:pPr marL="554990" marR="2172970">
              <a:lnSpc>
                <a:spcPct val="100000"/>
              </a:lnSpc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where: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'id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=</a:t>
            </a:r>
            <a:r>
              <a:rPr dirty="0" sz="1300" spc="-2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25">
                <a:solidFill>
                  <a:srgbClr val="D6DFD6"/>
                </a:solidFill>
                <a:latin typeface="Consolas"/>
                <a:cs typeface="Consolas"/>
              </a:rPr>
              <a:t>?',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whereArgs:</a:t>
            </a:r>
            <a:r>
              <a:rPr dirty="0" sz="1300" spc="-20">
                <a:solidFill>
                  <a:srgbClr val="D6DFD6"/>
                </a:solidFill>
                <a:latin typeface="Consolas"/>
                <a:cs typeface="Consolas"/>
              </a:rPr>
              <a:t> [id],</a:t>
            </a:r>
            <a:endParaRPr sz="1300">
              <a:latin typeface="Consolas"/>
              <a:cs typeface="Consolas"/>
            </a:endParaRPr>
          </a:p>
          <a:p>
            <a:pPr marL="373380">
              <a:lnSpc>
                <a:spcPct val="100000"/>
              </a:lnSpc>
            </a:pPr>
            <a:r>
              <a:rPr dirty="0" sz="1300" spc="-25">
                <a:solidFill>
                  <a:srgbClr val="D6DFD6"/>
                </a:solidFill>
                <a:latin typeface="Consolas"/>
                <a:cs typeface="Consolas"/>
              </a:rPr>
              <a:t>);</a:t>
            </a:r>
            <a:endParaRPr sz="1300">
              <a:latin typeface="Consolas"/>
              <a:cs typeface="Consolas"/>
            </a:endParaRPr>
          </a:p>
          <a:p>
            <a:pPr marL="192405">
              <a:lnSpc>
                <a:spcPct val="100000"/>
              </a:lnSpc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}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catch</a:t>
            </a:r>
            <a:r>
              <a:rPr dirty="0" sz="1300" spc="-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(e)</a:t>
            </a:r>
            <a:r>
              <a:rPr dirty="0" sz="1300" spc="-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50">
                <a:solidFill>
                  <a:srgbClr val="D6DFD6"/>
                </a:solidFill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373380">
              <a:lnSpc>
                <a:spcPct val="100000"/>
              </a:lnSpc>
            </a:pP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print('Error</a:t>
            </a:r>
            <a:r>
              <a:rPr dirty="0" sz="1300" spc="5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>
                <a:solidFill>
                  <a:srgbClr val="D6DFD6"/>
                </a:solidFill>
                <a:latin typeface="Consolas"/>
                <a:cs typeface="Consolas"/>
              </a:rPr>
              <a:t>deleting:</a:t>
            </a:r>
            <a:r>
              <a:rPr dirty="0" sz="1300" spc="10">
                <a:solidFill>
                  <a:srgbClr val="D6DFD6"/>
                </a:solidFill>
                <a:latin typeface="Consolas"/>
                <a:cs typeface="Consolas"/>
              </a:rPr>
              <a:t> </a:t>
            </a:r>
            <a:r>
              <a:rPr dirty="0" sz="1300" spc="-20">
                <a:solidFill>
                  <a:srgbClr val="D6DFD6"/>
                </a:solidFill>
                <a:latin typeface="Consolas"/>
                <a:cs typeface="Consolas"/>
              </a:rPr>
              <a:t>$e');</a:t>
            </a:r>
            <a:endParaRPr sz="1300">
              <a:latin typeface="Consolas"/>
              <a:cs typeface="Consolas"/>
            </a:endParaRPr>
          </a:p>
          <a:p>
            <a:pPr marL="192405">
              <a:lnSpc>
                <a:spcPct val="100000"/>
              </a:lnSpc>
            </a:pPr>
            <a:r>
              <a:rPr dirty="0" sz="1300" spc="-50">
                <a:solidFill>
                  <a:srgbClr val="D6DFD6"/>
                </a:solidFill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50">
                <a:solidFill>
                  <a:srgbClr val="D6DFD6"/>
                </a:solidFill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93407" y="2176310"/>
            <a:ext cx="725170" cy="725170"/>
            <a:chOff x="6693407" y="2176310"/>
            <a:chExt cx="725170" cy="72517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2176310"/>
              <a:ext cx="724623" cy="72462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12279" y="224028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2382951"/>
              <a:ext cx="263347" cy="26334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86268" y="2280666"/>
            <a:ext cx="182943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db.delete</a:t>
            </a:r>
            <a:r>
              <a:rPr dirty="0" sz="1450" spc="-5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removes</a:t>
            </a:r>
            <a:r>
              <a:rPr dirty="0" sz="1450" spc="-3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it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86268" y="2795142"/>
            <a:ext cx="24072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Deletes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row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matching</a:t>
            </a:r>
            <a:r>
              <a:rPr dirty="0" sz="12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given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id.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93407" y="3255302"/>
            <a:ext cx="725170" cy="725170"/>
            <a:chOff x="6693407" y="3255302"/>
            <a:chExt cx="725170" cy="72517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3255302"/>
              <a:ext cx="724623" cy="72462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12279" y="331927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3461943"/>
              <a:ext cx="263347" cy="26334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486268" y="3359911"/>
            <a:ext cx="170561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where</a:t>
            </a:r>
            <a:r>
              <a:rPr dirty="0" sz="1450" spc="-2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+</a:t>
            </a:r>
            <a:r>
              <a:rPr dirty="0" sz="14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1F3863"/>
                </a:solidFill>
                <a:latin typeface="Trebuchet MS"/>
                <a:cs typeface="Trebuchet MS"/>
              </a:rPr>
              <a:t>whereArgs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86268" y="3874389"/>
            <a:ext cx="20580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Targets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exactly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one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record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safely.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93407" y="4334293"/>
            <a:ext cx="725170" cy="725170"/>
            <a:chOff x="6693407" y="4334293"/>
            <a:chExt cx="725170" cy="72517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4334293"/>
              <a:ext cx="724623" cy="72462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12279" y="4398263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4900" y="4540935"/>
              <a:ext cx="263347" cy="26334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486268" y="4439158"/>
            <a:ext cx="169926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try</a:t>
            </a:r>
            <a:r>
              <a:rPr dirty="0" sz="14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/</a:t>
            </a:r>
            <a:r>
              <a:rPr dirty="0" sz="14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1F3863"/>
                </a:solidFill>
                <a:latin typeface="Trebuchet MS"/>
                <a:cs typeface="Trebuchet MS"/>
              </a:rPr>
              <a:t>catch</a:t>
            </a:r>
            <a:r>
              <a:rPr dirty="0" sz="1450" spc="-1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1F3863"/>
                </a:solidFill>
                <a:latin typeface="Trebuchet MS"/>
                <a:cs typeface="Trebuchet MS"/>
              </a:rPr>
              <a:t>protects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7486268" y="4953380"/>
            <a:ext cx="2279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If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fails,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print</a:t>
            </a:r>
            <a:r>
              <a:rPr dirty="0" sz="12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an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error,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do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not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crash.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217614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9460" algn="l"/>
              </a:tabLst>
            </a:pP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Y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G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100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G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Screen</a:t>
            </a:r>
            <a:r>
              <a:rPr dirty="0" spc="-130"/>
              <a:t> </a:t>
            </a:r>
            <a:r>
              <a:rPr dirty="0" spc="-45"/>
              <a:t>Talks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Database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02409"/>
            <a:ext cx="107676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screen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never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touches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SQLite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directly.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Every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tap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calls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service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function,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500" spc="-6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after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change</a:t>
            </a:r>
            <a:r>
              <a:rPr dirty="0" sz="1500" spc="-6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we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refresh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so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screen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always</a:t>
            </a:r>
            <a:r>
              <a:rPr dirty="0" sz="1500" spc="-6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matches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the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database.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672" y="2444495"/>
            <a:ext cx="2794635" cy="2474595"/>
            <a:chOff x="423672" y="2444495"/>
            <a:chExt cx="2794635" cy="24745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2444495"/>
              <a:ext cx="2794254" cy="247421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40" y="2514599"/>
              <a:ext cx="2606040" cy="2286000"/>
            </a:xfrm>
            <a:custGeom>
              <a:avLst/>
              <a:gdLst/>
              <a:ahLst/>
              <a:cxnLst/>
              <a:rect l="l" t="t" r="r" b="b"/>
              <a:pathLst>
                <a:path w="2606040" h="2286000">
                  <a:moveTo>
                    <a:pt x="253288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212848"/>
                  </a:lnTo>
                  <a:lnTo>
                    <a:pt x="5748" y="2241315"/>
                  </a:lnTo>
                  <a:lnTo>
                    <a:pt x="21426" y="2264568"/>
                  </a:lnTo>
                  <a:lnTo>
                    <a:pt x="44678" y="2280249"/>
                  </a:lnTo>
                  <a:lnTo>
                    <a:pt x="73151" y="2286000"/>
                  </a:lnTo>
                  <a:lnTo>
                    <a:pt x="2532888" y="2286000"/>
                  </a:lnTo>
                  <a:lnTo>
                    <a:pt x="2561355" y="2280249"/>
                  </a:lnTo>
                  <a:lnTo>
                    <a:pt x="2584608" y="2264568"/>
                  </a:lnTo>
                  <a:lnTo>
                    <a:pt x="2600289" y="2241315"/>
                  </a:lnTo>
                  <a:lnTo>
                    <a:pt x="2606040" y="2212848"/>
                  </a:lnTo>
                  <a:lnTo>
                    <a:pt x="2606040" y="73151"/>
                  </a:lnTo>
                  <a:lnTo>
                    <a:pt x="2600289" y="44684"/>
                  </a:lnTo>
                  <a:lnTo>
                    <a:pt x="2584608" y="21431"/>
                  </a:lnTo>
                  <a:lnTo>
                    <a:pt x="2561355" y="5750"/>
                  </a:lnTo>
                  <a:lnTo>
                    <a:pt x="2532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40" y="2514599"/>
              <a:ext cx="2606040" cy="2286000"/>
            </a:xfrm>
            <a:custGeom>
              <a:avLst/>
              <a:gdLst/>
              <a:ahLst/>
              <a:cxnLst/>
              <a:rect l="l" t="t" r="r" b="b"/>
              <a:pathLst>
                <a:path w="2606040" h="228600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2532888" y="0"/>
                  </a:lnTo>
                  <a:lnTo>
                    <a:pt x="2561355" y="5750"/>
                  </a:lnTo>
                  <a:lnTo>
                    <a:pt x="2584608" y="21431"/>
                  </a:lnTo>
                  <a:lnTo>
                    <a:pt x="2600289" y="44684"/>
                  </a:lnTo>
                  <a:lnTo>
                    <a:pt x="2606040" y="73151"/>
                  </a:lnTo>
                  <a:lnTo>
                    <a:pt x="2606040" y="2212848"/>
                  </a:lnTo>
                  <a:lnTo>
                    <a:pt x="2600289" y="2241315"/>
                  </a:lnTo>
                  <a:lnTo>
                    <a:pt x="2584608" y="2264568"/>
                  </a:lnTo>
                  <a:lnTo>
                    <a:pt x="2561355" y="2280249"/>
                  </a:lnTo>
                  <a:lnTo>
                    <a:pt x="2532888" y="2286000"/>
                  </a:lnTo>
                  <a:lnTo>
                    <a:pt x="73151" y="2286000"/>
                  </a:lnTo>
                  <a:lnTo>
                    <a:pt x="44678" y="2280249"/>
                  </a:lnTo>
                  <a:lnTo>
                    <a:pt x="21426" y="2264568"/>
                  </a:lnTo>
                  <a:lnTo>
                    <a:pt x="5748" y="2241315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9868" y="2770606"/>
              <a:ext cx="1181887" cy="11818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48739" y="283463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920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20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20" y="1005840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40" y="502920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0233" y="3096183"/>
              <a:ext cx="482803" cy="48280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01420" y="4025265"/>
            <a:ext cx="2098675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User</a:t>
            </a:r>
            <a:r>
              <a:rPr dirty="0" sz="1600" spc="-2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1F3863"/>
                </a:solidFill>
                <a:latin typeface="Trebuchet MS"/>
                <a:cs typeface="Trebuchet MS"/>
              </a:rPr>
              <a:t>taps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Add,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edit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or</a:t>
            </a:r>
            <a:r>
              <a:rPr dirty="0" sz="120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delete</a:t>
            </a:r>
            <a:r>
              <a:rPr dirty="0" sz="12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on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screen.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54679" y="2444495"/>
            <a:ext cx="2989580" cy="2474595"/>
            <a:chOff x="3154679" y="2444495"/>
            <a:chExt cx="2989580" cy="2474595"/>
          </a:xfrm>
        </p:grpSpPr>
        <p:pic>
          <p:nvPicPr>
            <p:cNvPr id="14" name="object 14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4679" y="3401567"/>
              <a:ext cx="320040" cy="5029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9751" y="2444495"/>
              <a:ext cx="2794254" cy="247421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74719" y="2514599"/>
              <a:ext cx="2606040" cy="2286000"/>
            </a:xfrm>
            <a:custGeom>
              <a:avLst/>
              <a:gdLst/>
              <a:ahLst/>
              <a:cxnLst/>
              <a:rect l="l" t="t" r="r" b="b"/>
              <a:pathLst>
                <a:path w="2606040" h="2286000">
                  <a:moveTo>
                    <a:pt x="253288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212848"/>
                  </a:lnTo>
                  <a:lnTo>
                    <a:pt x="5750" y="2241315"/>
                  </a:lnTo>
                  <a:lnTo>
                    <a:pt x="21431" y="2264568"/>
                  </a:lnTo>
                  <a:lnTo>
                    <a:pt x="44684" y="2280249"/>
                  </a:lnTo>
                  <a:lnTo>
                    <a:pt x="73151" y="2286000"/>
                  </a:lnTo>
                  <a:lnTo>
                    <a:pt x="2532888" y="2286000"/>
                  </a:lnTo>
                  <a:lnTo>
                    <a:pt x="2561355" y="2280249"/>
                  </a:lnTo>
                  <a:lnTo>
                    <a:pt x="2584608" y="2264568"/>
                  </a:lnTo>
                  <a:lnTo>
                    <a:pt x="2600289" y="2241315"/>
                  </a:lnTo>
                  <a:lnTo>
                    <a:pt x="2606040" y="2212848"/>
                  </a:lnTo>
                  <a:lnTo>
                    <a:pt x="2606040" y="73151"/>
                  </a:lnTo>
                  <a:lnTo>
                    <a:pt x="2600289" y="44684"/>
                  </a:lnTo>
                  <a:lnTo>
                    <a:pt x="2584608" y="21431"/>
                  </a:lnTo>
                  <a:lnTo>
                    <a:pt x="2561355" y="5750"/>
                  </a:lnTo>
                  <a:lnTo>
                    <a:pt x="2532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74719" y="2514599"/>
              <a:ext cx="2606040" cy="2286000"/>
            </a:xfrm>
            <a:custGeom>
              <a:avLst/>
              <a:gdLst/>
              <a:ahLst/>
              <a:cxnLst/>
              <a:rect l="l" t="t" r="r" b="b"/>
              <a:pathLst>
                <a:path w="2606040" h="22860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32888" y="0"/>
                  </a:lnTo>
                  <a:lnTo>
                    <a:pt x="2561355" y="5750"/>
                  </a:lnTo>
                  <a:lnTo>
                    <a:pt x="2584608" y="21431"/>
                  </a:lnTo>
                  <a:lnTo>
                    <a:pt x="2600289" y="44684"/>
                  </a:lnTo>
                  <a:lnTo>
                    <a:pt x="2606040" y="73151"/>
                  </a:lnTo>
                  <a:lnTo>
                    <a:pt x="2606040" y="2212848"/>
                  </a:lnTo>
                  <a:lnTo>
                    <a:pt x="2600289" y="2241315"/>
                  </a:lnTo>
                  <a:lnTo>
                    <a:pt x="2584608" y="2264568"/>
                  </a:lnTo>
                  <a:lnTo>
                    <a:pt x="2561355" y="2280249"/>
                  </a:lnTo>
                  <a:lnTo>
                    <a:pt x="2532888" y="2286000"/>
                  </a:lnTo>
                  <a:lnTo>
                    <a:pt x="73151" y="2286000"/>
                  </a:lnTo>
                  <a:lnTo>
                    <a:pt x="44684" y="2280249"/>
                  </a:lnTo>
                  <a:lnTo>
                    <a:pt x="21431" y="2264568"/>
                  </a:lnTo>
                  <a:lnTo>
                    <a:pt x="5750" y="2241315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5947" y="2770606"/>
              <a:ext cx="1181887" cy="11818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274819" y="283463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919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20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19" y="1005840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39" y="502920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3D7B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6312" y="3096183"/>
              <a:ext cx="482803" cy="48280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71086" y="4025265"/>
            <a:ext cx="1813560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Calls</a:t>
            </a:r>
            <a:r>
              <a:rPr dirty="0" sz="1600" spc="-1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a</a:t>
            </a:r>
            <a:r>
              <a:rPr dirty="0" sz="1600" spc="-10" b="1">
                <a:solidFill>
                  <a:srgbClr val="1F3863"/>
                </a:solidFill>
                <a:latin typeface="Trebuchet MS"/>
                <a:cs typeface="Trebuchet MS"/>
              </a:rPr>
              <a:t> function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Like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_addItem</a:t>
            </a:r>
            <a:r>
              <a:rPr dirty="0" sz="12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or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deleteItem.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80759" y="2444495"/>
            <a:ext cx="2989580" cy="2474595"/>
            <a:chOff x="6080759" y="2444495"/>
            <a:chExt cx="2989580" cy="2474595"/>
          </a:xfrm>
        </p:grpSpPr>
        <p:pic>
          <p:nvPicPr>
            <p:cNvPr id="23" name="object 23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0759" y="3401567"/>
              <a:ext cx="320039" cy="50292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5831" y="2444495"/>
              <a:ext cx="2794254" cy="247421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400799" y="2514599"/>
              <a:ext cx="2606040" cy="2286000"/>
            </a:xfrm>
            <a:custGeom>
              <a:avLst/>
              <a:gdLst/>
              <a:ahLst/>
              <a:cxnLst/>
              <a:rect l="l" t="t" r="r" b="b"/>
              <a:pathLst>
                <a:path w="2606040" h="2286000">
                  <a:moveTo>
                    <a:pt x="253288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212848"/>
                  </a:lnTo>
                  <a:lnTo>
                    <a:pt x="5750" y="2241315"/>
                  </a:lnTo>
                  <a:lnTo>
                    <a:pt x="21431" y="2264568"/>
                  </a:lnTo>
                  <a:lnTo>
                    <a:pt x="44684" y="2280249"/>
                  </a:lnTo>
                  <a:lnTo>
                    <a:pt x="73151" y="2286000"/>
                  </a:lnTo>
                  <a:lnTo>
                    <a:pt x="2532888" y="2286000"/>
                  </a:lnTo>
                  <a:lnTo>
                    <a:pt x="2561355" y="2280249"/>
                  </a:lnTo>
                  <a:lnTo>
                    <a:pt x="2584608" y="2264568"/>
                  </a:lnTo>
                  <a:lnTo>
                    <a:pt x="2600289" y="2241315"/>
                  </a:lnTo>
                  <a:lnTo>
                    <a:pt x="2606040" y="2212848"/>
                  </a:lnTo>
                  <a:lnTo>
                    <a:pt x="2606040" y="73151"/>
                  </a:lnTo>
                  <a:lnTo>
                    <a:pt x="2600289" y="44684"/>
                  </a:lnTo>
                  <a:lnTo>
                    <a:pt x="2584608" y="21431"/>
                  </a:lnTo>
                  <a:lnTo>
                    <a:pt x="2561355" y="5750"/>
                  </a:lnTo>
                  <a:lnTo>
                    <a:pt x="2532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400799" y="2514599"/>
              <a:ext cx="2606040" cy="2286000"/>
            </a:xfrm>
            <a:custGeom>
              <a:avLst/>
              <a:gdLst/>
              <a:ahLst/>
              <a:cxnLst/>
              <a:rect l="l" t="t" r="r" b="b"/>
              <a:pathLst>
                <a:path w="2606040" h="22860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32888" y="0"/>
                  </a:lnTo>
                  <a:lnTo>
                    <a:pt x="2561355" y="5750"/>
                  </a:lnTo>
                  <a:lnTo>
                    <a:pt x="2584608" y="21431"/>
                  </a:lnTo>
                  <a:lnTo>
                    <a:pt x="2600289" y="44684"/>
                  </a:lnTo>
                  <a:lnTo>
                    <a:pt x="2606040" y="73151"/>
                  </a:lnTo>
                  <a:lnTo>
                    <a:pt x="2606040" y="2212848"/>
                  </a:lnTo>
                  <a:lnTo>
                    <a:pt x="2600289" y="2241315"/>
                  </a:lnTo>
                  <a:lnTo>
                    <a:pt x="2584608" y="2264568"/>
                  </a:lnTo>
                  <a:lnTo>
                    <a:pt x="2561355" y="2280249"/>
                  </a:lnTo>
                  <a:lnTo>
                    <a:pt x="2532888" y="2286000"/>
                  </a:lnTo>
                  <a:lnTo>
                    <a:pt x="73151" y="2286000"/>
                  </a:lnTo>
                  <a:lnTo>
                    <a:pt x="44684" y="2280249"/>
                  </a:lnTo>
                  <a:lnTo>
                    <a:pt x="21431" y="2264568"/>
                  </a:lnTo>
                  <a:lnTo>
                    <a:pt x="5750" y="2241315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2027" y="2770606"/>
              <a:ext cx="1181887" cy="118188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200899" y="283463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20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20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20" y="1005840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40" y="502920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2392" y="3096183"/>
              <a:ext cx="482803" cy="48280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811518" y="4025265"/>
            <a:ext cx="1788160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Service</a:t>
            </a:r>
            <a:r>
              <a:rPr dirty="0" sz="1600" spc="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runs</a:t>
            </a:r>
            <a:r>
              <a:rPr dirty="0" sz="1600" spc="-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1F3863"/>
                </a:solidFill>
                <a:latin typeface="Trebuchet MS"/>
                <a:cs typeface="Trebuchet MS"/>
              </a:rPr>
              <a:t>CRUD</a:t>
            </a:r>
            <a:endParaRPr sz="1600">
              <a:latin typeface="Trebuchet MS"/>
              <a:cs typeface="Trebuchet MS"/>
            </a:endParaRPr>
          </a:p>
          <a:p>
            <a:pPr marL="79375">
              <a:lnSpc>
                <a:spcPct val="100000"/>
              </a:lnSpc>
              <a:spcBef>
                <a:spcPts val="1325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db_service</a:t>
            </a:r>
            <a:r>
              <a:rPr dirty="0" sz="12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talks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SQLite.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006840" y="2444495"/>
            <a:ext cx="2989580" cy="2474595"/>
            <a:chOff x="9006840" y="2444495"/>
            <a:chExt cx="2989580" cy="2474595"/>
          </a:xfrm>
        </p:grpSpPr>
        <p:pic>
          <p:nvPicPr>
            <p:cNvPr id="32" name="object 3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6840" y="3401567"/>
              <a:ext cx="320040" cy="50292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1912" y="2444495"/>
              <a:ext cx="2794254" cy="247421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326880" y="2514599"/>
              <a:ext cx="2606040" cy="2286000"/>
            </a:xfrm>
            <a:custGeom>
              <a:avLst/>
              <a:gdLst/>
              <a:ahLst/>
              <a:cxnLst/>
              <a:rect l="l" t="t" r="r" b="b"/>
              <a:pathLst>
                <a:path w="2606040" h="2286000">
                  <a:moveTo>
                    <a:pt x="253288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212848"/>
                  </a:lnTo>
                  <a:lnTo>
                    <a:pt x="5750" y="2241315"/>
                  </a:lnTo>
                  <a:lnTo>
                    <a:pt x="21431" y="2264568"/>
                  </a:lnTo>
                  <a:lnTo>
                    <a:pt x="44684" y="2280249"/>
                  </a:lnTo>
                  <a:lnTo>
                    <a:pt x="73151" y="2286000"/>
                  </a:lnTo>
                  <a:lnTo>
                    <a:pt x="2532888" y="2286000"/>
                  </a:lnTo>
                  <a:lnTo>
                    <a:pt x="2561355" y="2280249"/>
                  </a:lnTo>
                  <a:lnTo>
                    <a:pt x="2584608" y="2264568"/>
                  </a:lnTo>
                  <a:lnTo>
                    <a:pt x="2600289" y="2241315"/>
                  </a:lnTo>
                  <a:lnTo>
                    <a:pt x="2606040" y="2212848"/>
                  </a:lnTo>
                  <a:lnTo>
                    <a:pt x="2606040" y="73151"/>
                  </a:lnTo>
                  <a:lnTo>
                    <a:pt x="2600289" y="44684"/>
                  </a:lnTo>
                  <a:lnTo>
                    <a:pt x="2584608" y="21431"/>
                  </a:lnTo>
                  <a:lnTo>
                    <a:pt x="2561355" y="5750"/>
                  </a:lnTo>
                  <a:lnTo>
                    <a:pt x="2532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326880" y="2514599"/>
              <a:ext cx="2606040" cy="2286000"/>
            </a:xfrm>
            <a:custGeom>
              <a:avLst/>
              <a:gdLst/>
              <a:ahLst/>
              <a:cxnLst/>
              <a:rect l="l" t="t" r="r" b="b"/>
              <a:pathLst>
                <a:path w="2606040" h="22860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532888" y="0"/>
                  </a:lnTo>
                  <a:lnTo>
                    <a:pt x="2561355" y="5750"/>
                  </a:lnTo>
                  <a:lnTo>
                    <a:pt x="2584608" y="21431"/>
                  </a:lnTo>
                  <a:lnTo>
                    <a:pt x="2600289" y="44684"/>
                  </a:lnTo>
                  <a:lnTo>
                    <a:pt x="2606040" y="73151"/>
                  </a:lnTo>
                  <a:lnTo>
                    <a:pt x="2606040" y="2212848"/>
                  </a:lnTo>
                  <a:lnTo>
                    <a:pt x="2600289" y="2241315"/>
                  </a:lnTo>
                  <a:lnTo>
                    <a:pt x="2584608" y="2264568"/>
                  </a:lnTo>
                  <a:lnTo>
                    <a:pt x="2561355" y="2280249"/>
                  </a:lnTo>
                  <a:lnTo>
                    <a:pt x="2532888" y="2286000"/>
                  </a:lnTo>
                  <a:lnTo>
                    <a:pt x="73151" y="2286000"/>
                  </a:lnTo>
                  <a:lnTo>
                    <a:pt x="44684" y="2280249"/>
                  </a:lnTo>
                  <a:lnTo>
                    <a:pt x="21431" y="2264568"/>
                  </a:lnTo>
                  <a:lnTo>
                    <a:pt x="5750" y="2241315"/>
                  </a:lnTo>
                  <a:lnTo>
                    <a:pt x="0" y="221284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8108" y="2770606"/>
              <a:ext cx="1181887" cy="118188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126980" y="283463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20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20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20" y="1005840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40" y="502920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88473" y="3096183"/>
              <a:ext cx="482803" cy="48280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666223" y="4025265"/>
            <a:ext cx="1929764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Refresh</a:t>
            </a:r>
            <a:r>
              <a:rPr dirty="0" sz="1600" spc="-1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1F3863"/>
                </a:solidFill>
                <a:latin typeface="Trebuchet MS"/>
                <a:cs typeface="Trebuchet MS"/>
              </a:rPr>
              <a:t>the</a:t>
            </a:r>
            <a:r>
              <a:rPr dirty="0" sz="160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1F3863"/>
                </a:solidFill>
                <a:latin typeface="Trebuchet MS"/>
                <a:cs typeface="Trebuchet MS"/>
              </a:rPr>
              <a:t>list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Screen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redraws</a:t>
            </a:r>
            <a:r>
              <a:rPr dirty="0" sz="12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with</a:t>
            </a:r>
            <a:r>
              <a:rPr dirty="0" sz="12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5B6656"/>
                </a:solidFill>
                <a:latin typeface="Calibri"/>
                <a:cs typeface="Calibri"/>
              </a:rPr>
              <a:t>new</a:t>
            </a:r>
            <a:r>
              <a:rPr dirty="0" sz="12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5B6656"/>
                </a:solidFill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8640" y="5166359"/>
            <a:ext cx="11064240" cy="822960"/>
            <a:chOff x="548640" y="5166359"/>
            <a:chExt cx="11064240" cy="822960"/>
          </a:xfrm>
        </p:grpSpPr>
        <p:sp>
          <p:nvSpPr>
            <p:cNvPr id="41" name="object 41"/>
            <p:cNvSpPr/>
            <p:nvPr/>
          </p:nvSpPr>
          <p:spPr>
            <a:xfrm>
              <a:off x="548640" y="5166359"/>
              <a:ext cx="11064240" cy="822960"/>
            </a:xfrm>
            <a:custGeom>
              <a:avLst/>
              <a:gdLst/>
              <a:ahLst/>
              <a:cxnLst/>
              <a:rect l="l" t="t" r="r" b="b"/>
              <a:pathLst>
                <a:path w="11064240" h="822960">
                  <a:moveTo>
                    <a:pt x="1099108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749807"/>
                  </a:lnTo>
                  <a:lnTo>
                    <a:pt x="5748" y="778281"/>
                  </a:lnTo>
                  <a:lnTo>
                    <a:pt x="21426" y="801533"/>
                  </a:lnTo>
                  <a:lnTo>
                    <a:pt x="44678" y="817211"/>
                  </a:lnTo>
                  <a:lnTo>
                    <a:pt x="73151" y="822959"/>
                  </a:lnTo>
                  <a:lnTo>
                    <a:pt x="10991088" y="822959"/>
                  </a:lnTo>
                  <a:lnTo>
                    <a:pt x="11019555" y="817211"/>
                  </a:lnTo>
                  <a:lnTo>
                    <a:pt x="11042808" y="801533"/>
                  </a:lnTo>
                  <a:lnTo>
                    <a:pt x="11058489" y="778281"/>
                  </a:lnTo>
                  <a:lnTo>
                    <a:pt x="11064240" y="749807"/>
                  </a:lnTo>
                  <a:lnTo>
                    <a:pt x="11064240" y="73151"/>
                  </a:lnTo>
                  <a:lnTo>
                    <a:pt x="11058489" y="44684"/>
                  </a:lnTo>
                  <a:lnTo>
                    <a:pt x="11042808" y="21431"/>
                  </a:lnTo>
                  <a:lnTo>
                    <a:pt x="11019555" y="5750"/>
                  </a:lnTo>
                  <a:lnTo>
                    <a:pt x="10991088" y="0"/>
                  </a:lnTo>
                  <a:close/>
                </a:path>
              </a:pathLst>
            </a:custGeom>
            <a:solidFill>
              <a:srgbClr val="ECE9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48640" y="5166359"/>
              <a:ext cx="109855" cy="822960"/>
            </a:xfrm>
            <a:custGeom>
              <a:avLst/>
              <a:gdLst/>
              <a:ahLst/>
              <a:cxnLst/>
              <a:rect l="l" t="t" r="r" b="b"/>
              <a:pathLst>
                <a:path w="109854" h="822960">
                  <a:moveTo>
                    <a:pt x="109728" y="0"/>
                  </a:moveTo>
                  <a:lnTo>
                    <a:pt x="0" y="0"/>
                  </a:lnTo>
                  <a:lnTo>
                    <a:pt x="0" y="822959"/>
                  </a:lnTo>
                  <a:lnTo>
                    <a:pt x="109728" y="822959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855980" y="5451144"/>
            <a:ext cx="929894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1F3863"/>
                </a:solidFill>
                <a:latin typeface="Calibri"/>
                <a:cs typeface="Calibri"/>
              </a:rPr>
              <a:t>Remember</a:t>
            </a:r>
            <a:r>
              <a:rPr dirty="0" sz="1350" spc="-6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F3863"/>
                </a:solidFill>
                <a:latin typeface="Calibri"/>
                <a:cs typeface="Calibri"/>
              </a:rPr>
              <a:t>the</a:t>
            </a:r>
            <a:r>
              <a:rPr dirty="0" sz="1350" spc="-60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1F3863"/>
                </a:solidFill>
                <a:latin typeface="Calibri"/>
                <a:cs typeface="Calibri"/>
              </a:rPr>
              <a:t>pattern:</a:t>
            </a:r>
            <a:r>
              <a:rPr dirty="0" sz="1350" spc="225" b="1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after</a:t>
            </a:r>
            <a:r>
              <a:rPr dirty="0" sz="1350" spc="-4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every</a:t>
            </a:r>
            <a:r>
              <a:rPr dirty="0" sz="1350" spc="-2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Create,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Update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or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Delete,</a:t>
            </a:r>
            <a:r>
              <a:rPr dirty="0" sz="135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we</a:t>
            </a:r>
            <a:r>
              <a:rPr dirty="0" sz="1350" spc="-4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call</a:t>
            </a:r>
            <a:r>
              <a:rPr dirty="0" sz="1350" spc="-2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refresh</a:t>
            </a:r>
            <a:r>
              <a:rPr dirty="0" sz="135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so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the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Read</a:t>
            </a:r>
            <a:r>
              <a:rPr dirty="0" sz="1350" spc="-3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happens</a:t>
            </a:r>
            <a:r>
              <a:rPr dirty="0" sz="1350" spc="-1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again</a:t>
            </a:r>
            <a:r>
              <a:rPr dirty="0" sz="1350" spc="-3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and</a:t>
            </a:r>
            <a:r>
              <a:rPr dirty="0" sz="1350" spc="-2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the</a:t>
            </a:r>
            <a:r>
              <a:rPr dirty="0" sz="1350" spc="-35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screen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stays</a:t>
            </a:r>
            <a:r>
              <a:rPr dirty="0" sz="1350" spc="-5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1C2B1C"/>
                </a:solidFill>
                <a:latin typeface="Calibri"/>
                <a:cs typeface="Calibri"/>
              </a:rPr>
              <a:t>in</a:t>
            </a:r>
            <a:r>
              <a:rPr dirty="0" sz="1350" spc="-40">
                <a:solidFill>
                  <a:srgbClr val="1C2B1C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1C2B1C"/>
                </a:solidFill>
                <a:latin typeface="Calibri"/>
                <a:cs typeface="Calibri"/>
              </a:rPr>
              <a:t>sync.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99999"/>
            <a:ext cx="27298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93215" algn="l"/>
              </a:tabLst>
            </a:pPr>
            <a:r>
              <a:rPr dirty="0" sz="1300" spc="-20" b="1">
                <a:solidFill>
                  <a:srgbClr val="C7850D"/>
                </a:solidFill>
                <a:latin typeface="Trebuchet MS"/>
                <a:cs typeface="Trebuchet MS"/>
              </a:rPr>
              <a:t>W</a:t>
            </a:r>
            <a:r>
              <a:rPr dirty="0" sz="1300" spc="-10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E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10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H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G</a:t>
            </a:r>
            <a:r>
              <a:rPr dirty="0" sz="1300" spc="-8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S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	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G</a:t>
            </a:r>
            <a:r>
              <a:rPr dirty="0" sz="1300" spc="-9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95" b="1">
                <a:solidFill>
                  <a:srgbClr val="C7850D"/>
                </a:solidFill>
                <a:latin typeface="Trebuchet MS"/>
                <a:cs typeface="Trebuchet MS"/>
              </a:rPr>
              <a:t>  </a:t>
            </a:r>
            <a:r>
              <a:rPr dirty="0" sz="1300" spc="-20" b="1">
                <a:solidFill>
                  <a:srgbClr val="C7850D"/>
                </a:solidFill>
                <a:latin typeface="Trebuchet MS"/>
                <a:cs typeface="Trebuchet MS"/>
              </a:rPr>
              <a:t>W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C7850D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C7850D"/>
                </a:solidFill>
                <a:latin typeface="Trebuchet MS"/>
                <a:cs typeface="Trebuchet MS"/>
              </a:rPr>
              <a:t>N</a:t>
            </a:r>
            <a:r>
              <a:rPr dirty="0" sz="1300" spc="-100" b="1">
                <a:solidFill>
                  <a:srgbClr val="C7850D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C7850D"/>
                </a:solidFill>
                <a:latin typeface="Trebuchet MS"/>
                <a:cs typeface="Trebuchet MS"/>
              </a:rPr>
              <a:t>G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Common</a:t>
            </a:r>
            <a:r>
              <a:rPr dirty="0" spc="-20"/>
              <a:t> </a:t>
            </a:r>
            <a:r>
              <a:rPr dirty="0"/>
              <a:t>Errors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How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Fix</a:t>
            </a:r>
            <a:r>
              <a:rPr dirty="0" spc="-105"/>
              <a:t> </a:t>
            </a:r>
            <a:r>
              <a:rPr dirty="0" spc="-20"/>
              <a:t>Them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70990"/>
            <a:ext cx="728408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Most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beginner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errors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are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small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500" spc="-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quick</a:t>
            </a:r>
            <a:r>
              <a:rPr dirty="0" sz="150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fix.</a:t>
            </a:r>
            <a:r>
              <a:rPr dirty="0" sz="150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Here</a:t>
            </a:r>
            <a:r>
              <a:rPr dirty="0" sz="150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are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ones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you</a:t>
            </a:r>
            <a:r>
              <a:rPr dirty="0" sz="1500" spc="-5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are</a:t>
            </a:r>
            <a:r>
              <a:rPr dirty="0" sz="150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most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likely</a:t>
            </a:r>
            <a:r>
              <a:rPr dirty="0" sz="150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50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5B6656"/>
                </a:solidFill>
                <a:latin typeface="Calibri"/>
                <a:cs typeface="Calibri"/>
              </a:rPr>
              <a:t>meet.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672" y="2078735"/>
            <a:ext cx="5629275" cy="1925955"/>
            <a:chOff x="423672" y="2078735"/>
            <a:chExt cx="5629275" cy="19259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2078735"/>
              <a:ext cx="5628894" cy="19255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8640" y="2148839"/>
              <a:ext cx="5440680" cy="1737360"/>
            </a:xfrm>
            <a:custGeom>
              <a:avLst/>
              <a:gdLst/>
              <a:ahLst/>
              <a:cxnLst/>
              <a:rect l="l" t="t" r="r" b="b"/>
              <a:pathLst>
                <a:path w="5440680" h="1737360">
                  <a:moveTo>
                    <a:pt x="5367528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1664208"/>
                  </a:lnTo>
                  <a:lnTo>
                    <a:pt x="5749" y="1692675"/>
                  </a:lnTo>
                  <a:lnTo>
                    <a:pt x="21428" y="1715928"/>
                  </a:lnTo>
                  <a:lnTo>
                    <a:pt x="44684" y="1731609"/>
                  </a:lnTo>
                  <a:lnTo>
                    <a:pt x="73164" y="1737360"/>
                  </a:lnTo>
                  <a:lnTo>
                    <a:pt x="5367528" y="1737360"/>
                  </a:lnTo>
                  <a:lnTo>
                    <a:pt x="5395995" y="1731609"/>
                  </a:lnTo>
                  <a:lnTo>
                    <a:pt x="5419248" y="1715928"/>
                  </a:lnTo>
                  <a:lnTo>
                    <a:pt x="5434929" y="1692675"/>
                  </a:lnTo>
                  <a:lnTo>
                    <a:pt x="5440680" y="1664208"/>
                  </a:lnTo>
                  <a:lnTo>
                    <a:pt x="5440680" y="73151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640" y="2148839"/>
              <a:ext cx="5440680" cy="1737360"/>
            </a:xfrm>
            <a:custGeom>
              <a:avLst/>
              <a:gdLst/>
              <a:ahLst/>
              <a:cxnLst/>
              <a:rect l="l" t="t" r="r" b="b"/>
              <a:pathLst>
                <a:path w="5440680" h="1737360">
                  <a:moveTo>
                    <a:pt x="0" y="73151"/>
                  </a:moveTo>
                  <a:lnTo>
                    <a:pt x="5749" y="44684"/>
                  </a:lnTo>
                  <a:lnTo>
                    <a:pt x="21428" y="21431"/>
                  </a:lnTo>
                  <a:lnTo>
                    <a:pt x="44684" y="5750"/>
                  </a:lnTo>
                  <a:lnTo>
                    <a:pt x="73164" y="0"/>
                  </a:lnTo>
                  <a:lnTo>
                    <a:pt x="5367528" y="0"/>
                  </a:lnTo>
                  <a:lnTo>
                    <a:pt x="5395995" y="5750"/>
                  </a:lnTo>
                  <a:lnTo>
                    <a:pt x="5419248" y="21431"/>
                  </a:lnTo>
                  <a:lnTo>
                    <a:pt x="5434929" y="44684"/>
                  </a:lnTo>
                  <a:lnTo>
                    <a:pt x="5440680" y="73151"/>
                  </a:lnTo>
                  <a:lnTo>
                    <a:pt x="5440680" y="1664208"/>
                  </a:lnTo>
                  <a:lnTo>
                    <a:pt x="5434929" y="1692675"/>
                  </a:lnTo>
                  <a:lnTo>
                    <a:pt x="5419248" y="1715928"/>
                  </a:lnTo>
                  <a:lnTo>
                    <a:pt x="5395995" y="1731609"/>
                  </a:lnTo>
                  <a:lnTo>
                    <a:pt x="5367528" y="1737360"/>
                  </a:lnTo>
                  <a:lnTo>
                    <a:pt x="73164" y="1737360"/>
                  </a:lnTo>
                  <a:lnTo>
                    <a:pt x="44684" y="1731609"/>
                  </a:lnTo>
                  <a:lnTo>
                    <a:pt x="21428" y="1715928"/>
                  </a:lnTo>
                  <a:lnTo>
                    <a:pt x="5749" y="1692675"/>
                  </a:lnTo>
                  <a:lnTo>
                    <a:pt x="0" y="166420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40" y="2148839"/>
              <a:ext cx="91440" cy="1737360"/>
            </a:xfrm>
            <a:custGeom>
              <a:avLst/>
              <a:gdLst/>
              <a:ahLst/>
              <a:cxnLst/>
              <a:rect l="l" t="t" r="r" b="b"/>
              <a:pathLst>
                <a:path w="91440" h="1737360">
                  <a:moveTo>
                    <a:pt x="9144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91440" y="173736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B13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088" y="2404871"/>
              <a:ext cx="953262" cy="9532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22960" y="246887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40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B13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042" y="2670987"/>
              <a:ext cx="373075" cy="3730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724914" y="2574798"/>
            <a:ext cx="280543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Wrong</a:t>
            </a:r>
            <a:r>
              <a:rPr dirty="0" sz="1550" spc="-3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project</a:t>
            </a:r>
            <a:r>
              <a:rPr dirty="0" sz="1550" spc="-4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name</a:t>
            </a:r>
            <a:r>
              <a:rPr dirty="0" sz="155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in</a:t>
            </a:r>
            <a:r>
              <a:rPr dirty="0" sz="15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import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24914" y="3171570"/>
            <a:ext cx="404114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import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uses</a:t>
            </a:r>
            <a:r>
              <a:rPr dirty="0" sz="12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wrong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app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name.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Match</a:t>
            </a:r>
            <a:r>
              <a:rPr dirty="0" sz="12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it</a:t>
            </a:r>
            <a:r>
              <a:rPr dirty="0" sz="12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to</a:t>
            </a:r>
            <a:r>
              <a:rPr dirty="0" sz="12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name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in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pubspec.yaml.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38671" y="2078735"/>
            <a:ext cx="5629275" cy="1925955"/>
            <a:chOff x="6138671" y="2078735"/>
            <a:chExt cx="5629275" cy="192595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8671" y="2078735"/>
              <a:ext cx="5628894" cy="19255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63639" y="2148839"/>
              <a:ext cx="5440680" cy="1737360"/>
            </a:xfrm>
            <a:custGeom>
              <a:avLst/>
              <a:gdLst/>
              <a:ahLst/>
              <a:cxnLst/>
              <a:rect l="l" t="t" r="r" b="b"/>
              <a:pathLst>
                <a:path w="5440680" h="1737360">
                  <a:moveTo>
                    <a:pt x="53675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664208"/>
                  </a:lnTo>
                  <a:lnTo>
                    <a:pt x="5750" y="1692675"/>
                  </a:lnTo>
                  <a:lnTo>
                    <a:pt x="21431" y="1715928"/>
                  </a:lnTo>
                  <a:lnTo>
                    <a:pt x="44684" y="1731609"/>
                  </a:lnTo>
                  <a:lnTo>
                    <a:pt x="73151" y="1737360"/>
                  </a:lnTo>
                  <a:lnTo>
                    <a:pt x="5367528" y="1737360"/>
                  </a:lnTo>
                  <a:lnTo>
                    <a:pt x="5395995" y="1731609"/>
                  </a:lnTo>
                  <a:lnTo>
                    <a:pt x="5419248" y="1715928"/>
                  </a:lnTo>
                  <a:lnTo>
                    <a:pt x="5434929" y="1692675"/>
                  </a:lnTo>
                  <a:lnTo>
                    <a:pt x="5440680" y="1664208"/>
                  </a:lnTo>
                  <a:lnTo>
                    <a:pt x="5440680" y="73151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63639" y="2148839"/>
              <a:ext cx="5440680" cy="1737360"/>
            </a:xfrm>
            <a:custGeom>
              <a:avLst/>
              <a:gdLst/>
              <a:ahLst/>
              <a:cxnLst/>
              <a:rect l="l" t="t" r="r" b="b"/>
              <a:pathLst>
                <a:path w="5440680" h="17373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367528" y="0"/>
                  </a:lnTo>
                  <a:lnTo>
                    <a:pt x="5395995" y="5750"/>
                  </a:lnTo>
                  <a:lnTo>
                    <a:pt x="5419248" y="21431"/>
                  </a:lnTo>
                  <a:lnTo>
                    <a:pt x="5434929" y="44684"/>
                  </a:lnTo>
                  <a:lnTo>
                    <a:pt x="5440680" y="73151"/>
                  </a:lnTo>
                  <a:lnTo>
                    <a:pt x="5440680" y="1664208"/>
                  </a:lnTo>
                  <a:lnTo>
                    <a:pt x="5434929" y="1692675"/>
                  </a:lnTo>
                  <a:lnTo>
                    <a:pt x="5419248" y="1715928"/>
                  </a:lnTo>
                  <a:lnTo>
                    <a:pt x="5395995" y="1731609"/>
                  </a:lnTo>
                  <a:lnTo>
                    <a:pt x="5367528" y="1737360"/>
                  </a:lnTo>
                  <a:lnTo>
                    <a:pt x="73151" y="1737360"/>
                  </a:lnTo>
                  <a:lnTo>
                    <a:pt x="44684" y="1731609"/>
                  </a:lnTo>
                  <a:lnTo>
                    <a:pt x="21431" y="1715928"/>
                  </a:lnTo>
                  <a:lnTo>
                    <a:pt x="5750" y="1692675"/>
                  </a:lnTo>
                  <a:lnTo>
                    <a:pt x="0" y="166420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263639" y="2148839"/>
              <a:ext cx="91440" cy="1737360"/>
            </a:xfrm>
            <a:custGeom>
              <a:avLst/>
              <a:gdLst/>
              <a:ahLst/>
              <a:cxnLst/>
              <a:rect l="l" t="t" r="r" b="b"/>
              <a:pathLst>
                <a:path w="91439" h="1737360">
                  <a:moveTo>
                    <a:pt x="91439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91439" y="173736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B13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9087" y="2404871"/>
              <a:ext cx="953262" cy="9532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537959" y="246887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40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B13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0016" y="2670987"/>
              <a:ext cx="373075" cy="37307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440548" y="2574798"/>
            <a:ext cx="117094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Forgot</a:t>
            </a:r>
            <a:r>
              <a:rPr dirty="0" sz="1550" spc="-114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await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40548" y="3171570"/>
            <a:ext cx="401701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result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comes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back</a:t>
            </a:r>
            <a:r>
              <a:rPr dirty="0" sz="125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empty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or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as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Future.</a:t>
            </a:r>
            <a:r>
              <a:rPr dirty="0" sz="1250" spc="-3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Add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await</a:t>
            </a:r>
            <a:r>
              <a:rPr dirty="0" sz="1250" spc="-3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before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database</a:t>
            </a:r>
            <a:r>
              <a:rPr dirty="0" sz="1250" spc="-4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call.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3672" y="4072128"/>
            <a:ext cx="5629275" cy="1925955"/>
            <a:chOff x="423672" y="4072128"/>
            <a:chExt cx="5629275" cy="192595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3672" y="4072128"/>
              <a:ext cx="5628894" cy="19255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48640" y="4142232"/>
              <a:ext cx="5440680" cy="1737360"/>
            </a:xfrm>
            <a:custGeom>
              <a:avLst/>
              <a:gdLst/>
              <a:ahLst/>
              <a:cxnLst/>
              <a:rect l="l" t="t" r="r" b="b"/>
              <a:pathLst>
                <a:path w="5440680" h="1737360">
                  <a:moveTo>
                    <a:pt x="5367528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2"/>
                  </a:lnTo>
                  <a:lnTo>
                    <a:pt x="0" y="1664195"/>
                  </a:lnTo>
                  <a:lnTo>
                    <a:pt x="5749" y="1692675"/>
                  </a:lnTo>
                  <a:lnTo>
                    <a:pt x="21428" y="1715931"/>
                  </a:lnTo>
                  <a:lnTo>
                    <a:pt x="44684" y="1731610"/>
                  </a:lnTo>
                  <a:lnTo>
                    <a:pt x="73164" y="1737360"/>
                  </a:lnTo>
                  <a:lnTo>
                    <a:pt x="5367528" y="1737360"/>
                  </a:lnTo>
                  <a:lnTo>
                    <a:pt x="5395995" y="1731610"/>
                  </a:lnTo>
                  <a:lnTo>
                    <a:pt x="5419248" y="1715931"/>
                  </a:lnTo>
                  <a:lnTo>
                    <a:pt x="5434929" y="1692675"/>
                  </a:lnTo>
                  <a:lnTo>
                    <a:pt x="5440680" y="1664195"/>
                  </a:lnTo>
                  <a:lnTo>
                    <a:pt x="5440680" y="73152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48640" y="4142232"/>
              <a:ext cx="5440680" cy="1737360"/>
            </a:xfrm>
            <a:custGeom>
              <a:avLst/>
              <a:gdLst/>
              <a:ahLst/>
              <a:cxnLst/>
              <a:rect l="l" t="t" r="r" b="b"/>
              <a:pathLst>
                <a:path w="5440680" h="1737360">
                  <a:moveTo>
                    <a:pt x="0" y="73152"/>
                  </a:moveTo>
                  <a:lnTo>
                    <a:pt x="5749" y="44684"/>
                  </a:lnTo>
                  <a:lnTo>
                    <a:pt x="21428" y="21431"/>
                  </a:lnTo>
                  <a:lnTo>
                    <a:pt x="44684" y="5750"/>
                  </a:lnTo>
                  <a:lnTo>
                    <a:pt x="73164" y="0"/>
                  </a:lnTo>
                  <a:lnTo>
                    <a:pt x="5367528" y="0"/>
                  </a:lnTo>
                  <a:lnTo>
                    <a:pt x="5395995" y="5750"/>
                  </a:lnTo>
                  <a:lnTo>
                    <a:pt x="5419248" y="21431"/>
                  </a:lnTo>
                  <a:lnTo>
                    <a:pt x="5434929" y="44684"/>
                  </a:lnTo>
                  <a:lnTo>
                    <a:pt x="5440680" y="73152"/>
                  </a:lnTo>
                  <a:lnTo>
                    <a:pt x="5440680" y="1664195"/>
                  </a:lnTo>
                  <a:lnTo>
                    <a:pt x="5434929" y="1692675"/>
                  </a:lnTo>
                  <a:lnTo>
                    <a:pt x="5419248" y="1715931"/>
                  </a:lnTo>
                  <a:lnTo>
                    <a:pt x="5395995" y="1731610"/>
                  </a:lnTo>
                  <a:lnTo>
                    <a:pt x="5367528" y="1737360"/>
                  </a:lnTo>
                  <a:lnTo>
                    <a:pt x="73164" y="1737360"/>
                  </a:lnTo>
                  <a:lnTo>
                    <a:pt x="44684" y="1731610"/>
                  </a:lnTo>
                  <a:lnTo>
                    <a:pt x="21428" y="1715931"/>
                  </a:lnTo>
                  <a:lnTo>
                    <a:pt x="5749" y="1692675"/>
                  </a:lnTo>
                  <a:lnTo>
                    <a:pt x="0" y="1664195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48640" y="4142232"/>
              <a:ext cx="91440" cy="1737360"/>
            </a:xfrm>
            <a:custGeom>
              <a:avLst/>
              <a:gdLst/>
              <a:ahLst/>
              <a:cxnLst/>
              <a:rect l="l" t="t" r="r" b="b"/>
              <a:pathLst>
                <a:path w="91440" h="1737360">
                  <a:moveTo>
                    <a:pt x="91440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91440" y="173736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B13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088" y="4398264"/>
              <a:ext cx="953262" cy="95326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22960" y="446227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19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39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19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B13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042" y="4664379"/>
              <a:ext cx="373075" cy="37307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724914" y="4568697"/>
            <a:ext cx="269875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NDK</a:t>
            </a:r>
            <a:r>
              <a:rPr dirty="0" sz="15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or</a:t>
            </a:r>
            <a:r>
              <a:rPr dirty="0" sz="1550" spc="-4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build</a:t>
            </a:r>
            <a:r>
              <a:rPr dirty="0" sz="1550" spc="-20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version</a:t>
            </a:r>
            <a:r>
              <a:rPr dirty="0" sz="1550" spc="-4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warning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24914" y="5260594"/>
            <a:ext cx="391731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Set</a:t>
            </a:r>
            <a:r>
              <a:rPr dirty="0" sz="125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required</a:t>
            </a: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ndkVersion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in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android/app/build.gradle.kts.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138671" y="4072128"/>
            <a:ext cx="5629275" cy="1925955"/>
            <a:chOff x="6138671" y="4072128"/>
            <a:chExt cx="5629275" cy="192595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8671" y="4072128"/>
              <a:ext cx="5628894" cy="192557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63639" y="4142232"/>
              <a:ext cx="5440680" cy="1737360"/>
            </a:xfrm>
            <a:custGeom>
              <a:avLst/>
              <a:gdLst/>
              <a:ahLst/>
              <a:cxnLst/>
              <a:rect l="l" t="t" r="r" b="b"/>
              <a:pathLst>
                <a:path w="5440680" h="1737360">
                  <a:moveTo>
                    <a:pt x="53675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664195"/>
                  </a:lnTo>
                  <a:lnTo>
                    <a:pt x="5750" y="1692675"/>
                  </a:lnTo>
                  <a:lnTo>
                    <a:pt x="21431" y="1715931"/>
                  </a:lnTo>
                  <a:lnTo>
                    <a:pt x="44684" y="1731610"/>
                  </a:lnTo>
                  <a:lnTo>
                    <a:pt x="73151" y="1737360"/>
                  </a:lnTo>
                  <a:lnTo>
                    <a:pt x="5367528" y="1737360"/>
                  </a:lnTo>
                  <a:lnTo>
                    <a:pt x="5395995" y="1731610"/>
                  </a:lnTo>
                  <a:lnTo>
                    <a:pt x="5419248" y="1715931"/>
                  </a:lnTo>
                  <a:lnTo>
                    <a:pt x="5434929" y="1692675"/>
                  </a:lnTo>
                  <a:lnTo>
                    <a:pt x="5440680" y="1664195"/>
                  </a:lnTo>
                  <a:lnTo>
                    <a:pt x="5440680" y="73152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263639" y="4142232"/>
              <a:ext cx="5440680" cy="1737360"/>
            </a:xfrm>
            <a:custGeom>
              <a:avLst/>
              <a:gdLst/>
              <a:ahLst/>
              <a:cxnLst/>
              <a:rect l="l" t="t" r="r" b="b"/>
              <a:pathLst>
                <a:path w="5440680" h="173736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367528" y="0"/>
                  </a:lnTo>
                  <a:lnTo>
                    <a:pt x="5395995" y="5750"/>
                  </a:lnTo>
                  <a:lnTo>
                    <a:pt x="5419248" y="21431"/>
                  </a:lnTo>
                  <a:lnTo>
                    <a:pt x="5434929" y="44684"/>
                  </a:lnTo>
                  <a:lnTo>
                    <a:pt x="5440680" y="73152"/>
                  </a:lnTo>
                  <a:lnTo>
                    <a:pt x="5440680" y="1664195"/>
                  </a:lnTo>
                  <a:lnTo>
                    <a:pt x="5434929" y="1692675"/>
                  </a:lnTo>
                  <a:lnTo>
                    <a:pt x="5419248" y="1715931"/>
                  </a:lnTo>
                  <a:lnTo>
                    <a:pt x="5395995" y="1731610"/>
                  </a:lnTo>
                  <a:lnTo>
                    <a:pt x="5367528" y="1737360"/>
                  </a:lnTo>
                  <a:lnTo>
                    <a:pt x="73151" y="1737360"/>
                  </a:lnTo>
                  <a:lnTo>
                    <a:pt x="44684" y="1731610"/>
                  </a:lnTo>
                  <a:lnTo>
                    <a:pt x="21431" y="1715931"/>
                  </a:lnTo>
                  <a:lnTo>
                    <a:pt x="5750" y="1692675"/>
                  </a:lnTo>
                  <a:lnTo>
                    <a:pt x="0" y="1664195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1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263639" y="4142232"/>
              <a:ext cx="91440" cy="1737360"/>
            </a:xfrm>
            <a:custGeom>
              <a:avLst/>
              <a:gdLst/>
              <a:ahLst/>
              <a:cxnLst/>
              <a:rect l="l" t="t" r="r" b="b"/>
              <a:pathLst>
                <a:path w="91439" h="1737360">
                  <a:moveTo>
                    <a:pt x="91439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91439" y="1737360"/>
                  </a:lnTo>
                  <a:lnTo>
                    <a:pt x="91439" y="0"/>
                  </a:lnTo>
                  <a:close/>
                </a:path>
              </a:pathLst>
            </a:custGeom>
            <a:solidFill>
              <a:srgbClr val="B13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9087" y="4398264"/>
              <a:ext cx="953262" cy="95326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537959" y="446227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19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39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19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B1394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0016" y="4664379"/>
              <a:ext cx="373075" cy="373075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7440548" y="4568697"/>
            <a:ext cx="219392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Emulator</a:t>
            </a:r>
            <a:r>
              <a:rPr dirty="0" sz="1550" spc="-3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out</a:t>
            </a:r>
            <a:r>
              <a:rPr dirty="0" sz="1550" spc="-4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b="1">
                <a:solidFill>
                  <a:srgbClr val="1F3863"/>
                </a:solidFill>
                <a:latin typeface="Trebuchet MS"/>
                <a:cs typeface="Trebuchet MS"/>
              </a:rPr>
              <a:t>of</a:t>
            </a:r>
            <a:r>
              <a:rPr dirty="0" sz="1550" spc="-55" b="1">
                <a:solidFill>
                  <a:srgbClr val="1F3863"/>
                </a:solidFill>
                <a:latin typeface="Trebuchet MS"/>
                <a:cs typeface="Trebuchet MS"/>
              </a:rPr>
              <a:t> </a:t>
            </a:r>
            <a:r>
              <a:rPr dirty="0" sz="1550" spc="-10" b="1">
                <a:solidFill>
                  <a:srgbClr val="1F3863"/>
                </a:solidFill>
                <a:latin typeface="Trebuchet MS"/>
                <a:cs typeface="Trebuchet MS"/>
              </a:rPr>
              <a:t>storage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Mobile</a:t>
            </a:r>
            <a:r>
              <a:rPr dirty="0" spc="-20"/>
              <a:t> </a:t>
            </a:r>
            <a:r>
              <a:rPr dirty="0"/>
              <a:t>Application System</a:t>
            </a:r>
            <a:r>
              <a:rPr dirty="0" spc="-25"/>
              <a:t> </a:t>
            </a:r>
            <a:r>
              <a:rPr dirty="0"/>
              <a:t>Design</a:t>
            </a:r>
            <a:r>
              <a:rPr dirty="0" spc="155"/>
              <a:t> </a:t>
            </a:r>
            <a:r>
              <a:rPr dirty="0"/>
              <a:t>•</a:t>
            </a:r>
            <a:r>
              <a:rPr dirty="0" spc="140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50"/>
              <a:t>7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4" name="object 44"/>
          <p:cNvSpPr txBox="1"/>
          <p:nvPr/>
        </p:nvSpPr>
        <p:spPr>
          <a:xfrm>
            <a:off x="7440548" y="5164912"/>
            <a:ext cx="399542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5B6656"/>
                </a:solidFill>
                <a:latin typeface="Calibri"/>
                <a:cs typeface="Calibri"/>
              </a:rPr>
              <a:t>INSTALL_FAILED_INSUFFICIENT_STORAGE.</a:t>
            </a:r>
            <a:r>
              <a:rPr dirty="0" sz="1250" spc="11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Wipe</a:t>
            </a:r>
            <a:r>
              <a:rPr dirty="0" sz="1250" spc="6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the</a:t>
            </a:r>
            <a:r>
              <a:rPr dirty="0" sz="1250" spc="5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emulator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data</a:t>
            </a:r>
            <a:r>
              <a:rPr dirty="0" sz="1250" spc="-40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and</a:t>
            </a:r>
            <a:r>
              <a:rPr dirty="0" sz="1250" spc="-1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B6656"/>
                </a:solidFill>
                <a:latin typeface="Calibri"/>
                <a:cs typeface="Calibri"/>
              </a:rPr>
              <a:t>run</a:t>
            </a:r>
            <a:r>
              <a:rPr dirty="0" sz="1250" spc="-25">
                <a:solidFill>
                  <a:srgbClr val="5B6656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B6656"/>
                </a:solidFill>
                <a:latin typeface="Calibri"/>
                <a:cs typeface="Calibri"/>
              </a:rPr>
              <a:t>again.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65100" cy="6858000"/>
          </a:xfrm>
          <a:custGeom>
            <a:avLst/>
            <a:gdLst/>
            <a:ahLst/>
            <a:cxnLst/>
            <a:rect l="l" t="t" r="r" b="b"/>
            <a:pathLst>
              <a:path w="165100" h="6858000">
                <a:moveTo>
                  <a:pt x="164592" y="0"/>
                </a:moveTo>
                <a:lnTo>
                  <a:pt x="0" y="0"/>
                </a:lnTo>
                <a:lnTo>
                  <a:pt x="0" y="6858000"/>
                </a:lnTo>
                <a:lnTo>
                  <a:pt x="164592" y="6858000"/>
                </a:lnTo>
                <a:lnTo>
                  <a:pt x="164592" y="0"/>
                </a:lnTo>
                <a:close/>
              </a:path>
            </a:pathLst>
          </a:custGeom>
          <a:solidFill>
            <a:srgbClr val="C785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7380" y="601726"/>
            <a:ext cx="18732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3C869"/>
                </a:solidFill>
                <a:latin typeface="Trebuchet MS"/>
                <a:cs typeface="Trebuchet MS"/>
              </a:rPr>
              <a:t>K</a:t>
            </a:r>
            <a:r>
              <a:rPr dirty="0" sz="1400" spc="-13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F3C869"/>
                </a:solidFill>
                <a:latin typeface="Trebuchet MS"/>
                <a:cs typeface="Trebuchet MS"/>
              </a:rPr>
              <a:t>E</a:t>
            </a:r>
            <a:r>
              <a:rPr dirty="0" sz="1400" spc="-12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3C869"/>
                </a:solidFill>
                <a:latin typeface="Trebuchet MS"/>
                <a:cs typeface="Trebuchet MS"/>
              </a:rPr>
              <a:t>Y</a:t>
            </a:r>
            <a:r>
              <a:rPr dirty="0" sz="1400" spc="85" b="1">
                <a:solidFill>
                  <a:srgbClr val="F3C869"/>
                </a:solidFill>
                <a:latin typeface="Trebuchet MS"/>
                <a:cs typeface="Trebuchet MS"/>
              </a:rPr>
              <a:t>  </a:t>
            </a:r>
            <a:r>
              <a:rPr dirty="0" sz="1400" spc="-10" b="1">
                <a:solidFill>
                  <a:srgbClr val="F3C869"/>
                </a:solidFill>
                <a:latin typeface="Trebuchet MS"/>
                <a:cs typeface="Trebuchet MS"/>
              </a:rPr>
              <a:t>T</a:t>
            </a:r>
            <a:r>
              <a:rPr dirty="0" sz="1400" spc="-12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3C869"/>
                </a:solidFill>
                <a:latin typeface="Trebuchet MS"/>
                <a:cs typeface="Trebuchet MS"/>
              </a:rPr>
              <a:t>A</a:t>
            </a:r>
            <a:r>
              <a:rPr dirty="0" sz="1400" spc="-125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3C869"/>
                </a:solidFill>
                <a:latin typeface="Trebuchet MS"/>
                <a:cs typeface="Trebuchet MS"/>
              </a:rPr>
              <a:t>K</a:t>
            </a:r>
            <a:r>
              <a:rPr dirty="0" sz="1400" spc="-13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F3C869"/>
                </a:solidFill>
                <a:latin typeface="Trebuchet MS"/>
                <a:cs typeface="Trebuchet MS"/>
              </a:rPr>
              <a:t>E</a:t>
            </a:r>
            <a:r>
              <a:rPr dirty="0" sz="1400" spc="-12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3C869"/>
                </a:solidFill>
                <a:latin typeface="Trebuchet MS"/>
                <a:cs typeface="Trebuchet MS"/>
              </a:rPr>
              <a:t>A</a:t>
            </a:r>
            <a:r>
              <a:rPr dirty="0" sz="1400" spc="-125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3C869"/>
                </a:solidFill>
                <a:latin typeface="Trebuchet MS"/>
                <a:cs typeface="Trebuchet MS"/>
              </a:rPr>
              <a:t>W</a:t>
            </a:r>
            <a:r>
              <a:rPr dirty="0" sz="1400" spc="-130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3C869"/>
                </a:solidFill>
                <a:latin typeface="Trebuchet MS"/>
                <a:cs typeface="Trebuchet MS"/>
              </a:rPr>
              <a:t>A</a:t>
            </a:r>
            <a:r>
              <a:rPr dirty="0" sz="1400" spc="-125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F3C869"/>
                </a:solidFill>
                <a:latin typeface="Trebuchet MS"/>
                <a:cs typeface="Trebuchet MS"/>
              </a:rPr>
              <a:t>Y</a:t>
            </a:r>
            <a:r>
              <a:rPr dirty="0" sz="1400" spc="-125" b="1">
                <a:solidFill>
                  <a:srgbClr val="F3C869"/>
                </a:solidFill>
                <a:latin typeface="Trebuchet MS"/>
                <a:cs typeface="Trebuchet MS"/>
              </a:rPr>
              <a:t> </a:t>
            </a:r>
            <a:r>
              <a:rPr dirty="0" sz="1400" spc="-50" b="1">
                <a:solidFill>
                  <a:srgbClr val="F3C869"/>
                </a:solidFill>
                <a:latin typeface="Trebuchet MS"/>
                <a:cs typeface="Trebuchet MS"/>
              </a:rPr>
              <a:t>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380" y="984249"/>
            <a:ext cx="3921760" cy="5435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>
                <a:solidFill>
                  <a:srgbClr val="FFFFFF"/>
                </a:solidFill>
              </a:rPr>
              <a:t>What</a:t>
            </a:r>
            <a:r>
              <a:rPr dirty="0" sz="3400" spc="-65">
                <a:solidFill>
                  <a:srgbClr val="FFFFFF"/>
                </a:solidFill>
              </a:rPr>
              <a:t> </a:t>
            </a:r>
            <a:r>
              <a:rPr dirty="0" sz="3400">
                <a:solidFill>
                  <a:srgbClr val="FFFFFF"/>
                </a:solidFill>
              </a:rPr>
              <a:t>to</a:t>
            </a:r>
            <a:r>
              <a:rPr dirty="0" sz="3400" spc="-70">
                <a:solidFill>
                  <a:srgbClr val="FFFFFF"/>
                </a:solidFill>
              </a:rPr>
              <a:t> </a:t>
            </a:r>
            <a:r>
              <a:rPr dirty="0" sz="3400" spc="-10">
                <a:solidFill>
                  <a:srgbClr val="FFFFFF"/>
                </a:solidFill>
              </a:rPr>
              <a:t>Remember</a:t>
            </a:r>
            <a:endParaRPr sz="3400"/>
          </a:p>
        </p:txBody>
      </p:sp>
      <p:grpSp>
        <p:nvGrpSpPr>
          <p:cNvPr id="6" name="object 6"/>
          <p:cNvGrpSpPr/>
          <p:nvPr/>
        </p:nvGrpSpPr>
        <p:grpSpPr>
          <a:xfrm>
            <a:off x="640080" y="1965960"/>
            <a:ext cx="5440680" cy="1828800"/>
            <a:chOff x="640080" y="1965960"/>
            <a:chExt cx="5440680" cy="1828800"/>
          </a:xfrm>
        </p:grpSpPr>
        <p:sp>
          <p:nvSpPr>
            <p:cNvPr id="7" name="object 7"/>
            <p:cNvSpPr/>
            <p:nvPr/>
          </p:nvSpPr>
          <p:spPr>
            <a:xfrm>
              <a:off x="640080" y="1965960"/>
              <a:ext cx="5440680" cy="1828800"/>
            </a:xfrm>
            <a:custGeom>
              <a:avLst/>
              <a:gdLst/>
              <a:ahLst/>
              <a:cxnLst/>
              <a:rect l="l" t="t" r="r" b="b"/>
              <a:pathLst>
                <a:path w="5440680" h="1828800">
                  <a:moveTo>
                    <a:pt x="536752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755647"/>
                  </a:lnTo>
                  <a:lnTo>
                    <a:pt x="5748" y="1784115"/>
                  </a:lnTo>
                  <a:lnTo>
                    <a:pt x="21426" y="1807368"/>
                  </a:lnTo>
                  <a:lnTo>
                    <a:pt x="44678" y="1823049"/>
                  </a:lnTo>
                  <a:lnTo>
                    <a:pt x="73151" y="1828800"/>
                  </a:lnTo>
                  <a:lnTo>
                    <a:pt x="5367528" y="1828800"/>
                  </a:lnTo>
                  <a:lnTo>
                    <a:pt x="5395995" y="1823049"/>
                  </a:lnTo>
                  <a:lnTo>
                    <a:pt x="5419248" y="1807368"/>
                  </a:lnTo>
                  <a:lnTo>
                    <a:pt x="5434929" y="1784115"/>
                  </a:lnTo>
                  <a:lnTo>
                    <a:pt x="5440680" y="1755647"/>
                  </a:lnTo>
                  <a:lnTo>
                    <a:pt x="5440680" y="73151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2A46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528" y="2313432"/>
              <a:ext cx="1090422" cy="109042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14400" y="237744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9"/>
                  </a:lnTo>
                  <a:lnTo>
                    <a:pt x="321243" y="20557"/>
                  </a:lnTo>
                  <a:lnTo>
                    <a:pt x="279238" y="35933"/>
                  </a:lnTo>
                  <a:lnTo>
                    <a:pt x="239272" y="55187"/>
                  </a:lnTo>
                  <a:lnTo>
                    <a:pt x="201576" y="78090"/>
                  </a:lnTo>
                  <a:lnTo>
                    <a:pt x="166379" y="104411"/>
                  </a:lnTo>
                  <a:lnTo>
                    <a:pt x="133911" y="133921"/>
                  </a:lnTo>
                  <a:lnTo>
                    <a:pt x="104403" y="166390"/>
                  </a:lnTo>
                  <a:lnTo>
                    <a:pt x="78083" y="201587"/>
                  </a:lnTo>
                  <a:lnTo>
                    <a:pt x="55182" y="239283"/>
                  </a:lnTo>
                  <a:lnTo>
                    <a:pt x="35929" y="279249"/>
                  </a:lnTo>
                  <a:lnTo>
                    <a:pt x="20555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8" y="549333"/>
                  </a:lnTo>
                  <a:lnTo>
                    <a:pt x="20555" y="593146"/>
                  </a:lnTo>
                  <a:lnTo>
                    <a:pt x="35929" y="635150"/>
                  </a:lnTo>
                  <a:lnTo>
                    <a:pt x="55182" y="675116"/>
                  </a:lnTo>
                  <a:lnTo>
                    <a:pt x="78083" y="712812"/>
                  </a:lnTo>
                  <a:lnTo>
                    <a:pt x="104403" y="748009"/>
                  </a:lnTo>
                  <a:lnTo>
                    <a:pt x="133911" y="780478"/>
                  </a:lnTo>
                  <a:lnTo>
                    <a:pt x="166379" y="809988"/>
                  </a:lnTo>
                  <a:lnTo>
                    <a:pt x="201576" y="836309"/>
                  </a:lnTo>
                  <a:lnTo>
                    <a:pt x="239272" y="859212"/>
                  </a:lnTo>
                  <a:lnTo>
                    <a:pt x="279238" y="878466"/>
                  </a:lnTo>
                  <a:lnTo>
                    <a:pt x="321243" y="893842"/>
                  </a:lnTo>
                  <a:lnTo>
                    <a:pt x="365059" y="905110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144" y="2615184"/>
              <a:ext cx="438912" cy="43891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999233" y="2360802"/>
            <a:ext cx="3828415" cy="10344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Pick</a:t>
            </a:r>
            <a:r>
              <a:rPr dirty="0" sz="1700" spc="-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700" spc="-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right</a:t>
            </a:r>
            <a:r>
              <a:rPr dirty="0" sz="17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Trebuchet MS"/>
                <a:cs typeface="Trebuchet MS"/>
              </a:rPr>
              <a:t>storage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Shared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9DCFB"/>
                </a:solidFill>
                <a:latin typeface="Calibri"/>
                <a:cs typeface="Calibri"/>
              </a:rPr>
              <a:t>preferences</a:t>
            </a:r>
            <a:r>
              <a:rPr dirty="0" sz="1250" spc="-2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for</a:t>
            </a:r>
            <a:r>
              <a:rPr dirty="0" sz="1250" spc="-3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small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settings,</a:t>
            </a:r>
            <a:r>
              <a:rPr dirty="0" sz="1250" spc="-6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SQLite</a:t>
            </a:r>
            <a:r>
              <a:rPr dirty="0" sz="1250" spc="-4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for</a:t>
            </a:r>
            <a:r>
              <a:rPr dirty="0" sz="1250" spc="-3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9DCFB"/>
                </a:solidFill>
                <a:latin typeface="Calibri"/>
                <a:cs typeface="Calibri"/>
              </a:rPr>
              <a:t>structured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local</a:t>
            </a:r>
            <a:r>
              <a:rPr dirty="0" sz="1250" spc="-4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data,</a:t>
            </a:r>
            <a:r>
              <a:rPr dirty="0" sz="1250" spc="-5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cloud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for</a:t>
            </a:r>
            <a:r>
              <a:rPr dirty="0" sz="1250" spc="-5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syncing</a:t>
            </a:r>
            <a:r>
              <a:rPr dirty="0" sz="1250" spc="-4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across</a:t>
            </a:r>
            <a:r>
              <a:rPr dirty="0" sz="1250" spc="-4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9DCFB"/>
                </a:solidFill>
                <a:latin typeface="Calibri"/>
                <a:cs typeface="Calibri"/>
              </a:rPr>
              <a:t>devices.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00800" y="1965960"/>
            <a:ext cx="5440680" cy="1828800"/>
            <a:chOff x="6400800" y="1965960"/>
            <a:chExt cx="5440680" cy="1828800"/>
          </a:xfrm>
        </p:grpSpPr>
        <p:sp>
          <p:nvSpPr>
            <p:cNvPr id="13" name="object 13"/>
            <p:cNvSpPr/>
            <p:nvPr/>
          </p:nvSpPr>
          <p:spPr>
            <a:xfrm>
              <a:off x="6400800" y="1965960"/>
              <a:ext cx="5440680" cy="1828800"/>
            </a:xfrm>
            <a:custGeom>
              <a:avLst/>
              <a:gdLst/>
              <a:ahLst/>
              <a:cxnLst/>
              <a:rect l="l" t="t" r="r" b="b"/>
              <a:pathLst>
                <a:path w="5440680" h="1828800">
                  <a:moveTo>
                    <a:pt x="53675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755647"/>
                  </a:lnTo>
                  <a:lnTo>
                    <a:pt x="5750" y="1784115"/>
                  </a:lnTo>
                  <a:lnTo>
                    <a:pt x="21431" y="1807368"/>
                  </a:lnTo>
                  <a:lnTo>
                    <a:pt x="44684" y="1823049"/>
                  </a:lnTo>
                  <a:lnTo>
                    <a:pt x="73151" y="1828800"/>
                  </a:lnTo>
                  <a:lnTo>
                    <a:pt x="5367528" y="1828800"/>
                  </a:lnTo>
                  <a:lnTo>
                    <a:pt x="5395995" y="1823049"/>
                  </a:lnTo>
                  <a:lnTo>
                    <a:pt x="5419248" y="1807368"/>
                  </a:lnTo>
                  <a:lnTo>
                    <a:pt x="5434929" y="1784115"/>
                  </a:lnTo>
                  <a:lnTo>
                    <a:pt x="5440680" y="1755647"/>
                  </a:lnTo>
                  <a:lnTo>
                    <a:pt x="5440680" y="73151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2A46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6247" y="2313432"/>
              <a:ext cx="1090422" cy="109042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75120" y="237744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2863" y="2615184"/>
              <a:ext cx="438912" cy="43891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760589" y="2360802"/>
            <a:ext cx="3702050" cy="10344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SQLite</a:t>
            </a:r>
            <a:r>
              <a:rPr dirty="0" sz="1700" spc="-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lives</a:t>
            </a:r>
            <a:r>
              <a:rPr dirty="0" sz="1700" spc="-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7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700" spc="-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Trebuchet MS"/>
                <a:cs typeface="Trebuchet MS"/>
              </a:rPr>
              <a:t>phone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The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sqflite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package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is</a:t>
            </a:r>
            <a:r>
              <a:rPr dirty="0" sz="1250" spc="-4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the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bridge</a:t>
            </a:r>
            <a:r>
              <a:rPr dirty="0" sz="1250" spc="-2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between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Flutter</a:t>
            </a:r>
            <a:r>
              <a:rPr dirty="0" sz="1250" spc="-5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C9DCFB"/>
                </a:solidFill>
                <a:latin typeface="Calibri"/>
                <a:cs typeface="Calibri"/>
              </a:rPr>
              <a:t> the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local</a:t>
            </a:r>
            <a:r>
              <a:rPr dirty="0" sz="1250" spc="-3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9DCFB"/>
                </a:solidFill>
                <a:latin typeface="Calibri"/>
                <a:cs typeface="Calibri"/>
              </a:rPr>
              <a:t>database.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0080" y="4114800"/>
            <a:ext cx="5440680" cy="1828800"/>
            <a:chOff x="640080" y="4114800"/>
            <a:chExt cx="5440680" cy="1828800"/>
          </a:xfrm>
        </p:grpSpPr>
        <p:sp>
          <p:nvSpPr>
            <p:cNvPr id="19" name="object 19"/>
            <p:cNvSpPr/>
            <p:nvPr/>
          </p:nvSpPr>
          <p:spPr>
            <a:xfrm>
              <a:off x="640080" y="4114800"/>
              <a:ext cx="5440680" cy="1828800"/>
            </a:xfrm>
            <a:custGeom>
              <a:avLst/>
              <a:gdLst/>
              <a:ahLst/>
              <a:cxnLst/>
              <a:rect l="l" t="t" r="r" b="b"/>
              <a:pathLst>
                <a:path w="5440680" h="1828800">
                  <a:moveTo>
                    <a:pt x="536752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755648"/>
                  </a:lnTo>
                  <a:lnTo>
                    <a:pt x="5748" y="1784121"/>
                  </a:lnTo>
                  <a:lnTo>
                    <a:pt x="21426" y="1807373"/>
                  </a:lnTo>
                  <a:lnTo>
                    <a:pt x="44678" y="1823051"/>
                  </a:lnTo>
                  <a:lnTo>
                    <a:pt x="73151" y="1828800"/>
                  </a:lnTo>
                  <a:lnTo>
                    <a:pt x="5367528" y="1828800"/>
                  </a:lnTo>
                  <a:lnTo>
                    <a:pt x="5395995" y="1823051"/>
                  </a:lnTo>
                  <a:lnTo>
                    <a:pt x="5419248" y="1807373"/>
                  </a:lnTo>
                  <a:lnTo>
                    <a:pt x="5434929" y="1784121"/>
                  </a:lnTo>
                  <a:lnTo>
                    <a:pt x="5440680" y="1755648"/>
                  </a:lnTo>
                  <a:lnTo>
                    <a:pt x="5440680" y="73151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2A46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528" y="4462272"/>
              <a:ext cx="1090422" cy="109042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4400" y="45262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9"/>
                  </a:lnTo>
                  <a:lnTo>
                    <a:pt x="321243" y="20557"/>
                  </a:lnTo>
                  <a:lnTo>
                    <a:pt x="279238" y="35933"/>
                  </a:lnTo>
                  <a:lnTo>
                    <a:pt x="239272" y="55187"/>
                  </a:lnTo>
                  <a:lnTo>
                    <a:pt x="201576" y="78090"/>
                  </a:lnTo>
                  <a:lnTo>
                    <a:pt x="166379" y="104411"/>
                  </a:lnTo>
                  <a:lnTo>
                    <a:pt x="133911" y="133921"/>
                  </a:lnTo>
                  <a:lnTo>
                    <a:pt x="104403" y="166390"/>
                  </a:lnTo>
                  <a:lnTo>
                    <a:pt x="78083" y="201587"/>
                  </a:lnTo>
                  <a:lnTo>
                    <a:pt x="55182" y="239283"/>
                  </a:lnTo>
                  <a:lnTo>
                    <a:pt x="35929" y="279249"/>
                  </a:lnTo>
                  <a:lnTo>
                    <a:pt x="20555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8" y="549333"/>
                  </a:lnTo>
                  <a:lnTo>
                    <a:pt x="20555" y="593146"/>
                  </a:lnTo>
                  <a:lnTo>
                    <a:pt x="35929" y="635150"/>
                  </a:lnTo>
                  <a:lnTo>
                    <a:pt x="55182" y="675116"/>
                  </a:lnTo>
                  <a:lnTo>
                    <a:pt x="78083" y="712812"/>
                  </a:lnTo>
                  <a:lnTo>
                    <a:pt x="104403" y="748009"/>
                  </a:lnTo>
                  <a:lnTo>
                    <a:pt x="133911" y="780478"/>
                  </a:lnTo>
                  <a:lnTo>
                    <a:pt x="166379" y="809988"/>
                  </a:lnTo>
                  <a:lnTo>
                    <a:pt x="201576" y="836309"/>
                  </a:lnTo>
                  <a:lnTo>
                    <a:pt x="239272" y="859212"/>
                  </a:lnTo>
                  <a:lnTo>
                    <a:pt x="279238" y="878466"/>
                  </a:lnTo>
                  <a:lnTo>
                    <a:pt x="321243" y="893842"/>
                  </a:lnTo>
                  <a:lnTo>
                    <a:pt x="365059" y="905110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2144" y="4764023"/>
              <a:ext cx="438912" cy="43891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999233" y="4509896"/>
            <a:ext cx="3680460" cy="1034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Database</a:t>
            </a:r>
            <a:r>
              <a:rPr dirty="0" sz="1700" spc="-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calls</a:t>
            </a:r>
            <a:r>
              <a:rPr dirty="0" sz="1700" spc="-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17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Trebuchet MS"/>
                <a:cs typeface="Trebuchet MS"/>
              </a:rPr>
              <a:t>async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Use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Future</a:t>
            </a:r>
            <a:r>
              <a:rPr dirty="0" sz="1250" spc="-2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and</a:t>
            </a:r>
            <a:r>
              <a:rPr dirty="0" sz="1250" spc="-1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await</a:t>
            </a:r>
            <a:r>
              <a:rPr dirty="0" sz="1250" spc="-3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so</a:t>
            </a:r>
            <a:r>
              <a:rPr dirty="0" sz="1250" spc="-2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the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app</a:t>
            </a:r>
            <a:r>
              <a:rPr dirty="0" sz="1250" spc="-1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9DCFB"/>
                </a:solidFill>
                <a:latin typeface="Calibri"/>
                <a:cs typeface="Calibri"/>
              </a:rPr>
              <a:t>stays</a:t>
            </a:r>
            <a:r>
              <a:rPr dirty="0" sz="1250" spc="-4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smooth</a:t>
            </a:r>
            <a:r>
              <a:rPr dirty="0" sz="1250" spc="-2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9DCFB"/>
                </a:solidFill>
                <a:latin typeface="Calibri"/>
                <a:cs typeface="Calibri"/>
              </a:rPr>
              <a:t>never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10">
                <a:solidFill>
                  <a:srgbClr val="C9DCFB"/>
                </a:solidFill>
                <a:latin typeface="Calibri"/>
                <a:cs typeface="Calibri"/>
              </a:rPr>
              <a:t>freezes</a:t>
            </a:r>
            <a:r>
              <a:rPr dirty="0" sz="1250" spc="-1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while</a:t>
            </a:r>
            <a:r>
              <a:rPr dirty="0" sz="1250" spc="-3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C9DCFB"/>
                </a:solidFill>
                <a:latin typeface="Calibri"/>
                <a:cs typeface="Calibri"/>
              </a:rPr>
              <a:t>waiting.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00800" y="4114800"/>
            <a:ext cx="5440680" cy="1828800"/>
            <a:chOff x="6400800" y="4114800"/>
            <a:chExt cx="5440680" cy="1828800"/>
          </a:xfrm>
        </p:grpSpPr>
        <p:sp>
          <p:nvSpPr>
            <p:cNvPr id="25" name="object 25"/>
            <p:cNvSpPr/>
            <p:nvPr/>
          </p:nvSpPr>
          <p:spPr>
            <a:xfrm>
              <a:off x="6400800" y="4114800"/>
              <a:ext cx="5440680" cy="1828800"/>
            </a:xfrm>
            <a:custGeom>
              <a:avLst/>
              <a:gdLst/>
              <a:ahLst/>
              <a:cxnLst/>
              <a:rect l="l" t="t" r="r" b="b"/>
              <a:pathLst>
                <a:path w="5440680" h="1828800">
                  <a:moveTo>
                    <a:pt x="536752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755648"/>
                  </a:lnTo>
                  <a:lnTo>
                    <a:pt x="5750" y="1784121"/>
                  </a:lnTo>
                  <a:lnTo>
                    <a:pt x="21431" y="1807373"/>
                  </a:lnTo>
                  <a:lnTo>
                    <a:pt x="44684" y="1823051"/>
                  </a:lnTo>
                  <a:lnTo>
                    <a:pt x="73151" y="1828800"/>
                  </a:lnTo>
                  <a:lnTo>
                    <a:pt x="5367528" y="1828800"/>
                  </a:lnTo>
                  <a:lnTo>
                    <a:pt x="5395995" y="1823051"/>
                  </a:lnTo>
                  <a:lnTo>
                    <a:pt x="5419248" y="1807373"/>
                  </a:lnTo>
                  <a:lnTo>
                    <a:pt x="5434929" y="1784121"/>
                  </a:lnTo>
                  <a:lnTo>
                    <a:pt x="5440680" y="1755648"/>
                  </a:lnTo>
                  <a:lnTo>
                    <a:pt x="5440680" y="73151"/>
                  </a:lnTo>
                  <a:lnTo>
                    <a:pt x="5434929" y="44684"/>
                  </a:lnTo>
                  <a:lnTo>
                    <a:pt x="5419248" y="21431"/>
                  </a:lnTo>
                  <a:lnTo>
                    <a:pt x="5395995" y="5750"/>
                  </a:lnTo>
                  <a:lnTo>
                    <a:pt x="5367528" y="0"/>
                  </a:lnTo>
                  <a:close/>
                </a:path>
              </a:pathLst>
            </a:custGeom>
            <a:solidFill>
              <a:srgbClr val="2A467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6247" y="4462272"/>
              <a:ext cx="1090422" cy="109042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75120" y="45262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785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2863" y="4764023"/>
              <a:ext cx="438912" cy="43891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760589" y="4509896"/>
            <a:ext cx="3681729" cy="1034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Everything</a:t>
            </a:r>
            <a:r>
              <a:rPr dirty="0" sz="170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1700" spc="-20" b="1">
                <a:solidFill>
                  <a:srgbClr val="FFFFFF"/>
                </a:solidFill>
                <a:latin typeface="Trebuchet MS"/>
                <a:cs typeface="Trebuchet MS"/>
              </a:rPr>
              <a:t> CRUD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Create,</a:t>
            </a:r>
            <a:r>
              <a:rPr dirty="0" sz="1250" spc="-5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Read,</a:t>
            </a:r>
            <a:r>
              <a:rPr dirty="0" sz="1250" spc="-5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Update,</a:t>
            </a:r>
            <a:r>
              <a:rPr dirty="0" sz="1250" spc="-4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Delete.</a:t>
            </a:r>
            <a:r>
              <a:rPr dirty="0" sz="1250" spc="-5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Master</a:t>
            </a:r>
            <a:r>
              <a:rPr dirty="0" sz="1250" spc="-6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these</a:t>
            </a:r>
            <a:r>
              <a:rPr dirty="0" sz="1250" spc="-4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four</a:t>
            </a:r>
            <a:r>
              <a:rPr dirty="0" sz="1250" spc="-5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and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C9DCFB"/>
                </a:solidFill>
                <a:latin typeface="Calibri"/>
                <a:cs typeface="Calibri"/>
              </a:rPr>
              <a:t>you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can</a:t>
            </a:r>
            <a:r>
              <a:rPr dirty="0" sz="125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build</a:t>
            </a:r>
            <a:r>
              <a:rPr dirty="0" sz="1250" spc="-2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any</a:t>
            </a:r>
            <a:r>
              <a:rPr dirty="0" sz="1250" spc="-4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C9DCFB"/>
                </a:solidFill>
                <a:latin typeface="Calibri"/>
                <a:cs typeface="Calibri"/>
              </a:rPr>
              <a:t>data</a:t>
            </a:r>
            <a:r>
              <a:rPr dirty="0" sz="1250" spc="-4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C9DCFB"/>
                </a:solidFill>
                <a:latin typeface="Calibri"/>
                <a:cs typeface="Calibri"/>
              </a:rPr>
              <a:t>app.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7380" y="6233871"/>
            <a:ext cx="44183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Next:</a:t>
            </a:r>
            <a:r>
              <a:rPr dirty="0" sz="1300" spc="-15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we build</a:t>
            </a:r>
            <a:r>
              <a:rPr dirty="0" sz="1300" spc="-4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a</a:t>
            </a:r>
            <a:r>
              <a:rPr dirty="0" sz="1300" spc="-2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real</a:t>
            </a:r>
            <a:r>
              <a:rPr dirty="0" sz="1300" spc="-1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CRUD</a:t>
            </a:r>
            <a:r>
              <a:rPr dirty="0" sz="1300" spc="-5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app</a:t>
            </a:r>
            <a:r>
              <a:rPr dirty="0" sz="1300" spc="-3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together</a:t>
            </a:r>
            <a:r>
              <a:rPr dirty="0" sz="1300" spc="-15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in</a:t>
            </a:r>
            <a:r>
              <a:rPr dirty="0" sz="1300" spc="-15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the</a:t>
            </a:r>
            <a:r>
              <a:rPr dirty="0" sz="1300" spc="-1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i="1">
                <a:solidFill>
                  <a:srgbClr val="F3C869"/>
                </a:solidFill>
                <a:latin typeface="Calibri"/>
                <a:cs typeface="Calibri"/>
              </a:rPr>
              <a:t>hands-on</a:t>
            </a:r>
            <a:r>
              <a:rPr dirty="0" sz="1300" spc="-30" i="1">
                <a:solidFill>
                  <a:srgbClr val="F3C869"/>
                </a:solidFill>
                <a:latin typeface="Calibri"/>
                <a:cs typeface="Calibri"/>
              </a:rPr>
              <a:t> </a:t>
            </a:r>
            <a:r>
              <a:rPr dirty="0" sz="1300" spc="-10" i="1">
                <a:solidFill>
                  <a:srgbClr val="F3C869"/>
                </a:solidFill>
                <a:latin typeface="Calibri"/>
                <a:cs typeface="Calibri"/>
              </a:rPr>
              <a:t>practice.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12209" y="2864357"/>
            <a:ext cx="4767580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4000" b="0">
                <a:solidFill>
                  <a:srgbClr val="000000"/>
                </a:solidFill>
                <a:latin typeface="Calibri"/>
                <a:cs typeface="Calibri"/>
              </a:rPr>
              <a:t>HANDS</a:t>
            </a:r>
            <a:r>
              <a:rPr dirty="0" sz="400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000" b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dirty="0" sz="400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000" b="0">
                <a:solidFill>
                  <a:srgbClr val="000000"/>
                </a:solidFill>
                <a:latin typeface="Calibri"/>
                <a:cs typeface="Calibri"/>
              </a:rPr>
              <a:t>ON</a:t>
            </a:r>
            <a:r>
              <a:rPr dirty="0" sz="400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000" spc="-10" b="0">
                <a:solidFill>
                  <a:srgbClr val="000000"/>
                </a:solidFill>
                <a:latin typeface="Calibri"/>
                <a:cs typeface="Calibri"/>
              </a:rPr>
              <a:t>PRACTICE</a:t>
            </a:r>
            <a:endParaRPr sz="40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4000" b="0">
                <a:solidFill>
                  <a:srgbClr val="000000"/>
                </a:solidFill>
                <a:latin typeface="Calibri"/>
                <a:cs typeface="Calibri"/>
              </a:rPr>
              <a:t>(SQLite</a:t>
            </a:r>
            <a:r>
              <a:rPr dirty="0" sz="400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000" b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dirty="0" sz="400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000" b="0">
                <a:solidFill>
                  <a:srgbClr val="000000"/>
                </a:solidFill>
                <a:latin typeface="Calibri"/>
                <a:cs typeface="Calibri"/>
              </a:rPr>
              <a:t>Notes</a:t>
            </a:r>
            <a:r>
              <a:rPr dirty="0" sz="400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4000" spc="-20" b="0">
                <a:solidFill>
                  <a:srgbClr val="000000"/>
                </a:solidFill>
                <a:latin typeface="Calibri"/>
                <a:cs typeface="Calibri"/>
              </a:rPr>
              <a:t>App)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Nurul Amera Muhamad Nazmi</dc:creator>
  <dc:subject>PptxGenJS Presentation</dc:subject>
  <dc:title>Data Storage with SQLite (CRUD) in Flutter</dc:title>
  <dcterms:created xsi:type="dcterms:W3CDTF">2026-06-19T09:40:58Z</dcterms:created>
  <dcterms:modified xsi:type="dcterms:W3CDTF">2026-06-19T09:40:58Z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2026-06-08T00:00:00Z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2026-06-19T00:00:00Z</vt:filetime>
  </property>
  <property fmtid="{D5CDD505-2E9C-101B-9397-08002B2CF9AE}" pid="6" name="Producer">
    <vt:lpwstr>Microsoft® PowerPoint® 2021</vt:lpwstr>
  </property>
</Properties>
</file>