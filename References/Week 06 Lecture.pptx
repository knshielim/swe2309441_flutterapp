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50977" y="1510410"/>
            <a:ext cx="5440045" cy="3689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400" y="6268203"/>
            <a:ext cx="1752600" cy="5897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268208"/>
            <a:ext cx="10439400" cy="589915"/>
          </a:xfrm>
          <a:custGeom>
            <a:avLst/>
            <a:gdLst/>
            <a:ahLst/>
            <a:cxnLst/>
            <a:rect l="l" t="t" r="r" b="b"/>
            <a:pathLst>
              <a:path w="10439400" h="589915">
                <a:moveTo>
                  <a:pt x="10439400" y="0"/>
                </a:moveTo>
                <a:lnTo>
                  <a:pt x="0" y="0"/>
                </a:lnTo>
                <a:lnTo>
                  <a:pt x="0" y="589788"/>
                </a:lnTo>
                <a:lnTo>
                  <a:pt x="10439400" y="589788"/>
                </a:lnTo>
                <a:lnTo>
                  <a:pt x="10439400" y="0"/>
                </a:lnTo>
                <a:close/>
              </a:path>
            </a:pathLst>
          </a:custGeom>
          <a:solidFill>
            <a:srgbClr val="1F3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1515999"/>
            <a:ext cx="4372609" cy="35914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39400" y="6268203"/>
            <a:ext cx="1752600" cy="58978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268208"/>
            <a:ext cx="10439400" cy="589915"/>
          </a:xfrm>
          <a:custGeom>
            <a:avLst/>
            <a:gdLst/>
            <a:ahLst/>
            <a:cxnLst/>
            <a:rect l="l" t="t" r="r" b="b"/>
            <a:pathLst>
              <a:path w="10439400" h="589915">
                <a:moveTo>
                  <a:pt x="10439400" y="0"/>
                </a:moveTo>
                <a:lnTo>
                  <a:pt x="0" y="0"/>
                </a:lnTo>
                <a:lnTo>
                  <a:pt x="0" y="589788"/>
                </a:lnTo>
                <a:lnTo>
                  <a:pt x="10439400" y="589788"/>
                </a:lnTo>
                <a:lnTo>
                  <a:pt x="10439400" y="0"/>
                </a:lnTo>
                <a:close/>
              </a:path>
            </a:pathLst>
          </a:custGeom>
          <a:solidFill>
            <a:srgbClr val="1F3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520" y="197942"/>
            <a:ext cx="750570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4479" y="1725625"/>
            <a:ext cx="4958715" cy="3018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1.jpg"/><Relationship Id="rId4" Type="http://schemas.openxmlformats.org/officeDocument/2006/relationships/image" Target="../media/image2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12192000" cy="951230"/>
            <a:chOff x="0" y="6095"/>
            <a:chExt cx="12192000" cy="951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81971" y="6095"/>
              <a:ext cx="2510028" cy="95097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095"/>
              <a:ext cx="9680575" cy="951230"/>
            </a:xfrm>
            <a:custGeom>
              <a:avLst/>
              <a:gdLst/>
              <a:ahLst/>
              <a:cxnLst/>
              <a:rect l="l" t="t" r="r" b="b"/>
              <a:pathLst>
                <a:path w="9680575" h="951230">
                  <a:moveTo>
                    <a:pt x="9680448" y="0"/>
                  </a:moveTo>
                  <a:lnTo>
                    <a:pt x="0" y="0"/>
                  </a:lnTo>
                  <a:lnTo>
                    <a:pt x="0" y="950976"/>
                  </a:lnTo>
                  <a:lnTo>
                    <a:pt x="9680448" y="950976"/>
                  </a:lnTo>
                  <a:lnTo>
                    <a:pt x="9680448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46907" y="2402204"/>
            <a:ext cx="63969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5">
                <a:solidFill>
                  <a:srgbClr val="1F1F1F"/>
                </a:solidFill>
              </a:rPr>
              <a:t>Mobile</a:t>
            </a:r>
            <a:r>
              <a:rPr dirty="0" sz="3600" spc="-145">
                <a:solidFill>
                  <a:srgbClr val="1F1F1F"/>
                </a:solidFill>
              </a:rPr>
              <a:t> </a:t>
            </a:r>
            <a:r>
              <a:rPr dirty="0" sz="3600" spc="-40">
                <a:solidFill>
                  <a:srgbClr val="1F1F1F"/>
                </a:solidFill>
              </a:rPr>
              <a:t>Application</a:t>
            </a:r>
            <a:r>
              <a:rPr dirty="0" sz="3600" spc="-145">
                <a:solidFill>
                  <a:srgbClr val="1F1F1F"/>
                </a:solidFill>
              </a:rPr>
              <a:t> </a:t>
            </a:r>
            <a:r>
              <a:rPr dirty="0" sz="3600">
                <a:solidFill>
                  <a:srgbClr val="1F1F1F"/>
                </a:solidFill>
              </a:rPr>
              <a:t>System</a:t>
            </a:r>
            <a:r>
              <a:rPr dirty="0" sz="3600" spc="-170">
                <a:solidFill>
                  <a:srgbClr val="1F1F1F"/>
                </a:solidFill>
              </a:rPr>
              <a:t> </a:t>
            </a:r>
            <a:r>
              <a:rPr dirty="0" sz="3600" spc="-10">
                <a:solidFill>
                  <a:srgbClr val="1F1F1F"/>
                </a:solidFill>
              </a:rPr>
              <a:t>Design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2844800" y="3389833"/>
            <a:ext cx="6744334" cy="156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3600" spc="-20" b="1">
                <a:solidFill>
                  <a:srgbClr val="1F1F1F"/>
                </a:solidFill>
                <a:latin typeface="Calibri"/>
                <a:cs typeface="Calibri"/>
              </a:rPr>
              <a:t>(Chapter</a:t>
            </a:r>
            <a:r>
              <a:rPr dirty="0" sz="3600" spc="-12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3600" spc="-25" b="1">
                <a:solidFill>
                  <a:srgbClr val="1F1F1F"/>
                </a:solidFill>
                <a:latin typeface="Calibri"/>
                <a:cs typeface="Calibri"/>
              </a:rPr>
              <a:t>6)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3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2800" spc="-60" b="1">
                <a:latin typeface="Calibri"/>
                <a:cs typeface="Calibri"/>
              </a:rPr>
              <a:t>Course</a:t>
            </a:r>
            <a:r>
              <a:rPr dirty="0" sz="2800" spc="-105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Lecturer: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Nurul</a:t>
            </a:r>
            <a:r>
              <a:rPr dirty="0" sz="2800" spc="-100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Amera</a:t>
            </a:r>
            <a:r>
              <a:rPr dirty="0" sz="2800" spc="-125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Muhamad</a:t>
            </a:r>
            <a:r>
              <a:rPr dirty="0" sz="2800" spc="-10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Nazmi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91718" y="113487"/>
            <a:ext cx="153352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 b="1">
                <a:latin typeface="Calibri"/>
                <a:cs typeface="Calibri"/>
              </a:rPr>
              <a:t>Content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3872" y="778001"/>
            <a:ext cx="1023874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0">
                <a:solidFill>
                  <a:srgbClr val="000000"/>
                </a:solidFill>
                <a:latin typeface="Calibri"/>
                <a:cs typeface="Calibri"/>
              </a:rPr>
              <a:t>Mobile</a:t>
            </a:r>
            <a:r>
              <a:rPr dirty="0" sz="4400" spc="-19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spc="-20" b="0">
                <a:solidFill>
                  <a:srgbClr val="000000"/>
                </a:solidFill>
                <a:latin typeface="Calibri"/>
                <a:cs typeface="Calibri"/>
              </a:rPr>
              <a:t>Application</a:t>
            </a:r>
            <a:r>
              <a:rPr dirty="0" sz="4400" spc="-1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b="0">
                <a:solidFill>
                  <a:srgbClr val="000000"/>
                </a:solidFill>
                <a:latin typeface="Calibri"/>
                <a:cs typeface="Calibri"/>
              </a:rPr>
              <a:t>User</a:t>
            </a:r>
            <a:r>
              <a:rPr dirty="0" sz="4400" spc="-1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b="0">
                <a:solidFill>
                  <a:srgbClr val="000000"/>
                </a:solidFill>
                <a:latin typeface="Calibri"/>
                <a:cs typeface="Calibri"/>
              </a:rPr>
              <a:t>Interface</a:t>
            </a:r>
            <a:r>
              <a:rPr dirty="0" sz="4400" spc="-2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spc="-10" b="0">
                <a:solidFill>
                  <a:srgbClr val="000000"/>
                </a:solidFill>
                <a:latin typeface="Calibri"/>
                <a:cs typeface="Calibri"/>
              </a:rPr>
              <a:t>Operations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4747" y="1972767"/>
            <a:ext cx="237045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4000" spc="-85">
                <a:latin typeface="Calibri"/>
                <a:cs typeface="Calibri"/>
              </a:rPr>
              <a:t>Text</a:t>
            </a:r>
            <a:r>
              <a:rPr dirty="0" sz="4000" spc="-215">
                <a:latin typeface="Calibri"/>
                <a:cs typeface="Calibri"/>
              </a:rPr>
              <a:t> </a:t>
            </a:r>
            <a:r>
              <a:rPr dirty="0" sz="4000" spc="-10">
                <a:latin typeface="Calibri"/>
                <a:cs typeface="Calibri"/>
              </a:rPr>
              <a:t>Fields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TextField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896" y="1638376"/>
            <a:ext cx="5576570" cy="295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8763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45">
                <a:latin typeface="Calibri"/>
                <a:cs typeface="Calibri"/>
              </a:rPr>
              <a:t>TextField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Flutter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commonly 	used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text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input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allows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users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collect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inputs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keyboard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app.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We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TextField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building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forms,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sending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messages,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creating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search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experiences,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many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more.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3764" y="1292352"/>
            <a:ext cx="4821936" cy="42732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TextField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896" y="1638376"/>
            <a:ext cx="5451475" cy="2590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default,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Flutter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decorated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TextField</a:t>
            </a:r>
            <a:endParaRPr sz="2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underline.</a:t>
            </a:r>
            <a:endParaRPr sz="2400">
              <a:latin typeface="Calibri"/>
              <a:cs typeface="Calibri"/>
            </a:endParaRPr>
          </a:p>
          <a:p>
            <a:pPr marL="297180" marR="35306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We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add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several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attributes</a:t>
            </a:r>
            <a:r>
              <a:rPr dirty="0" sz="2400" spc="-1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with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45">
                <a:latin typeface="Calibri"/>
                <a:cs typeface="Calibri"/>
              </a:rPr>
              <a:t>TextField,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label,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icon,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inline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hint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text,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error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text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30">
                <a:latin typeface="Calibri"/>
                <a:cs typeface="Calibri"/>
              </a:rPr>
              <a:t>InputDecoration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decoration.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4891" y="1327403"/>
            <a:ext cx="2363723" cy="42031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07931" y="1771573"/>
            <a:ext cx="2890139" cy="8528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5523" y="3342132"/>
            <a:ext cx="2860548" cy="15102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dirty="0" spc="-150"/>
              <a:t> </a:t>
            </a:r>
            <a:r>
              <a:rPr dirty="0"/>
              <a:t>to</a:t>
            </a:r>
            <a:r>
              <a:rPr dirty="0" spc="-145"/>
              <a:t> </a:t>
            </a:r>
            <a:r>
              <a:rPr dirty="0"/>
              <a:t>retrieve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120"/>
              <a:t> </a:t>
            </a:r>
            <a:r>
              <a:rPr dirty="0"/>
              <a:t>value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155"/>
              <a:t> </a:t>
            </a:r>
            <a:r>
              <a:rPr dirty="0"/>
              <a:t>a</a:t>
            </a:r>
            <a:r>
              <a:rPr dirty="0" spc="-85"/>
              <a:t> </a:t>
            </a:r>
            <a:r>
              <a:rPr dirty="0" spc="-10"/>
              <a:t>TextField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896" y="1638376"/>
            <a:ext cx="5452745" cy="295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>
                <a:latin typeface="Calibri"/>
                <a:cs typeface="Calibri"/>
              </a:rPr>
              <a:t>Flutter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allows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retrieve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text</a:t>
            </a:r>
            <a:endParaRPr sz="2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mainly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ways:</a:t>
            </a:r>
            <a:endParaRPr sz="2400">
              <a:latin typeface="Calibri"/>
              <a:cs typeface="Calibri"/>
            </a:endParaRPr>
          </a:p>
          <a:p>
            <a:pPr lvl="1" marL="926465" marR="5080" indent="-457200">
              <a:lnSpc>
                <a:spcPct val="100000"/>
              </a:lnSpc>
              <a:spcBef>
                <a:spcPts val="2905"/>
              </a:spcBef>
              <a:buFont typeface="Wingdings"/>
              <a:buChar char=""/>
              <a:tabLst>
                <a:tab pos="926465" algn="l"/>
              </a:tabLst>
            </a:pPr>
            <a:r>
              <a:rPr dirty="0" sz="2400" spc="-10" b="1">
                <a:latin typeface="Calibri"/>
                <a:cs typeface="Calibri"/>
              </a:rPr>
              <a:t>onChanged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method: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easiest </a:t>
            </a:r>
            <a:r>
              <a:rPr dirty="0" sz="2400">
                <a:latin typeface="Calibri"/>
                <a:cs typeface="Calibri"/>
              </a:rPr>
              <a:t>way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retrieve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text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field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value. This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method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store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current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simple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variable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TextField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widget.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48448" y="1856993"/>
            <a:ext cx="2730500" cy="2159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String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""; </a:t>
            </a:r>
            <a:r>
              <a:rPr dirty="0" sz="2800" spc="-10">
                <a:latin typeface="Calibri"/>
                <a:cs typeface="Calibri"/>
              </a:rPr>
              <a:t>TextField( </a:t>
            </a:r>
            <a:r>
              <a:rPr dirty="0" sz="2800" spc="-25">
                <a:solidFill>
                  <a:srgbClr val="FF0000"/>
                </a:solidFill>
                <a:latin typeface="Calibri"/>
                <a:cs typeface="Calibri"/>
              </a:rPr>
              <a:t>onChanged</a:t>
            </a:r>
            <a:r>
              <a:rPr dirty="0" sz="2800" spc="-25">
                <a:latin typeface="Calibri"/>
                <a:cs typeface="Calibri"/>
              </a:rPr>
              <a:t>: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(text)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322580">
              <a:lnSpc>
                <a:spcPct val="100000"/>
              </a:lnSpc>
            </a:pP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text;</a:t>
            </a:r>
            <a:endParaRPr sz="2800">
              <a:latin typeface="Calibri"/>
              <a:cs typeface="Calibri"/>
            </a:endParaRPr>
          </a:p>
          <a:p>
            <a:pPr marL="161290">
              <a:lnSpc>
                <a:spcPct val="100000"/>
              </a:lnSpc>
            </a:pPr>
            <a:r>
              <a:rPr dirty="0" sz="2800" spc="-25">
                <a:latin typeface="Calibri"/>
                <a:cs typeface="Calibri"/>
              </a:rPr>
              <a:t>},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8448" y="3992372"/>
            <a:ext cx="1079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dirty="0" spc="-150"/>
              <a:t> </a:t>
            </a:r>
            <a:r>
              <a:rPr dirty="0"/>
              <a:t>to</a:t>
            </a:r>
            <a:r>
              <a:rPr dirty="0" spc="-145"/>
              <a:t> </a:t>
            </a:r>
            <a:r>
              <a:rPr dirty="0"/>
              <a:t>retrieve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120"/>
              <a:t> </a:t>
            </a:r>
            <a:r>
              <a:rPr dirty="0"/>
              <a:t>value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155"/>
              <a:t> </a:t>
            </a:r>
            <a:r>
              <a:rPr dirty="0"/>
              <a:t>a</a:t>
            </a:r>
            <a:r>
              <a:rPr dirty="0" spc="-85"/>
              <a:t> </a:t>
            </a:r>
            <a:r>
              <a:rPr dirty="0" spc="-10"/>
              <a:t>TextField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7180" marR="3683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Flutter</a:t>
            </a:r>
            <a:r>
              <a:rPr dirty="0" spc="-135"/>
              <a:t> </a:t>
            </a:r>
            <a:r>
              <a:rPr dirty="0" spc="-10"/>
              <a:t>allows</a:t>
            </a:r>
            <a:r>
              <a:rPr dirty="0" spc="-14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 spc="-10"/>
              <a:t>user</a:t>
            </a:r>
            <a:r>
              <a:rPr dirty="0" spc="-110"/>
              <a:t> </a:t>
            </a:r>
            <a:r>
              <a:rPr dirty="0"/>
              <a:t>to</a:t>
            </a:r>
            <a:r>
              <a:rPr dirty="0" spc="-120"/>
              <a:t> </a:t>
            </a:r>
            <a:r>
              <a:rPr dirty="0" spc="-10"/>
              <a:t>retrieve</a:t>
            </a:r>
            <a:r>
              <a:rPr dirty="0" spc="-85"/>
              <a:t> </a:t>
            </a:r>
            <a:r>
              <a:rPr dirty="0"/>
              <a:t>the</a:t>
            </a:r>
            <a:r>
              <a:rPr dirty="0" spc="-100"/>
              <a:t> </a:t>
            </a:r>
            <a:r>
              <a:rPr dirty="0" spc="-20"/>
              <a:t>text </a:t>
            </a:r>
            <a:r>
              <a:rPr dirty="0" spc="-20"/>
              <a:t>	</a:t>
            </a:r>
            <a:r>
              <a:rPr dirty="0"/>
              <a:t>in</a:t>
            </a:r>
            <a:r>
              <a:rPr dirty="0" spc="-65"/>
              <a:t> </a:t>
            </a:r>
            <a:r>
              <a:rPr dirty="0"/>
              <a:t>mainly</a:t>
            </a:r>
            <a:r>
              <a:rPr dirty="0" spc="-90"/>
              <a:t> </a:t>
            </a:r>
            <a:r>
              <a:rPr dirty="0"/>
              <a:t>two</a:t>
            </a:r>
            <a:r>
              <a:rPr dirty="0" spc="-65"/>
              <a:t> </a:t>
            </a:r>
            <a:r>
              <a:rPr dirty="0" spc="-20"/>
              <a:t>ways:</a:t>
            </a:r>
          </a:p>
          <a:p>
            <a:pPr lvl="1" marL="927100" marR="69850" indent="-457200">
              <a:lnSpc>
                <a:spcPct val="100000"/>
              </a:lnSpc>
              <a:spcBef>
                <a:spcPts val="2905"/>
              </a:spcBef>
              <a:buFont typeface="Wingdings"/>
              <a:buChar char=""/>
              <a:tabLst>
                <a:tab pos="927100" algn="l"/>
              </a:tabLst>
            </a:pPr>
            <a:r>
              <a:rPr dirty="0" sz="2400" spc="-10" b="1">
                <a:latin typeface="Calibri"/>
                <a:cs typeface="Calibri"/>
              </a:rPr>
              <a:t>Controller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method: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method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0">
                <a:latin typeface="Calibri"/>
                <a:cs typeface="Calibri"/>
              </a:rPr>
              <a:t>retrieve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text</a:t>
            </a:r>
            <a:r>
              <a:rPr dirty="0" sz="2400" spc="-1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field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value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using </a:t>
            </a:r>
            <a:r>
              <a:rPr dirty="0" sz="2400" spc="-10">
                <a:solidFill>
                  <a:srgbClr val="FF0000"/>
                </a:solidFill>
                <a:latin typeface="Calibri"/>
                <a:cs typeface="Calibri"/>
              </a:rPr>
              <a:t>TextEditingController</a:t>
            </a:r>
            <a:endParaRPr sz="2400">
              <a:latin typeface="Calibri"/>
              <a:cs typeface="Calibri"/>
            </a:endParaRPr>
          </a:p>
          <a:p>
            <a:pPr lvl="1" marL="927100" marR="5080" indent="-457200">
              <a:lnSpc>
                <a:spcPct val="100000"/>
              </a:lnSpc>
              <a:spcBef>
                <a:spcPts val="2905"/>
              </a:spcBef>
              <a:buFont typeface="Wingdings"/>
              <a:buChar char=""/>
              <a:tabLst>
                <a:tab pos="927100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attached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TextField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listen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change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>
                <a:latin typeface="Calibri"/>
                <a:cs typeface="Calibri"/>
              </a:rPr>
              <a:t>control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widget's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text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7515" y="2356484"/>
            <a:ext cx="552386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solidFill>
                  <a:srgbClr val="FF0000"/>
                </a:solidFill>
                <a:latin typeface="Calibri"/>
                <a:cs typeface="Calibri"/>
              </a:rPr>
              <a:t>TextEditingController</a:t>
            </a:r>
            <a:r>
              <a:rPr dirty="0" sz="1800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mycontroller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=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TextEditingController()</a:t>
            </a:r>
            <a:r>
              <a:rPr dirty="0" sz="1800" spc="-10">
                <a:latin typeface="Calibri"/>
                <a:cs typeface="Calibri"/>
              </a:rPr>
              <a:t>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10">
                <a:latin typeface="Calibri"/>
                <a:cs typeface="Calibri"/>
              </a:rPr>
              <a:t>TextField(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dirty="0" sz="1800" spc="-20">
                <a:latin typeface="Calibri"/>
                <a:cs typeface="Calibri"/>
              </a:rPr>
              <a:t>controller: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mycontroller,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1485" y="3453460"/>
            <a:ext cx="698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Change</a:t>
            </a:r>
            <a:r>
              <a:rPr dirty="0" spc="-90"/>
              <a:t> </a:t>
            </a:r>
            <a:r>
              <a:rPr dirty="0" spc="-20"/>
              <a:t>widget</a:t>
            </a:r>
            <a:r>
              <a:rPr dirty="0" spc="-80"/>
              <a:t> </a:t>
            </a:r>
            <a:r>
              <a:rPr dirty="0"/>
              <a:t>using</a:t>
            </a:r>
            <a:r>
              <a:rPr dirty="0" spc="-135"/>
              <a:t> </a:t>
            </a:r>
            <a:r>
              <a:rPr dirty="0" spc="-50"/>
              <a:t>Ternary</a:t>
            </a:r>
            <a:r>
              <a:rPr dirty="0" spc="-170"/>
              <a:t> </a:t>
            </a:r>
            <a:r>
              <a:rPr dirty="0" spc="-20"/>
              <a:t>Conditional</a:t>
            </a:r>
            <a:r>
              <a:rPr dirty="0" spc="-70"/>
              <a:t> </a:t>
            </a:r>
            <a:r>
              <a:rPr dirty="0" spc="-1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128" y="1702384"/>
            <a:ext cx="5413375" cy="1403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 spc="-25">
                <a:latin typeface="Calibri"/>
                <a:cs typeface="Calibri"/>
              </a:rPr>
              <a:t>Ternary</a:t>
            </a:r>
            <a:r>
              <a:rPr dirty="0" sz="2800" spc="-1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Conditional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Operators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17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pretty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useful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thing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Dart.</a:t>
            </a:r>
            <a:endParaRPr sz="2800">
              <a:latin typeface="Calibri"/>
              <a:cs typeface="Calibri"/>
            </a:endParaRPr>
          </a:p>
          <a:p>
            <a:pPr algn="ctr" marL="142875">
              <a:lnSpc>
                <a:spcPct val="100000"/>
              </a:lnSpc>
              <a:spcBef>
                <a:spcPts val="1975"/>
              </a:spcBef>
            </a:pP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result</a:t>
            </a:r>
            <a:r>
              <a:rPr dirty="0" sz="1800" spc="-9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dirty="0" sz="1800" spc="-10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testCondition</a:t>
            </a:r>
            <a:r>
              <a:rPr dirty="0" sz="18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r>
              <a:rPr dirty="0" sz="1800" spc="-9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trueValue</a:t>
            </a:r>
            <a:r>
              <a:rPr dirty="0" sz="18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dirty="0" sz="1800" spc="-1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falseValue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128" y="3411423"/>
            <a:ext cx="506984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They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conditionally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show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Flutter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widget.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7835" y="2075688"/>
            <a:ext cx="5362956" cy="14950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53757" y="3821683"/>
            <a:ext cx="4094479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This</a:t>
            </a:r>
            <a:r>
              <a:rPr dirty="0" sz="1800" spc="-55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will</a:t>
            </a:r>
            <a:r>
              <a:rPr dirty="0" sz="1800" spc="-5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print</a:t>
            </a:r>
            <a:r>
              <a:rPr dirty="0" sz="1800" spc="-20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“not</a:t>
            </a:r>
            <a:r>
              <a:rPr dirty="0" sz="1800" spc="-70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 spc="-40">
                <a:solidFill>
                  <a:srgbClr val="006DC0"/>
                </a:solidFill>
                <a:latin typeface="Calibri"/>
                <a:cs typeface="Calibri"/>
              </a:rPr>
              <a:t>completed”.</a:t>
            </a:r>
            <a:r>
              <a:rPr dirty="0" sz="1800" spc="-55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If</a:t>
            </a:r>
            <a:r>
              <a:rPr dirty="0" sz="1800" spc="-60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we</a:t>
            </a:r>
            <a:r>
              <a:rPr dirty="0" sz="1800" spc="-30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6DC0"/>
                </a:solidFill>
                <a:latin typeface="Calibri"/>
                <a:cs typeface="Calibri"/>
              </a:rPr>
              <a:t>change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the</a:t>
            </a:r>
            <a:r>
              <a:rPr dirty="0" sz="1800" spc="-60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value</a:t>
            </a:r>
            <a:r>
              <a:rPr dirty="0" sz="1800" spc="-70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of</a:t>
            </a:r>
            <a:r>
              <a:rPr dirty="0" sz="1800" spc="-60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isComplete</a:t>
            </a:r>
            <a:r>
              <a:rPr dirty="0" sz="1800" spc="-40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to</a:t>
            </a:r>
            <a:r>
              <a:rPr dirty="0" sz="1800" spc="-85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true,</a:t>
            </a:r>
            <a:r>
              <a:rPr dirty="0" sz="1800" spc="-75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it</a:t>
            </a:r>
            <a:r>
              <a:rPr dirty="0" sz="1800" spc="-65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DC0"/>
                </a:solidFill>
                <a:latin typeface="Calibri"/>
                <a:cs typeface="Calibri"/>
              </a:rPr>
              <a:t>will</a:t>
            </a:r>
            <a:r>
              <a:rPr dirty="0" sz="1800" spc="-45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6DC0"/>
                </a:solidFill>
                <a:latin typeface="Calibri"/>
                <a:cs typeface="Calibri"/>
              </a:rPr>
              <a:t>print completed.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Change</a:t>
            </a:r>
            <a:r>
              <a:rPr dirty="0" spc="-90"/>
              <a:t> </a:t>
            </a:r>
            <a:r>
              <a:rPr dirty="0" spc="-20"/>
              <a:t>widget</a:t>
            </a:r>
            <a:r>
              <a:rPr dirty="0" spc="-80"/>
              <a:t> </a:t>
            </a:r>
            <a:r>
              <a:rPr dirty="0"/>
              <a:t>using</a:t>
            </a:r>
            <a:r>
              <a:rPr dirty="0" spc="-135"/>
              <a:t> </a:t>
            </a:r>
            <a:r>
              <a:rPr dirty="0" spc="-50"/>
              <a:t>Ternary</a:t>
            </a:r>
            <a:r>
              <a:rPr dirty="0" spc="-170"/>
              <a:t> </a:t>
            </a:r>
            <a:r>
              <a:rPr dirty="0" spc="-20"/>
              <a:t>Conditional</a:t>
            </a:r>
            <a:r>
              <a:rPr dirty="0" spc="-70"/>
              <a:t> </a:t>
            </a:r>
            <a:r>
              <a:rPr dirty="0" spc="-10"/>
              <a:t>Operators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128" y="1884425"/>
            <a:ext cx="5237480" cy="1732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 spc="-35">
                <a:latin typeface="Calibri"/>
                <a:cs typeface="Calibri"/>
              </a:rPr>
              <a:t>Ternary</a:t>
            </a:r>
            <a:r>
              <a:rPr dirty="0" sz="2800" spc="-19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Conditional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Operators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can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applied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control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widget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only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displayed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when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condition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is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met.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83985" y="2070608"/>
            <a:ext cx="499935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void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main()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bool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isComplete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=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false;</a:t>
            </a:r>
            <a:endParaRPr sz="1800">
              <a:latin typeface="Calibri"/>
              <a:cs typeface="Calibri"/>
            </a:endParaRPr>
          </a:p>
          <a:p>
            <a:pPr marL="169545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latin typeface="Calibri"/>
                <a:cs typeface="Calibri"/>
              </a:rPr>
              <a:t>isComplete?</a:t>
            </a:r>
            <a:r>
              <a:rPr dirty="0" sz="1800" spc="-35">
                <a:latin typeface="Calibri"/>
                <a:cs typeface="Calibri"/>
              </a:rPr>
              <a:t> Text(“Completed”)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: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Text(“Incomplete”)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83985" y="3443173"/>
            <a:ext cx="977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20"/>
              <a:t> </a:t>
            </a:r>
            <a:r>
              <a:rPr dirty="0" spc="-20"/>
              <a:t>App</a:t>
            </a:r>
            <a:r>
              <a:rPr dirty="0" spc="-140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778" y="2423921"/>
            <a:ext cx="483997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example,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build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BMI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Calculator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accept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input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numbers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calculate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BMI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8995" y="1027175"/>
            <a:ext cx="2270759" cy="50733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20"/>
              <a:t> </a:t>
            </a:r>
            <a:r>
              <a:rPr dirty="0" spc="-20"/>
              <a:t>App</a:t>
            </a:r>
            <a:r>
              <a:rPr dirty="0" spc="-140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1192" y="1967229"/>
            <a:ext cx="4455160" cy="1737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Flutter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Project.</a:t>
            </a:r>
            <a:endParaRPr sz="28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3409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dart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file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named 	“homepage.dart”.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01968" y="1353311"/>
            <a:ext cx="3581400" cy="3935095"/>
            <a:chOff x="6601968" y="1353311"/>
            <a:chExt cx="3581400" cy="39350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1968" y="1353311"/>
              <a:ext cx="3581400" cy="39349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79970" y="4443222"/>
              <a:ext cx="2161540" cy="414655"/>
            </a:xfrm>
            <a:custGeom>
              <a:avLst/>
              <a:gdLst/>
              <a:ahLst/>
              <a:cxnLst/>
              <a:rect l="l" t="t" r="r" b="b"/>
              <a:pathLst>
                <a:path w="2161540" h="414654">
                  <a:moveTo>
                    <a:pt x="0" y="414527"/>
                  </a:moveTo>
                  <a:lnTo>
                    <a:pt x="2161031" y="414527"/>
                  </a:lnTo>
                  <a:lnTo>
                    <a:pt x="2161031" y="0"/>
                  </a:lnTo>
                  <a:lnTo>
                    <a:pt x="0" y="0"/>
                  </a:lnTo>
                  <a:lnTo>
                    <a:pt x="0" y="414527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20"/>
              <a:t> </a:t>
            </a:r>
            <a:r>
              <a:rPr dirty="0" spc="-20"/>
              <a:t>App</a:t>
            </a:r>
            <a:r>
              <a:rPr dirty="0" spc="-140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1192" y="2394585"/>
            <a:ext cx="4453890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main.dart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file,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main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function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kictstart</a:t>
            </a:r>
            <a:r>
              <a:rPr dirty="0" sz="2800" spc="700">
                <a:latin typeface="Calibri"/>
                <a:cs typeface="Calibri"/>
              </a:rPr>
              <a:t> </a:t>
            </a:r>
            <a:r>
              <a:rPr dirty="0" sz="2800" spc="70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running.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9052" y="1406652"/>
            <a:ext cx="6492240" cy="38206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20"/>
              <a:t> </a:t>
            </a:r>
            <a:r>
              <a:rPr dirty="0" spc="-20"/>
              <a:t>App</a:t>
            </a:r>
            <a:r>
              <a:rPr dirty="0" spc="-140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1192" y="1540002"/>
            <a:ext cx="4658360" cy="3018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homepage.dart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file,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BMICalculator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class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extends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StatefulWidget.</a:t>
            </a:r>
            <a:endParaRPr sz="2800">
              <a:latin typeface="Calibri"/>
              <a:cs typeface="Calibri"/>
            </a:endParaRPr>
          </a:p>
          <a:p>
            <a:pPr marL="297180" marR="100330" indent="-285115">
              <a:lnSpc>
                <a:spcPct val="100000"/>
              </a:lnSpc>
              <a:spcBef>
                <a:spcPts val="34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 spc="-20">
                <a:latin typeface="Calibri"/>
                <a:cs typeface="Calibri"/>
              </a:rPr>
              <a:t>Create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another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private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class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named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_BMICalculatorState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extends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State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class.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0303" y="1242060"/>
            <a:ext cx="6431280" cy="437388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20"/>
              <a:t> </a:t>
            </a:r>
            <a:r>
              <a:rPr dirty="0" spc="-20"/>
              <a:t>App</a:t>
            </a:r>
            <a:r>
              <a:rPr dirty="0" spc="-140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pc="-10"/>
              <a:t>Create</a:t>
            </a:r>
            <a:r>
              <a:rPr dirty="0" spc="-165"/>
              <a:t> </a:t>
            </a:r>
            <a:r>
              <a:rPr dirty="0"/>
              <a:t>two</a:t>
            </a:r>
            <a:r>
              <a:rPr dirty="0" spc="-65"/>
              <a:t> </a:t>
            </a:r>
            <a:r>
              <a:rPr dirty="0" spc="-35"/>
              <a:t>TextEditingController </a:t>
            </a:r>
            <a:r>
              <a:rPr dirty="0" spc="-35"/>
              <a:t>	</a:t>
            </a:r>
            <a:r>
              <a:rPr dirty="0"/>
              <a:t>for</a:t>
            </a:r>
            <a:r>
              <a:rPr dirty="0" spc="-130"/>
              <a:t> </a:t>
            </a:r>
            <a:r>
              <a:rPr dirty="0"/>
              <a:t>height</a:t>
            </a:r>
            <a:r>
              <a:rPr dirty="0" spc="-120"/>
              <a:t> </a:t>
            </a:r>
            <a:r>
              <a:rPr dirty="0"/>
              <a:t>and</a:t>
            </a:r>
            <a:r>
              <a:rPr dirty="0" spc="-85"/>
              <a:t> </a:t>
            </a:r>
            <a:r>
              <a:rPr dirty="0"/>
              <a:t>weight</a:t>
            </a:r>
            <a:r>
              <a:rPr dirty="0" spc="-145"/>
              <a:t> </a:t>
            </a:r>
            <a:r>
              <a:rPr dirty="0"/>
              <a:t>text</a:t>
            </a:r>
            <a:r>
              <a:rPr dirty="0" spc="-125"/>
              <a:t> </a:t>
            </a:r>
            <a:r>
              <a:rPr dirty="0" spc="-10"/>
              <a:t>fields.</a:t>
            </a:r>
          </a:p>
          <a:p>
            <a:pPr marL="297180" marR="401320" indent="-285115">
              <a:lnSpc>
                <a:spcPct val="100000"/>
              </a:lnSpc>
              <a:spcBef>
                <a:spcPts val="34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Create</a:t>
            </a:r>
            <a:r>
              <a:rPr dirty="0" spc="-160"/>
              <a:t> </a:t>
            </a:r>
            <a:r>
              <a:rPr dirty="0"/>
              <a:t>a</a:t>
            </a:r>
            <a:r>
              <a:rPr dirty="0" spc="-125"/>
              <a:t> </a:t>
            </a:r>
            <a:r>
              <a:rPr dirty="0"/>
              <a:t>variable</a:t>
            </a:r>
            <a:r>
              <a:rPr dirty="0" spc="-100"/>
              <a:t> </a:t>
            </a:r>
            <a:r>
              <a:rPr dirty="0"/>
              <a:t>to</a:t>
            </a:r>
            <a:r>
              <a:rPr dirty="0" spc="-114"/>
              <a:t> </a:t>
            </a:r>
            <a:r>
              <a:rPr dirty="0"/>
              <a:t>store</a:t>
            </a:r>
            <a:r>
              <a:rPr dirty="0" spc="-100"/>
              <a:t> </a:t>
            </a:r>
            <a:r>
              <a:rPr dirty="0" spc="-25"/>
              <a:t>BMI </a:t>
            </a:r>
            <a:r>
              <a:rPr dirty="0" spc="-25"/>
              <a:t>	</a:t>
            </a:r>
            <a:r>
              <a:rPr dirty="0"/>
              <a:t>value</a:t>
            </a:r>
            <a:r>
              <a:rPr dirty="0" spc="-150"/>
              <a:t> </a:t>
            </a:r>
            <a:r>
              <a:rPr dirty="0"/>
              <a:t>and</a:t>
            </a:r>
            <a:r>
              <a:rPr dirty="0" spc="-120"/>
              <a:t> </a:t>
            </a:r>
            <a:r>
              <a:rPr dirty="0" spc="-10"/>
              <a:t>another</a:t>
            </a:r>
            <a:r>
              <a:rPr dirty="0" spc="-120"/>
              <a:t> </a:t>
            </a:r>
            <a:r>
              <a:rPr dirty="0" spc="-10"/>
              <a:t>Boolean </a:t>
            </a:r>
            <a:r>
              <a:rPr dirty="0" spc="-10"/>
              <a:t>	</a:t>
            </a:r>
            <a:r>
              <a:rPr dirty="0"/>
              <a:t>variable</a:t>
            </a:r>
            <a:r>
              <a:rPr dirty="0" spc="-110"/>
              <a:t> </a:t>
            </a:r>
            <a:r>
              <a:rPr dirty="0"/>
              <a:t>to</a:t>
            </a:r>
            <a:r>
              <a:rPr dirty="0" spc="-100"/>
              <a:t> </a:t>
            </a:r>
            <a:r>
              <a:rPr dirty="0"/>
              <a:t>set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 spc="-10"/>
              <a:t>visibility </a:t>
            </a:r>
            <a:r>
              <a:rPr dirty="0" spc="-10"/>
              <a:t>	</a:t>
            </a:r>
            <a:r>
              <a:rPr dirty="0"/>
              <a:t>status</a:t>
            </a:r>
            <a:r>
              <a:rPr dirty="0" spc="-135"/>
              <a:t> </a:t>
            </a:r>
            <a:r>
              <a:rPr dirty="0"/>
              <a:t>of</a:t>
            </a:r>
            <a:r>
              <a:rPr dirty="0" spc="-160"/>
              <a:t> </a:t>
            </a:r>
            <a:r>
              <a:rPr dirty="0"/>
              <a:t>BMI</a:t>
            </a:r>
            <a:r>
              <a:rPr dirty="0" spc="-140"/>
              <a:t> </a:t>
            </a:r>
            <a:r>
              <a:rPr dirty="0" spc="-10"/>
              <a:t>value.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64123" y="1761744"/>
            <a:ext cx="6535420" cy="3434079"/>
            <a:chOff x="5564123" y="1761744"/>
            <a:chExt cx="6535420" cy="34340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4123" y="1761744"/>
              <a:ext cx="6534911" cy="34335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65697" y="2160270"/>
              <a:ext cx="5916295" cy="1548765"/>
            </a:xfrm>
            <a:custGeom>
              <a:avLst/>
              <a:gdLst/>
              <a:ahLst/>
              <a:cxnLst/>
              <a:rect l="l" t="t" r="r" b="b"/>
              <a:pathLst>
                <a:path w="5916295" h="1548764">
                  <a:moveTo>
                    <a:pt x="0" y="1548383"/>
                  </a:moveTo>
                  <a:lnTo>
                    <a:pt x="5916167" y="1548383"/>
                  </a:lnTo>
                  <a:lnTo>
                    <a:pt x="5916167" y="0"/>
                  </a:lnTo>
                  <a:lnTo>
                    <a:pt x="0" y="0"/>
                  </a:lnTo>
                  <a:lnTo>
                    <a:pt x="0" y="1548383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20"/>
              <a:t> </a:t>
            </a:r>
            <a:r>
              <a:rPr dirty="0" spc="-20"/>
              <a:t>App</a:t>
            </a:r>
            <a:r>
              <a:rPr dirty="0" spc="-140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464" y="2271775"/>
            <a:ext cx="4273550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build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function,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create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AppBar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within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35">
                <a:latin typeface="Calibri"/>
                <a:cs typeface="Calibri"/>
              </a:rPr>
              <a:t>Scaffold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layout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widget.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45608" y="1485900"/>
            <a:ext cx="4624070" cy="3886200"/>
            <a:chOff x="5245608" y="1485900"/>
            <a:chExt cx="4624070" cy="3886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5608" y="1485900"/>
              <a:ext cx="4623816" cy="3886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93486" y="3214877"/>
              <a:ext cx="3843654" cy="1548765"/>
            </a:xfrm>
            <a:custGeom>
              <a:avLst/>
              <a:gdLst/>
              <a:ahLst/>
              <a:cxnLst/>
              <a:rect l="l" t="t" r="r" b="b"/>
              <a:pathLst>
                <a:path w="3843654" h="1548764">
                  <a:moveTo>
                    <a:pt x="0" y="1548384"/>
                  </a:moveTo>
                  <a:lnTo>
                    <a:pt x="3843527" y="1548384"/>
                  </a:lnTo>
                  <a:lnTo>
                    <a:pt x="3843527" y="0"/>
                  </a:lnTo>
                  <a:lnTo>
                    <a:pt x="0" y="0"/>
                  </a:lnTo>
                  <a:lnTo>
                    <a:pt x="0" y="1548384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6840" y="1039367"/>
            <a:ext cx="4936236" cy="477926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20"/>
              <a:t> </a:t>
            </a:r>
            <a:r>
              <a:rPr dirty="0" spc="-20"/>
              <a:t>App</a:t>
            </a:r>
            <a:r>
              <a:rPr dirty="0" spc="-140"/>
              <a:t> </a:t>
            </a:r>
            <a:r>
              <a:rPr dirty="0" spc="-50"/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91464" y="2271775"/>
            <a:ext cx="4226560" cy="1732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Scaffold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body,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create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Padding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widget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wrap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around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Column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layout 	widget.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44717" y="2782061"/>
            <a:ext cx="3805554" cy="2135505"/>
          </a:xfrm>
          <a:custGeom>
            <a:avLst/>
            <a:gdLst/>
            <a:ahLst/>
            <a:cxnLst/>
            <a:rect l="l" t="t" r="r" b="b"/>
            <a:pathLst>
              <a:path w="3805554" h="2135504">
                <a:moveTo>
                  <a:pt x="0" y="2135124"/>
                </a:moveTo>
                <a:lnTo>
                  <a:pt x="3805428" y="2135124"/>
                </a:lnTo>
                <a:lnTo>
                  <a:pt x="3805428" y="0"/>
                </a:lnTo>
                <a:lnTo>
                  <a:pt x="0" y="0"/>
                </a:lnTo>
                <a:lnTo>
                  <a:pt x="0" y="2135124"/>
                </a:lnTo>
                <a:close/>
              </a:path>
            </a:pathLst>
          </a:custGeom>
          <a:ln w="2857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3167" y="893063"/>
            <a:ext cx="4701540" cy="507187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20"/>
              <a:t> </a:t>
            </a:r>
            <a:r>
              <a:rPr dirty="0" spc="-20"/>
              <a:t>App</a:t>
            </a:r>
            <a:r>
              <a:rPr dirty="0" spc="-140"/>
              <a:t> </a:t>
            </a:r>
            <a:r>
              <a:rPr dirty="0" spc="-50"/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5536" y="1613661"/>
            <a:ext cx="3556635" cy="1858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170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TextField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Column.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heightController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TextField.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93614" y="2049017"/>
            <a:ext cx="3927475" cy="2816860"/>
          </a:xfrm>
          <a:custGeom>
            <a:avLst/>
            <a:gdLst/>
            <a:ahLst/>
            <a:cxnLst/>
            <a:rect l="l" t="t" r="r" b="b"/>
            <a:pathLst>
              <a:path w="3927475" h="2816860">
                <a:moveTo>
                  <a:pt x="0" y="2816351"/>
                </a:moveTo>
                <a:lnTo>
                  <a:pt x="3927347" y="2816351"/>
                </a:lnTo>
                <a:lnTo>
                  <a:pt x="3927347" y="0"/>
                </a:lnTo>
                <a:lnTo>
                  <a:pt x="0" y="0"/>
                </a:lnTo>
                <a:lnTo>
                  <a:pt x="0" y="2816351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8340" y="2839211"/>
            <a:ext cx="2540507" cy="58978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7215" y="908303"/>
            <a:ext cx="3927347" cy="527913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20"/>
              <a:t> </a:t>
            </a:r>
            <a:r>
              <a:rPr dirty="0" spc="-20"/>
              <a:t>App</a:t>
            </a:r>
            <a:r>
              <a:rPr dirty="0" spc="-140"/>
              <a:t> </a:t>
            </a:r>
            <a:r>
              <a:rPr dirty="0" spc="-50"/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8488" y="1884425"/>
            <a:ext cx="4185920" cy="2165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365125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another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TextField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button.</a:t>
            </a:r>
            <a:endParaRPr sz="28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34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Set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weightController</a:t>
            </a:r>
            <a:r>
              <a:rPr dirty="0" sz="2800" spc="-25">
                <a:latin typeface="Calibri"/>
                <a:cs typeface="Calibri"/>
              </a:rPr>
              <a:t> to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TextField.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78017" y="3563873"/>
            <a:ext cx="3365500" cy="2036445"/>
          </a:xfrm>
          <a:custGeom>
            <a:avLst/>
            <a:gdLst/>
            <a:ahLst/>
            <a:cxnLst/>
            <a:rect l="l" t="t" r="r" b="b"/>
            <a:pathLst>
              <a:path w="3365500" h="2036445">
                <a:moveTo>
                  <a:pt x="0" y="2036064"/>
                </a:moveTo>
                <a:lnTo>
                  <a:pt x="3364991" y="2036064"/>
                </a:lnTo>
                <a:lnTo>
                  <a:pt x="3364991" y="0"/>
                </a:lnTo>
                <a:lnTo>
                  <a:pt x="0" y="0"/>
                </a:lnTo>
                <a:lnTo>
                  <a:pt x="0" y="2036064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1828" y="3124200"/>
            <a:ext cx="2752344" cy="6096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2771" y="979932"/>
            <a:ext cx="4578096" cy="5018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20"/>
              <a:t> </a:t>
            </a:r>
            <a:r>
              <a:rPr dirty="0" spc="-20"/>
              <a:t>App</a:t>
            </a:r>
            <a:r>
              <a:rPr dirty="0" spc="-140"/>
              <a:t> </a:t>
            </a:r>
            <a:r>
              <a:rPr dirty="0" spc="-50"/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1691" y="1479930"/>
            <a:ext cx="3907790" cy="2955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46672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an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ElevatedButton 	widget.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onPressed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function,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invoke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setState()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function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height,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weight,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bmi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showBmi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based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user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input.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18126" y="2562605"/>
            <a:ext cx="4320540" cy="3436620"/>
          </a:xfrm>
          <a:custGeom>
            <a:avLst/>
            <a:gdLst/>
            <a:ahLst/>
            <a:cxnLst/>
            <a:rect l="l" t="t" r="r" b="b"/>
            <a:pathLst>
              <a:path w="4320540" h="3436620">
                <a:moveTo>
                  <a:pt x="0" y="3436620"/>
                </a:moveTo>
                <a:lnTo>
                  <a:pt x="4320539" y="3436620"/>
                </a:lnTo>
                <a:lnTo>
                  <a:pt x="4320539" y="0"/>
                </a:lnTo>
                <a:lnTo>
                  <a:pt x="0" y="0"/>
                </a:lnTo>
                <a:lnTo>
                  <a:pt x="0" y="343662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02495" y="2371344"/>
            <a:ext cx="2820924" cy="183946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691" y="1479930"/>
            <a:ext cx="343916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Connect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TextFields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controllers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2771" y="1046988"/>
            <a:ext cx="4372356" cy="452628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20"/>
              <a:t> </a:t>
            </a:r>
            <a:r>
              <a:rPr dirty="0" spc="-20"/>
              <a:t>App</a:t>
            </a:r>
            <a:r>
              <a:rPr dirty="0" spc="-140"/>
              <a:t> </a:t>
            </a:r>
            <a:r>
              <a:rPr dirty="0" spc="-50"/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1691" y="1479930"/>
            <a:ext cx="4107815" cy="2223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8318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60">
                <a:latin typeface="Calibri"/>
                <a:cs typeface="Calibri"/>
              </a:rPr>
              <a:t>Text</a:t>
            </a:r>
            <a:r>
              <a:rPr dirty="0" sz="2400" spc="-1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display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BMI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showBmi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equal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true,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will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30">
                <a:latin typeface="Calibri"/>
                <a:cs typeface="Calibri"/>
              </a:rPr>
              <a:t>generate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text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display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bmi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94909" y="3519678"/>
            <a:ext cx="3831590" cy="1743710"/>
          </a:xfrm>
          <a:custGeom>
            <a:avLst/>
            <a:gdLst/>
            <a:ahLst/>
            <a:cxnLst/>
            <a:rect l="l" t="t" r="r" b="b"/>
            <a:pathLst>
              <a:path w="3831590" h="1743710">
                <a:moveTo>
                  <a:pt x="0" y="1743456"/>
                </a:moveTo>
                <a:lnTo>
                  <a:pt x="3831336" y="1743456"/>
                </a:lnTo>
                <a:lnTo>
                  <a:pt x="3831336" y="0"/>
                </a:lnTo>
                <a:lnTo>
                  <a:pt x="0" y="0"/>
                </a:lnTo>
                <a:lnTo>
                  <a:pt x="0" y="1743456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859" y="1906523"/>
            <a:ext cx="2772155" cy="267614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25"/>
              <a:t>Application</a:t>
            </a:r>
            <a:r>
              <a:rPr dirty="0" spc="-10"/>
              <a:t> </a:t>
            </a:r>
            <a:r>
              <a:rPr dirty="0" spc="-20"/>
              <a:t>System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9394" y="2622930"/>
            <a:ext cx="501142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See</a:t>
            </a:r>
            <a:r>
              <a:rPr dirty="0" sz="5400" spc="-21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dirty="0" sz="5400" spc="-1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next</a:t>
            </a:r>
            <a:r>
              <a:rPr dirty="0" sz="5400" spc="-1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spc="-10" b="0">
                <a:solidFill>
                  <a:srgbClr val="000000"/>
                </a:solidFill>
                <a:latin typeface="Calibri"/>
                <a:cs typeface="Calibri"/>
              </a:rPr>
              <a:t>class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Bee Guan Teo</dc:creator>
  <dc:title>PowerPoint Presentation</dc:title>
  <dcterms:created xsi:type="dcterms:W3CDTF">2026-06-19T09:40:37Z</dcterms:created>
  <dcterms:modified xsi:type="dcterms:W3CDTF">2026-06-19T09:40:37Z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2026-05-24T00:00:00Z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2026-06-19T00:00:00Z</vt:filetime>
  </property>
  <property fmtid="{D5CDD505-2E9C-101B-9397-08002B2CF9AE}" pid="6" name="Producer">
    <vt:lpwstr>Microsoft® PowerPoint® LTSC</vt:lpwstr>
  </property>
</Properties>
</file>