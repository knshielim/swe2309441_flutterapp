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520" y="197942"/>
            <a:ext cx="418337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0887" y="1542669"/>
            <a:ext cx="5295900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.jpg"/><Relationship Id="rId4" Type="http://schemas.openxmlformats.org/officeDocument/2006/relationships/image" Target="../media/image1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.jpg"/><Relationship Id="rId4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.jpg"/><Relationship Id="rId4" Type="http://schemas.openxmlformats.org/officeDocument/2006/relationships/image" Target="../media/image1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26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1.jpg"/><Relationship Id="rId4" Type="http://schemas.openxmlformats.org/officeDocument/2006/relationships/image" Target="../media/image3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1.jpg"/><Relationship Id="rId4" Type="http://schemas.openxmlformats.org/officeDocument/2006/relationships/image" Target="../media/image36.jpg"/><Relationship Id="rId5" Type="http://schemas.openxmlformats.org/officeDocument/2006/relationships/image" Target="../media/image3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1.jpg"/><Relationship Id="rId4" Type="http://schemas.openxmlformats.org/officeDocument/2006/relationships/image" Target="../media/image39.jpg"/><Relationship Id="rId5" Type="http://schemas.openxmlformats.org/officeDocument/2006/relationships/image" Target="../media/image40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1.jpg"/><Relationship Id="rId4" Type="http://schemas.openxmlformats.org/officeDocument/2006/relationships/image" Target="../media/image42.jpg"/><Relationship Id="rId5" Type="http://schemas.openxmlformats.org/officeDocument/2006/relationships/image" Target="../media/image43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5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47.jpg"/><Relationship Id="rId4" Type="http://schemas.openxmlformats.org/officeDocument/2006/relationships/image" Target="../media/image46.png"/><Relationship Id="rId5" Type="http://schemas.openxmlformats.org/officeDocument/2006/relationships/image" Target="../media/image55.jpg"/><Relationship Id="rId6" Type="http://schemas.openxmlformats.org/officeDocument/2006/relationships/image" Target="../media/image5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12192000" cy="951230"/>
            <a:chOff x="0" y="6095"/>
            <a:chExt cx="12192000" cy="951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81971" y="6095"/>
              <a:ext cx="2510028" cy="9509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095"/>
              <a:ext cx="9680575" cy="951230"/>
            </a:xfrm>
            <a:custGeom>
              <a:avLst/>
              <a:gdLst/>
              <a:ahLst/>
              <a:cxnLst/>
              <a:rect l="l" t="t" r="r" b="b"/>
              <a:pathLst>
                <a:path w="9680575" h="951230">
                  <a:moveTo>
                    <a:pt x="968044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9680448" y="950976"/>
                  </a:lnTo>
                  <a:lnTo>
                    <a:pt x="9680448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46907" y="2402204"/>
            <a:ext cx="63969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">
                <a:solidFill>
                  <a:srgbClr val="1F1F1F"/>
                </a:solidFill>
              </a:rPr>
              <a:t>Mobile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 spc="-40">
                <a:solidFill>
                  <a:srgbClr val="1F1F1F"/>
                </a:solidFill>
              </a:rPr>
              <a:t>Application</a:t>
            </a:r>
            <a:r>
              <a:rPr dirty="0" sz="3600" spc="-145">
                <a:solidFill>
                  <a:srgbClr val="1F1F1F"/>
                </a:solidFill>
              </a:rPr>
              <a:t> </a:t>
            </a:r>
            <a:r>
              <a:rPr dirty="0" sz="3600">
                <a:solidFill>
                  <a:srgbClr val="1F1F1F"/>
                </a:solidFill>
              </a:rPr>
              <a:t>System</a:t>
            </a:r>
            <a:r>
              <a:rPr dirty="0" sz="3600" spc="-170">
                <a:solidFill>
                  <a:srgbClr val="1F1F1F"/>
                </a:solidFill>
              </a:rPr>
              <a:t> </a:t>
            </a:r>
            <a:r>
              <a:rPr dirty="0" sz="3600" spc="-10">
                <a:solidFill>
                  <a:srgbClr val="1F1F1F"/>
                </a:solidFill>
              </a:rPr>
              <a:t>Design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2821939" y="3372739"/>
            <a:ext cx="6744970" cy="156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spc="-35" b="1">
                <a:solidFill>
                  <a:srgbClr val="1F1F1F"/>
                </a:solidFill>
                <a:latin typeface="Calibri"/>
                <a:cs typeface="Calibri"/>
              </a:rPr>
              <a:t>(Chapter</a:t>
            </a:r>
            <a:r>
              <a:rPr dirty="0" sz="3600" spc="-14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3600" spc="-25" b="1">
                <a:solidFill>
                  <a:srgbClr val="1F1F1F"/>
                </a:solidFill>
                <a:latin typeface="Calibri"/>
                <a:cs typeface="Calibri"/>
              </a:rPr>
              <a:t>4)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800" spc="-70" b="1">
                <a:latin typeface="Calibri"/>
                <a:cs typeface="Calibri"/>
              </a:rPr>
              <a:t>Course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75" b="1">
                <a:latin typeface="Calibri"/>
                <a:cs typeface="Calibri"/>
              </a:rPr>
              <a:t>Lecturer:</a:t>
            </a:r>
            <a:r>
              <a:rPr dirty="0" sz="2800" spc="-60" b="1">
                <a:latin typeface="Calibri"/>
                <a:cs typeface="Calibri"/>
              </a:rPr>
              <a:t> Nurul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Amera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spc="-65" b="1">
                <a:latin typeface="Calibri"/>
                <a:cs typeface="Calibri"/>
              </a:rPr>
              <a:t>Muhamad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Nazmi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07439" y="1639062"/>
            <a:ext cx="4873625" cy="2186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Key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Concepts: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Designing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Custom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Views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buAutoNum type="arabicPeriod"/>
              <a:tabLst>
                <a:tab pos="353695" algn="l"/>
              </a:tabLst>
            </a:pPr>
            <a:r>
              <a:rPr dirty="0" sz="2000">
                <a:latin typeface="Arial MT"/>
                <a:cs typeface="Arial MT"/>
              </a:rPr>
              <a:t>Nested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Widgets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Container</a:t>
            </a:r>
            <a:endParaRPr sz="200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3060" algn="l"/>
              </a:tabLst>
            </a:pPr>
            <a:r>
              <a:rPr dirty="0" sz="2000" spc="-10">
                <a:latin typeface="Arial MT"/>
                <a:cs typeface="Arial MT"/>
              </a:rPr>
              <a:t>ListView</a:t>
            </a:r>
            <a:endParaRPr sz="2000">
              <a:latin typeface="Arial MT"/>
              <a:cs typeface="Arial MT"/>
            </a:endParaRPr>
          </a:p>
          <a:p>
            <a:pPr marL="353060" indent="-34036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3060" algn="l"/>
              </a:tabLst>
            </a:pPr>
            <a:r>
              <a:rPr dirty="0" sz="2000" spc="-10">
                <a:latin typeface="Arial MT"/>
                <a:cs typeface="Arial MT"/>
              </a:rPr>
              <a:t>GridView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Nested</a:t>
            </a:r>
            <a:r>
              <a:rPr dirty="0" spc="-105"/>
              <a:t> </a:t>
            </a:r>
            <a:r>
              <a:rPr dirty="0" spc="-25"/>
              <a:t>Widgets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135"/>
              <a:t> </a:t>
            </a:r>
            <a:r>
              <a:rPr dirty="0" spc="-10"/>
              <a:t>Container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4129" y="1016253"/>
            <a:ext cx="7550784" cy="4893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6545" marR="146685" indent="-28448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3200" spc="-25">
                <a:latin typeface="Calibri"/>
                <a:cs typeface="Calibri"/>
              </a:rPr>
              <a:t>Container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flutter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convenience</a:t>
            </a:r>
            <a:r>
              <a:rPr dirty="0" sz="3200" spc="-1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 	that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combines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common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coloring, </a:t>
            </a:r>
            <a:r>
              <a:rPr dirty="0" sz="3200" spc="-10">
                <a:latin typeface="Calibri"/>
                <a:cs typeface="Calibri"/>
              </a:rPr>
              <a:t>	</a:t>
            </a:r>
            <a:r>
              <a:rPr dirty="0" sz="3200" spc="-20">
                <a:latin typeface="Calibri"/>
                <a:cs typeface="Calibri"/>
              </a:rPr>
              <a:t>positioning,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sizing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widgets.</a:t>
            </a:r>
            <a:endParaRPr sz="3200">
              <a:latin typeface="Calibri"/>
              <a:cs typeface="Calibri"/>
            </a:endParaRPr>
          </a:p>
          <a:p>
            <a:pPr marL="296545" marR="5080" indent="-284480">
              <a:lnSpc>
                <a:spcPct val="100000"/>
              </a:lnSpc>
              <a:spcBef>
                <a:spcPts val="37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Container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widget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can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used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store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one </a:t>
            </a:r>
            <a:r>
              <a:rPr dirty="0" sz="3200" spc="-25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more</a:t>
            </a:r>
            <a:r>
              <a:rPr dirty="0" sz="3200" spc="-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widgets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position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them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screen</a:t>
            </a:r>
            <a:r>
              <a:rPr dirty="0" sz="3200" spc="-1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according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our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convenience.</a:t>
            </a:r>
            <a:endParaRPr sz="3200">
              <a:latin typeface="Calibri"/>
              <a:cs typeface="Calibri"/>
            </a:endParaRPr>
          </a:p>
          <a:p>
            <a:pPr marL="296545" marR="517525" indent="-284480">
              <a:lnSpc>
                <a:spcPct val="100000"/>
              </a:lnSpc>
              <a:spcBef>
                <a:spcPts val="38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3200" spc="-30">
                <a:latin typeface="Calibri"/>
                <a:cs typeface="Calibri"/>
              </a:rPr>
              <a:t>Basically,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container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like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box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store 	contents.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4859" y="1495171"/>
            <a:ext cx="3296411" cy="36132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74745" y="2359533"/>
            <a:ext cx="5845810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1F1F1F"/>
                </a:solidFill>
              </a:rPr>
              <a:t>CLASS</a:t>
            </a:r>
            <a:r>
              <a:rPr dirty="0" sz="4800" spc="-250">
                <a:solidFill>
                  <a:srgbClr val="1F1F1F"/>
                </a:solidFill>
              </a:rPr>
              <a:t> </a:t>
            </a:r>
            <a:r>
              <a:rPr dirty="0" sz="4800" spc="-10">
                <a:solidFill>
                  <a:srgbClr val="1F1F1F"/>
                </a:solidFill>
              </a:rPr>
              <a:t>ACTIVITY</a:t>
            </a:r>
            <a:endParaRPr sz="4800"/>
          </a:p>
          <a:p>
            <a:pPr algn="ctr">
              <a:lnSpc>
                <a:spcPct val="100000"/>
              </a:lnSpc>
            </a:pPr>
            <a:r>
              <a:rPr dirty="0" sz="4800">
                <a:solidFill>
                  <a:srgbClr val="1F1F1F"/>
                </a:solidFill>
              </a:rPr>
              <a:t>(1</a:t>
            </a:r>
            <a:r>
              <a:rPr dirty="0" baseline="20833" sz="4800">
                <a:solidFill>
                  <a:srgbClr val="1F1F1F"/>
                </a:solidFill>
              </a:rPr>
              <a:t>st</a:t>
            </a:r>
            <a:r>
              <a:rPr dirty="0" baseline="20833" sz="4800" spc="457">
                <a:solidFill>
                  <a:srgbClr val="1F1F1F"/>
                </a:solidFill>
              </a:rPr>
              <a:t> </a:t>
            </a:r>
            <a:r>
              <a:rPr dirty="0" sz="4800" spc="-30">
                <a:solidFill>
                  <a:srgbClr val="1F1F1F"/>
                </a:solidFill>
              </a:rPr>
              <a:t>Hands-</a:t>
            </a:r>
            <a:r>
              <a:rPr dirty="0" sz="4800">
                <a:solidFill>
                  <a:srgbClr val="1F1F1F"/>
                </a:solidFill>
              </a:rPr>
              <a:t>On</a:t>
            </a:r>
            <a:r>
              <a:rPr dirty="0" sz="4800" spc="-35">
                <a:solidFill>
                  <a:srgbClr val="1F1F1F"/>
                </a:solidFill>
              </a:rPr>
              <a:t> </a:t>
            </a:r>
            <a:r>
              <a:rPr dirty="0" sz="4800" spc="-10">
                <a:solidFill>
                  <a:srgbClr val="1F1F1F"/>
                </a:solidFill>
              </a:rPr>
              <a:t>Practice)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7520" y="197942"/>
            <a:ext cx="12579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ListView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4065" y="1870075"/>
            <a:ext cx="6164580" cy="184403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97180" marR="5080" indent="-285115">
              <a:lnSpc>
                <a:spcPts val="275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Flutter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ListView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45">
                <a:solidFill>
                  <a:srgbClr val="474747"/>
                </a:solidFill>
                <a:latin typeface="Lucida Sans Unicode"/>
                <a:cs typeface="Lucida Sans Unicode"/>
              </a:rPr>
              <a:t>is</a:t>
            </a:r>
            <a:r>
              <a:rPr dirty="0" sz="2400" spc="-265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474747"/>
                </a:solidFill>
                <a:latin typeface="Lucida Sans Unicode"/>
                <a:cs typeface="Lucida Sans Unicode"/>
              </a:rPr>
              <a:t>the</a:t>
            </a:r>
            <a:r>
              <a:rPr dirty="0" sz="2400" spc="-135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60">
                <a:solidFill>
                  <a:srgbClr val="474747"/>
                </a:solidFill>
                <a:latin typeface="Lucida Sans Unicode"/>
                <a:cs typeface="Lucida Sans Unicode"/>
              </a:rPr>
              <a:t>most</a:t>
            </a:r>
            <a:r>
              <a:rPr dirty="0" sz="2400" spc="-229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70">
                <a:solidFill>
                  <a:srgbClr val="474747"/>
                </a:solidFill>
                <a:latin typeface="Lucida Sans Unicode"/>
                <a:cs typeface="Lucida Sans Unicode"/>
              </a:rPr>
              <a:t>commonly</a:t>
            </a:r>
            <a:r>
              <a:rPr dirty="0" sz="2400" spc="-26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">
                <a:solidFill>
                  <a:srgbClr val="474747"/>
                </a:solidFill>
                <a:latin typeface="Lucida Sans Unicode"/>
                <a:cs typeface="Lucida Sans Unicode"/>
              </a:rPr>
              <a:t>used </a:t>
            </a:r>
            <a:r>
              <a:rPr dirty="0" sz="2400" spc="-20">
                <a:solidFill>
                  <a:srgbClr val="474747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100">
                <a:solidFill>
                  <a:srgbClr val="474747"/>
                </a:solidFill>
                <a:latin typeface="Lucida Sans Unicode"/>
                <a:cs typeface="Lucida Sans Unicode"/>
              </a:rPr>
              <a:t>scrolling</a:t>
            </a:r>
            <a:r>
              <a:rPr dirty="0" sz="2400" spc="-15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474747"/>
                </a:solidFill>
                <a:latin typeface="Lucida Sans Unicode"/>
                <a:cs typeface="Lucida Sans Unicode"/>
              </a:rPr>
              <a:t>widget.</a:t>
            </a:r>
            <a:endParaRPr sz="2400">
              <a:latin typeface="Lucida Sans Unicode"/>
              <a:cs typeface="Lucida Sans Unicode"/>
            </a:endParaRPr>
          </a:p>
          <a:p>
            <a:pPr marL="297180" marR="268605" indent="-285115">
              <a:lnSpc>
                <a:spcPct val="100800"/>
              </a:lnSpc>
              <a:spcBef>
                <a:spcPts val="28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solidFill>
                  <a:srgbClr val="474747"/>
                </a:solidFill>
                <a:latin typeface="Lucida Sans Unicode"/>
                <a:cs typeface="Lucida Sans Unicode"/>
              </a:rPr>
              <a:t>It</a:t>
            </a:r>
            <a:r>
              <a:rPr dirty="0" sz="2400" spc="-135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90">
                <a:solidFill>
                  <a:srgbClr val="474747"/>
                </a:solidFill>
                <a:latin typeface="Lucida Sans Unicode"/>
                <a:cs typeface="Lucida Sans Unicode"/>
              </a:rPr>
              <a:t>displays</a:t>
            </a:r>
            <a:r>
              <a:rPr dirty="0" sz="2400" spc="-18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65">
                <a:solidFill>
                  <a:srgbClr val="474747"/>
                </a:solidFill>
                <a:latin typeface="Lucida Sans Unicode"/>
                <a:cs typeface="Lucida Sans Unicode"/>
              </a:rPr>
              <a:t>its</a:t>
            </a:r>
            <a:r>
              <a:rPr dirty="0" sz="2400" spc="-22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70">
                <a:solidFill>
                  <a:srgbClr val="474747"/>
                </a:solidFill>
                <a:latin typeface="Lucida Sans Unicode"/>
                <a:cs typeface="Lucida Sans Unicode"/>
              </a:rPr>
              <a:t>children</a:t>
            </a:r>
            <a:r>
              <a:rPr dirty="0" sz="2400" spc="-25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474747"/>
                </a:solidFill>
                <a:latin typeface="Lucida Sans Unicode"/>
                <a:cs typeface="Lucida Sans Unicode"/>
              </a:rPr>
              <a:t>one</a:t>
            </a:r>
            <a:r>
              <a:rPr dirty="0" sz="2400" spc="-9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45">
                <a:solidFill>
                  <a:srgbClr val="474747"/>
                </a:solidFill>
                <a:latin typeface="Lucida Sans Unicode"/>
                <a:cs typeface="Lucida Sans Unicode"/>
              </a:rPr>
              <a:t>after</a:t>
            </a:r>
            <a:r>
              <a:rPr dirty="0" sz="2400" spc="-155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474747"/>
                </a:solidFill>
                <a:latin typeface="Lucida Sans Unicode"/>
                <a:cs typeface="Lucida Sans Unicode"/>
              </a:rPr>
              <a:t>another </a:t>
            </a:r>
            <a:r>
              <a:rPr dirty="0" sz="2400" spc="-10">
                <a:solidFill>
                  <a:srgbClr val="474747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35">
                <a:solidFill>
                  <a:srgbClr val="474747"/>
                </a:solidFill>
                <a:latin typeface="Lucida Sans Unicode"/>
                <a:cs typeface="Lucida Sans Unicode"/>
              </a:rPr>
              <a:t>in</a:t>
            </a:r>
            <a:r>
              <a:rPr dirty="0" sz="2400" spc="-204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474747"/>
                </a:solidFill>
                <a:latin typeface="Lucida Sans Unicode"/>
                <a:cs typeface="Lucida Sans Unicode"/>
              </a:rPr>
              <a:t>the</a:t>
            </a:r>
            <a:r>
              <a:rPr dirty="0" sz="2400" spc="-120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0">
                <a:solidFill>
                  <a:srgbClr val="474747"/>
                </a:solidFill>
                <a:latin typeface="Lucida Sans Unicode"/>
                <a:cs typeface="Lucida Sans Unicode"/>
              </a:rPr>
              <a:t>scroll</a:t>
            </a:r>
            <a:r>
              <a:rPr dirty="0" sz="2400" spc="-265">
                <a:solidFill>
                  <a:srgbClr val="47474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474747"/>
                </a:solidFill>
                <a:latin typeface="Lucida Sans Unicode"/>
                <a:cs typeface="Lucida Sans Unicode"/>
              </a:rPr>
              <a:t>direction.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4004" y="1156716"/>
            <a:ext cx="2196083" cy="45445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0783" y="1396746"/>
            <a:ext cx="7078345" cy="442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0320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going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build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simple 	contact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ListView.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Flutter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297180" marR="14986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new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subfolder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named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“assets”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“images”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8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Copy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paste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given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people-</a:t>
            </a:r>
            <a:r>
              <a:rPr dirty="0" sz="2400">
                <a:latin typeface="Calibri"/>
                <a:cs typeface="Calibri"/>
              </a:rPr>
              <a:t>1.jpg,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people-</a:t>
            </a:r>
            <a:r>
              <a:rPr dirty="0" sz="2400">
                <a:latin typeface="Calibri"/>
                <a:cs typeface="Calibri"/>
              </a:rPr>
              <a:t>2.jpg,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…,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55">
                <a:latin typeface="Calibri"/>
                <a:cs typeface="Calibri"/>
              </a:rPr>
              <a:t>people-</a:t>
            </a:r>
            <a:r>
              <a:rPr dirty="0" sz="2400">
                <a:latin typeface="Calibri"/>
                <a:cs typeface="Calibri"/>
              </a:rPr>
              <a:t>5.jpg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images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pubspec.yaml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image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path.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6676" y="979932"/>
            <a:ext cx="2308860" cy="51480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-130"/>
              <a:t> </a:t>
            </a:r>
            <a:r>
              <a:rPr dirty="0" spc="-10"/>
              <a:t>(Contact</a:t>
            </a:r>
            <a:r>
              <a:rPr dirty="0" spc="-80"/>
              <a:t> </a:t>
            </a:r>
            <a:r>
              <a:rPr dirty="0" spc="-10"/>
              <a:t>List)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0783" y="1396746"/>
            <a:ext cx="388112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5336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new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subfolder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named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“models”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inside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lib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  <a:p>
            <a:pPr marL="297180" marR="2794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dart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“contact.dart”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2400">
                <a:latin typeface="Calibri"/>
                <a:cs typeface="Calibri"/>
              </a:rPr>
              <a:t>“models’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subfolder.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class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0711" y="1421891"/>
            <a:ext cx="4619244" cy="42169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735067" y="2476500"/>
            <a:ext cx="2220595" cy="1681480"/>
            <a:chOff x="4735067" y="2476500"/>
            <a:chExt cx="2220595" cy="16814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5067" y="2476500"/>
              <a:ext cx="2220467" cy="16809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32831" y="2842259"/>
              <a:ext cx="1466215" cy="504825"/>
            </a:xfrm>
            <a:custGeom>
              <a:avLst/>
              <a:gdLst/>
              <a:ahLst/>
              <a:cxnLst/>
              <a:rect l="l" t="t" r="r" b="b"/>
              <a:pathLst>
                <a:path w="1466215" h="504825">
                  <a:moveTo>
                    <a:pt x="0" y="504444"/>
                  </a:moveTo>
                  <a:lnTo>
                    <a:pt x="1466088" y="504444"/>
                  </a:lnTo>
                  <a:lnTo>
                    <a:pt x="1466088" y="0"/>
                  </a:lnTo>
                  <a:lnTo>
                    <a:pt x="0" y="0"/>
                  </a:lnTo>
                  <a:lnTo>
                    <a:pt x="0" y="504444"/>
                  </a:lnTo>
                  <a:close/>
                </a:path>
              </a:pathLst>
            </a:custGeom>
            <a:ln w="126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0783" y="1396746"/>
            <a:ext cx="5339715" cy="1858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class,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	getAllContacts().</a:t>
            </a:r>
            <a:endParaRPr sz="2400">
              <a:latin typeface="Calibri"/>
              <a:cs typeface="Calibri"/>
            </a:endParaRPr>
          </a:p>
          <a:p>
            <a:pPr marL="297180" marR="78930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This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should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return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contacts.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32904" y="976883"/>
            <a:ext cx="3514725" cy="4258310"/>
            <a:chOff x="7232904" y="976883"/>
            <a:chExt cx="3514725" cy="42583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2904" y="976883"/>
              <a:ext cx="3514344" cy="42580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85304" y="2599944"/>
              <a:ext cx="3234055" cy="1661160"/>
            </a:xfrm>
            <a:custGeom>
              <a:avLst/>
              <a:gdLst/>
              <a:ahLst/>
              <a:cxnLst/>
              <a:rect l="l" t="t" r="r" b="b"/>
              <a:pathLst>
                <a:path w="3234054" h="1661160">
                  <a:moveTo>
                    <a:pt x="0" y="1661159"/>
                  </a:moveTo>
                  <a:lnTo>
                    <a:pt x="3233928" y="1661159"/>
                  </a:lnTo>
                  <a:lnTo>
                    <a:pt x="3233928" y="0"/>
                  </a:lnTo>
                  <a:lnTo>
                    <a:pt x="0" y="0"/>
                  </a:lnTo>
                  <a:lnTo>
                    <a:pt x="0" y="1661159"/>
                  </a:lnTo>
                  <a:close/>
                </a:path>
              </a:pathLst>
            </a:custGeom>
            <a:ln w="126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559" y="1098803"/>
            <a:ext cx="5099303" cy="397306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-130"/>
              <a:t> </a:t>
            </a:r>
            <a:r>
              <a:rPr dirty="0" spc="-10"/>
              <a:t>(Contact</a:t>
            </a:r>
            <a:r>
              <a:rPr dirty="0" spc="-80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783" y="2038350"/>
            <a:ext cx="50984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getAllContacts()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contacts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26223" y="2063495"/>
            <a:ext cx="4596765" cy="2016760"/>
          </a:xfrm>
          <a:custGeom>
            <a:avLst/>
            <a:gdLst/>
            <a:ahLst/>
            <a:cxnLst/>
            <a:rect l="l" t="t" r="r" b="b"/>
            <a:pathLst>
              <a:path w="4596765" h="2016760">
                <a:moveTo>
                  <a:pt x="0" y="2016252"/>
                </a:moveTo>
                <a:lnTo>
                  <a:pt x="4596383" y="2016252"/>
                </a:lnTo>
                <a:lnTo>
                  <a:pt x="4596383" y="0"/>
                </a:lnTo>
                <a:lnTo>
                  <a:pt x="0" y="0"/>
                </a:lnTo>
                <a:lnTo>
                  <a:pt x="0" y="20162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6223" y="986027"/>
            <a:ext cx="4279391" cy="49850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783" y="2038350"/>
            <a:ext cx="54336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second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object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contact 	list.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06056" y="3429000"/>
            <a:ext cx="3883660" cy="1682750"/>
          </a:xfrm>
          <a:custGeom>
            <a:avLst/>
            <a:gdLst/>
            <a:ahLst/>
            <a:cxnLst/>
            <a:rect l="l" t="t" r="r" b="b"/>
            <a:pathLst>
              <a:path w="3883659" h="1682750">
                <a:moveTo>
                  <a:pt x="0" y="1682495"/>
                </a:moveTo>
                <a:lnTo>
                  <a:pt x="3883152" y="1682495"/>
                </a:lnTo>
                <a:lnTo>
                  <a:pt x="3883152" y="0"/>
                </a:lnTo>
                <a:lnTo>
                  <a:pt x="0" y="0"/>
                </a:lnTo>
                <a:lnTo>
                  <a:pt x="0" y="168249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9792" y="1040891"/>
            <a:ext cx="2871216" cy="51907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783" y="2038350"/>
            <a:ext cx="53898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Add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third,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fourth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and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fifth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repeating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similar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steps.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00188" y="2241804"/>
            <a:ext cx="2639695" cy="3575685"/>
          </a:xfrm>
          <a:custGeom>
            <a:avLst/>
            <a:gdLst/>
            <a:ahLst/>
            <a:cxnLst/>
            <a:rect l="l" t="t" r="r" b="b"/>
            <a:pathLst>
              <a:path w="2639695" h="3575685">
                <a:moveTo>
                  <a:pt x="0" y="3575304"/>
                </a:moveTo>
                <a:lnTo>
                  <a:pt x="2639568" y="3575304"/>
                </a:lnTo>
                <a:lnTo>
                  <a:pt x="2639568" y="0"/>
                </a:lnTo>
                <a:lnTo>
                  <a:pt x="0" y="0"/>
                </a:lnTo>
                <a:lnTo>
                  <a:pt x="0" y="357530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7423" y="1132332"/>
            <a:ext cx="6230112" cy="47335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484" y="1326007"/>
            <a:ext cx="3874770" cy="332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794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dart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	“homepage.dart”.</a:t>
            </a:r>
            <a:endParaRPr sz="2400">
              <a:latin typeface="Calibri"/>
              <a:cs typeface="Calibri"/>
            </a:endParaRPr>
          </a:p>
          <a:p>
            <a:pPr marL="297180" marR="12763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dart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create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StatelessWidget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variable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FF0000"/>
                </a:solidFill>
                <a:latin typeface="Calibri"/>
                <a:cs typeface="Calibri"/>
              </a:rPr>
              <a:t>contacts</a:t>
            </a:r>
            <a:r>
              <a:rPr dirty="0" sz="2400" spc="-1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store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list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1484" y="1326007"/>
            <a:ext cx="4201160" cy="2955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build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function,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invoke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getAllContacts()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extract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store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them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contacts 	variable.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Scaffold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layout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2400" spc="-10">
                <a:latin typeface="Calibri"/>
                <a:cs typeface="Calibri"/>
              </a:rPr>
              <a:t>ListView.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70576" y="1046988"/>
            <a:ext cx="6059805" cy="3721735"/>
            <a:chOff x="5370576" y="1046988"/>
            <a:chExt cx="6059805" cy="37217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0576" y="1046988"/>
              <a:ext cx="6059424" cy="37216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82640" y="2061972"/>
              <a:ext cx="5047615" cy="1991995"/>
            </a:xfrm>
            <a:custGeom>
              <a:avLst/>
              <a:gdLst/>
              <a:ahLst/>
              <a:cxnLst/>
              <a:rect l="l" t="t" r="r" b="b"/>
              <a:pathLst>
                <a:path w="5047615" h="1991995">
                  <a:moveTo>
                    <a:pt x="0" y="1991867"/>
                  </a:moveTo>
                  <a:lnTo>
                    <a:pt x="5047488" y="1991867"/>
                  </a:lnTo>
                  <a:lnTo>
                    <a:pt x="5047488" y="0"/>
                  </a:lnTo>
                  <a:lnTo>
                    <a:pt x="0" y="0"/>
                  </a:lnTo>
                  <a:lnTo>
                    <a:pt x="0" y="1991867"/>
                  </a:lnTo>
                  <a:close/>
                </a:path>
              </a:pathLst>
            </a:custGeom>
            <a:ln w="126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6052" y="1187196"/>
            <a:ext cx="5475732" cy="429005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1484" y="1326007"/>
            <a:ext cx="2945130" cy="258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AppBar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	Scaffold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layout.</a:t>
            </a:r>
            <a:endParaRPr sz="2400">
              <a:latin typeface="Calibri"/>
              <a:cs typeface="Calibri"/>
            </a:endParaRPr>
          </a:p>
          <a:p>
            <a:pPr marL="297180" marR="259079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background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blue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accent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text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color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white.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46091" y="1757172"/>
            <a:ext cx="5046345" cy="3177540"/>
          </a:xfrm>
          <a:custGeom>
            <a:avLst/>
            <a:gdLst/>
            <a:ahLst/>
            <a:cxnLst/>
            <a:rect l="l" t="t" r="r" b="b"/>
            <a:pathLst>
              <a:path w="5046345" h="3177540">
                <a:moveTo>
                  <a:pt x="0" y="3177540"/>
                </a:moveTo>
                <a:lnTo>
                  <a:pt x="5045964" y="3177540"/>
                </a:lnTo>
                <a:lnTo>
                  <a:pt x="5045964" y="0"/>
                </a:lnTo>
                <a:lnTo>
                  <a:pt x="0" y="0"/>
                </a:lnTo>
                <a:lnTo>
                  <a:pt x="0" y="3177540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5331" y="1008888"/>
            <a:ext cx="2188464" cy="48402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2815" y="1112519"/>
            <a:ext cx="4978908" cy="463295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1484" y="1326007"/>
            <a:ext cx="2928620" cy="258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ListView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builder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	Scaffold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body.</a:t>
            </a:r>
            <a:endParaRPr sz="2400">
              <a:latin typeface="Calibri"/>
              <a:cs typeface="Calibri"/>
            </a:endParaRPr>
          </a:p>
          <a:p>
            <a:pPr marL="297180" marR="116839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itemCount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set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contact</a:t>
            </a:r>
            <a:r>
              <a:rPr dirty="0" sz="2400" spc="-1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68367" y="3796284"/>
            <a:ext cx="4632960" cy="1629410"/>
          </a:xfrm>
          <a:custGeom>
            <a:avLst/>
            <a:gdLst/>
            <a:ahLst/>
            <a:cxnLst/>
            <a:rect l="l" t="t" r="r" b="b"/>
            <a:pathLst>
              <a:path w="4632959" h="1629410">
                <a:moveTo>
                  <a:pt x="0" y="1629155"/>
                </a:moveTo>
                <a:lnTo>
                  <a:pt x="4632960" y="1629155"/>
                </a:lnTo>
                <a:lnTo>
                  <a:pt x="4632960" y="0"/>
                </a:lnTo>
                <a:lnTo>
                  <a:pt x="0" y="0"/>
                </a:lnTo>
                <a:lnTo>
                  <a:pt x="0" y="162915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5331" y="1008888"/>
            <a:ext cx="2188464" cy="48402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523" y="1039367"/>
            <a:ext cx="5687568" cy="48097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Example</a:t>
            </a:r>
            <a:r>
              <a:rPr dirty="0" spc="-130"/>
              <a:t> </a:t>
            </a:r>
            <a:r>
              <a:rPr dirty="0"/>
              <a:t>App</a:t>
            </a:r>
            <a:r>
              <a:rPr dirty="0" spc="340"/>
              <a:t> </a:t>
            </a:r>
            <a:r>
              <a:rPr dirty="0"/>
              <a:t>(Contact</a:t>
            </a:r>
            <a:r>
              <a:rPr dirty="0" spc="-85"/>
              <a:t> </a:t>
            </a:r>
            <a:r>
              <a:rPr dirty="0" spc="-10"/>
              <a:t>List)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796" y="1628013"/>
            <a:ext cx="279908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itemBuilder 	should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generate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a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Card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which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consists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avatar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image,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text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widgets.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99788" y="1937004"/>
            <a:ext cx="4977765" cy="3446145"/>
          </a:xfrm>
          <a:custGeom>
            <a:avLst/>
            <a:gdLst/>
            <a:ahLst/>
            <a:cxnLst/>
            <a:rect l="l" t="t" r="r" b="b"/>
            <a:pathLst>
              <a:path w="4977765" h="3446145">
                <a:moveTo>
                  <a:pt x="0" y="3445764"/>
                </a:moveTo>
                <a:lnTo>
                  <a:pt x="4977384" y="3445764"/>
                </a:lnTo>
                <a:lnTo>
                  <a:pt x="4977384" y="0"/>
                </a:lnTo>
                <a:lnTo>
                  <a:pt x="0" y="0"/>
                </a:lnTo>
                <a:lnTo>
                  <a:pt x="0" y="344576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9780" y="949452"/>
            <a:ext cx="2324100" cy="52364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91718" y="113487"/>
            <a:ext cx="15335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Calibri"/>
                <a:cs typeface="Calibri"/>
              </a:rPr>
              <a:t>Content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3872" y="778001"/>
            <a:ext cx="102387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Mobile</a:t>
            </a:r>
            <a:r>
              <a:rPr dirty="0" sz="4400" spc="-1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20" b="0">
                <a:solidFill>
                  <a:srgbClr val="000000"/>
                </a:solidFill>
                <a:latin typeface="Calibri"/>
                <a:cs typeface="Calibri"/>
              </a:rPr>
              <a:t>Application</a:t>
            </a:r>
            <a:r>
              <a:rPr dirty="0" sz="4400" spc="-1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User</a:t>
            </a:r>
            <a:r>
              <a:rPr dirty="0" sz="4400" spc="-1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b="0">
                <a:solidFill>
                  <a:srgbClr val="000000"/>
                </a:solidFill>
                <a:latin typeface="Calibri"/>
                <a:cs typeface="Calibri"/>
              </a:rPr>
              <a:t>Interface</a:t>
            </a:r>
            <a:r>
              <a:rPr dirty="0" sz="4400" spc="-2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400" spc="-10" b="0">
                <a:solidFill>
                  <a:srgbClr val="000000"/>
                </a:solidFill>
                <a:latin typeface="Calibri"/>
                <a:cs typeface="Calibri"/>
              </a:rPr>
              <a:t>Operations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1072" y="1462227"/>
            <a:ext cx="8246745" cy="18091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4000">
                <a:latin typeface="Calibri"/>
                <a:cs typeface="Calibri"/>
              </a:rPr>
              <a:t>Screens</a:t>
            </a:r>
            <a:r>
              <a:rPr dirty="0" sz="4000" spc="-14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and</a:t>
            </a:r>
            <a:r>
              <a:rPr dirty="0" sz="4000" spc="-13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Widgets</a:t>
            </a:r>
            <a:endParaRPr sz="4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4000" spc="-40">
                <a:latin typeface="Calibri"/>
                <a:cs typeface="Calibri"/>
              </a:rPr>
              <a:t>Working</a:t>
            </a:r>
            <a:r>
              <a:rPr dirty="0" sz="4000" spc="-18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with</a:t>
            </a:r>
            <a:r>
              <a:rPr dirty="0" sz="4000" spc="-16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Multiple</a:t>
            </a:r>
            <a:r>
              <a:rPr dirty="0" sz="4000" spc="-21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Screens</a:t>
            </a:r>
            <a:endParaRPr sz="4000">
              <a:latin typeface="Calibri"/>
              <a:cs typeface="Calibri"/>
            </a:endParaRPr>
          </a:p>
          <a:p>
            <a:pPr lvl="1" marL="831850" indent="-361950">
              <a:lnSpc>
                <a:spcPct val="100000"/>
              </a:lnSpc>
              <a:spcBef>
                <a:spcPts val="125"/>
              </a:spcBef>
              <a:buSzPct val="94444"/>
              <a:buFont typeface="Wingdings"/>
              <a:buChar char=""/>
              <a:tabLst>
                <a:tab pos="831850" algn="l"/>
              </a:tabLst>
            </a:pPr>
            <a:r>
              <a:rPr dirty="0" sz="3600">
                <a:latin typeface="Calibri"/>
                <a:cs typeface="Calibri"/>
              </a:rPr>
              <a:t>Screen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navigation</a:t>
            </a:r>
            <a:r>
              <a:rPr dirty="0" sz="3600" spc="-1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with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Flutter</a:t>
            </a:r>
            <a:r>
              <a:rPr dirty="0" sz="3600" spc="-2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Navigator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A</a:t>
            </a:r>
            <a:r>
              <a:rPr dirty="0" spc="-100"/>
              <a:t> </a:t>
            </a:r>
            <a:r>
              <a:rPr dirty="0"/>
              <a:t>widget</a:t>
            </a:r>
            <a:r>
              <a:rPr dirty="0" spc="-95"/>
              <a:t> </a:t>
            </a:r>
            <a:r>
              <a:rPr dirty="0"/>
              <a:t>is</a:t>
            </a:r>
            <a:r>
              <a:rPr dirty="0" spc="-95"/>
              <a:t> </a:t>
            </a:r>
            <a:r>
              <a:rPr dirty="0"/>
              <a:t>a</a:t>
            </a:r>
            <a:r>
              <a:rPr dirty="0" spc="-90"/>
              <a:t> </a:t>
            </a:r>
            <a:r>
              <a:rPr dirty="0"/>
              <a:t>key</a:t>
            </a:r>
            <a:r>
              <a:rPr dirty="0" spc="-75"/>
              <a:t> </a:t>
            </a:r>
            <a:r>
              <a:rPr dirty="0" spc="-20"/>
              <a:t>component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20"/>
              <a:t>user </a:t>
            </a:r>
            <a:r>
              <a:rPr dirty="0" spc="-20"/>
              <a:t>	</a:t>
            </a:r>
            <a:r>
              <a:rPr dirty="0" spc="-30"/>
              <a:t>interface</a:t>
            </a:r>
            <a:r>
              <a:rPr dirty="0" spc="-60"/>
              <a:t> </a:t>
            </a:r>
            <a:r>
              <a:rPr dirty="0"/>
              <a:t>(UI)</a:t>
            </a:r>
            <a:r>
              <a:rPr dirty="0" spc="-9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55"/>
              <a:t>Flutter.</a:t>
            </a:r>
            <a:r>
              <a:rPr dirty="0" spc="-175"/>
              <a:t> </a:t>
            </a:r>
            <a:r>
              <a:rPr dirty="0"/>
              <a:t>Widgets</a:t>
            </a:r>
            <a:r>
              <a:rPr dirty="0" spc="-60"/>
              <a:t> </a:t>
            </a:r>
            <a:r>
              <a:rPr dirty="0" spc="-10"/>
              <a:t>describe </a:t>
            </a:r>
            <a:r>
              <a:rPr dirty="0" spc="-10"/>
              <a:t>	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structure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layout</a:t>
            </a:r>
            <a:r>
              <a:rPr dirty="0" spc="-13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 spc="-10"/>
              <a:t>application's</a:t>
            </a:r>
            <a:r>
              <a:rPr dirty="0" spc="-125"/>
              <a:t> </a:t>
            </a:r>
            <a:r>
              <a:rPr dirty="0"/>
              <a:t>UI</a:t>
            </a:r>
            <a:r>
              <a:rPr dirty="0" spc="-40"/>
              <a:t> </a:t>
            </a:r>
            <a:r>
              <a:rPr dirty="0" spc="-10"/>
              <a:t>elements,</a:t>
            </a:r>
            <a:r>
              <a:rPr dirty="0" spc="-70"/>
              <a:t> </a:t>
            </a:r>
            <a:r>
              <a:rPr dirty="0"/>
              <a:t>such</a:t>
            </a:r>
            <a:r>
              <a:rPr dirty="0" spc="-45"/>
              <a:t> </a:t>
            </a:r>
            <a:r>
              <a:rPr dirty="0" spc="-25"/>
              <a:t>as </a:t>
            </a:r>
            <a:r>
              <a:rPr dirty="0" spc="-25"/>
              <a:t>	</a:t>
            </a:r>
            <a:r>
              <a:rPr dirty="0" spc="-10"/>
              <a:t>buttons,</a:t>
            </a:r>
            <a:r>
              <a:rPr dirty="0" spc="-95"/>
              <a:t> </a:t>
            </a:r>
            <a:r>
              <a:rPr dirty="0" spc="-10"/>
              <a:t>text</a:t>
            </a:r>
            <a:r>
              <a:rPr dirty="0" spc="-135"/>
              <a:t> </a:t>
            </a:r>
            <a:r>
              <a:rPr dirty="0" spc="-10"/>
              <a:t>fields,</a:t>
            </a:r>
            <a:r>
              <a:rPr dirty="0" spc="-65"/>
              <a:t> </a:t>
            </a:r>
            <a:r>
              <a:rPr dirty="0"/>
              <a:t>images,</a:t>
            </a:r>
            <a:r>
              <a:rPr dirty="0" spc="-130"/>
              <a:t> </a:t>
            </a:r>
            <a:r>
              <a:rPr dirty="0" spc="-10"/>
              <a:t>containers, </a:t>
            </a:r>
            <a:r>
              <a:rPr dirty="0" spc="-10"/>
              <a:t>	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 spc="-20"/>
              <a:t>more.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887" y="4104513"/>
            <a:ext cx="539813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(e.g.,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login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page,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etc.)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consisting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multiple 	widgets.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02525" y="1021080"/>
            <a:ext cx="3592195" cy="4511040"/>
            <a:chOff x="7502525" y="1021080"/>
            <a:chExt cx="3592195" cy="45110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5572" y="1021080"/>
              <a:ext cx="2517648" cy="45110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8464" y="4588128"/>
              <a:ext cx="82676" cy="7848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39987" y="2135758"/>
              <a:ext cx="2054860" cy="2476500"/>
            </a:xfrm>
            <a:custGeom>
              <a:avLst/>
              <a:gdLst/>
              <a:ahLst/>
              <a:cxnLst/>
              <a:rect l="l" t="t" r="r" b="b"/>
              <a:pathLst>
                <a:path w="2054859" h="2476500">
                  <a:moveTo>
                    <a:pt x="2054606" y="1427111"/>
                  </a:moveTo>
                  <a:lnTo>
                    <a:pt x="2039747" y="1413002"/>
                  </a:lnTo>
                  <a:lnTo>
                    <a:pt x="545338" y="0"/>
                  </a:lnTo>
                  <a:lnTo>
                    <a:pt x="526796" y="0"/>
                  </a:lnTo>
                  <a:lnTo>
                    <a:pt x="2021332" y="1413002"/>
                  </a:lnTo>
                  <a:lnTo>
                    <a:pt x="2017522" y="1411478"/>
                  </a:lnTo>
                  <a:lnTo>
                    <a:pt x="1986915" y="1399032"/>
                  </a:lnTo>
                  <a:lnTo>
                    <a:pt x="33655" y="606933"/>
                  </a:lnTo>
                  <a:lnTo>
                    <a:pt x="0" y="606933"/>
                  </a:lnTo>
                  <a:lnTo>
                    <a:pt x="1953006" y="1399032"/>
                  </a:lnTo>
                  <a:lnTo>
                    <a:pt x="260477" y="951484"/>
                  </a:lnTo>
                  <a:lnTo>
                    <a:pt x="211074" y="951484"/>
                  </a:lnTo>
                  <a:lnTo>
                    <a:pt x="1950085" y="1411478"/>
                  </a:lnTo>
                  <a:lnTo>
                    <a:pt x="391541" y="1195705"/>
                  </a:lnTo>
                  <a:lnTo>
                    <a:pt x="298958" y="1195705"/>
                  </a:lnTo>
                  <a:lnTo>
                    <a:pt x="1990725" y="1429893"/>
                  </a:lnTo>
                  <a:lnTo>
                    <a:pt x="1212850" y="1487932"/>
                  </a:lnTo>
                  <a:lnTo>
                    <a:pt x="1210437" y="1456182"/>
                  </a:lnTo>
                  <a:lnTo>
                    <a:pt x="1137285" y="1499870"/>
                  </a:lnTo>
                  <a:lnTo>
                    <a:pt x="1216152" y="1532255"/>
                  </a:lnTo>
                  <a:lnTo>
                    <a:pt x="1213777" y="1500632"/>
                  </a:lnTo>
                  <a:lnTo>
                    <a:pt x="1266571" y="1496695"/>
                  </a:lnTo>
                  <a:lnTo>
                    <a:pt x="1384300" y="1487932"/>
                  </a:lnTo>
                  <a:lnTo>
                    <a:pt x="2030603" y="1439811"/>
                  </a:lnTo>
                  <a:lnTo>
                    <a:pt x="822198" y="2476500"/>
                  </a:lnTo>
                  <a:lnTo>
                    <a:pt x="841756" y="2476500"/>
                  </a:lnTo>
                  <a:lnTo>
                    <a:pt x="2050034" y="1439811"/>
                  </a:lnTo>
                  <a:lnTo>
                    <a:pt x="2053590" y="1436751"/>
                  </a:lnTo>
                  <a:lnTo>
                    <a:pt x="2049653" y="1432179"/>
                  </a:lnTo>
                  <a:lnTo>
                    <a:pt x="2054606" y="1427111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4395" y="3287394"/>
              <a:ext cx="167131" cy="754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9051" y="3044316"/>
              <a:ext cx="121412" cy="736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1788" y="2701544"/>
              <a:ext cx="101853" cy="706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15855" y="2078736"/>
              <a:ext cx="81534" cy="800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505700" y="1371600"/>
              <a:ext cx="500380" cy="3874135"/>
            </a:xfrm>
            <a:custGeom>
              <a:avLst/>
              <a:gdLst/>
              <a:ahLst/>
              <a:cxnLst/>
              <a:rect l="l" t="t" r="r" b="b"/>
              <a:pathLst>
                <a:path w="500379" h="3874135">
                  <a:moveTo>
                    <a:pt x="499872" y="3874008"/>
                  </a:moveTo>
                  <a:lnTo>
                    <a:pt x="420877" y="3871849"/>
                  </a:lnTo>
                  <a:lnTo>
                    <a:pt x="352298" y="3866006"/>
                  </a:lnTo>
                  <a:lnTo>
                    <a:pt x="298196" y="3856990"/>
                  </a:lnTo>
                  <a:lnTo>
                    <a:pt x="249935" y="3832352"/>
                  </a:lnTo>
                  <a:lnTo>
                    <a:pt x="249935" y="1978660"/>
                  </a:lnTo>
                  <a:lnTo>
                    <a:pt x="237235" y="1965452"/>
                  </a:lnTo>
                  <a:lnTo>
                    <a:pt x="201675" y="1954022"/>
                  </a:lnTo>
                  <a:lnTo>
                    <a:pt x="147574" y="1945004"/>
                  </a:lnTo>
                  <a:lnTo>
                    <a:pt x="78994" y="1939163"/>
                  </a:lnTo>
                  <a:lnTo>
                    <a:pt x="0" y="1937003"/>
                  </a:lnTo>
                  <a:lnTo>
                    <a:pt x="78994" y="1934845"/>
                  </a:lnTo>
                  <a:lnTo>
                    <a:pt x="147574" y="1929002"/>
                  </a:lnTo>
                  <a:lnTo>
                    <a:pt x="201675" y="1919986"/>
                  </a:lnTo>
                  <a:lnTo>
                    <a:pt x="237235" y="1908555"/>
                  </a:lnTo>
                  <a:lnTo>
                    <a:pt x="249935" y="1895348"/>
                  </a:lnTo>
                  <a:lnTo>
                    <a:pt x="249935" y="41655"/>
                  </a:lnTo>
                  <a:lnTo>
                    <a:pt x="262635" y="28448"/>
                  </a:lnTo>
                  <a:lnTo>
                    <a:pt x="298196" y="17017"/>
                  </a:lnTo>
                  <a:lnTo>
                    <a:pt x="352298" y="8000"/>
                  </a:lnTo>
                  <a:lnTo>
                    <a:pt x="420877" y="2159"/>
                  </a:lnTo>
                  <a:lnTo>
                    <a:pt x="499872" y="0"/>
                  </a:lnTo>
                </a:path>
              </a:pathLst>
            </a:custGeom>
            <a:ln w="6350">
              <a:solidFill>
                <a:srgbClr val="446F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171301" y="3372357"/>
            <a:ext cx="779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Widgets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6826757" y="3078226"/>
            <a:ext cx="647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0">
                <a:solidFill>
                  <a:srgbClr val="000000"/>
                </a:solidFill>
                <a:latin typeface="Calibri"/>
                <a:cs typeface="Calibri"/>
              </a:rPr>
              <a:t>Screen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7" y="1542669"/>
            <a:ext cx="5111750" cy="2955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6225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30">
                <a:latin typeface="Calibri"/>
                <a:cs typeface="Calibri"/>
              </a:rPr>
              <a:t>Navigation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Flutter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refers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moving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page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within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app.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It's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fundamental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aspect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building 	mobile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applications,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enabling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seamlessly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explore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different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2115" y="1656588"/>
            <a:ext cx="5384292" cy="30617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660"/>
                  </a:lnTo>
                  <a:lnTo>
                    <a:pt x="10439400" y="58966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164592"/>
            <a:ext cx="12192000" cy="702310"/>
          </a:xfrm>
          <a:custGeom>
            <a:avLst/>
            <a:gdLst/>
            <a:ahLst/>
            <a:cxnLst/>
            <a:rect l="l" t="t" r="r" b="b"/>
            <a:pathLst>
              <a:path w="12192000" h="702310">
                <a:moveTo>
                  <a:pt x="12192000" y="0"/>
                </a:moveTo>
                <a:lnTo>
                  <a:pt x="0" y="0"/>
                </a:lnTo>
                <a:lnTo>
                  <a:pt x="0" y="702182"/>
                </a:lnTo>
                <a:lnTo>
                  <a:pt x="12192000" y="7021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520" y="197942"/>
            <a:ext cx="4064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Screen</a:t>
            </a:r>
            <a:r>
              <a:rPr dirty="0" sz="2800" spc="-1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FFFFFF"/>
                </a:solidFill>
                <a:latin typeface="Calibri"/>
                <a:cs typeface="Calibri"/>
              </a:rPr>
              <a:t>Navigation</a:t>
            </a:r>
            <a:r>
              <a:rPr dirty="0" sz="2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300" y="1631645"/>
            <a:ext cx="600265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600">
                <a:latin typeface="Calibri"/>
                <a:cs typeface="Calibri"/>
              </a:rPr>
              <a:t>Three</a:t>
            </a:r>
            <a:r>
              <a:rPr dirty="0" sz="3600" spc="-2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main</a:t>
            </a:r>
            <a:r>
              <a:rPr dirty="0" sz="3600" spc="-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types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navigation</a:t>
            </a:r>
            <a:endParaRPr sz="3600">
              <a:latin typeface="Calibri"/>
              <a:cs typeface="Calibri"/>
            </a:endParaRPr>
          </a:p>
          <a:p>
            <a:pPr lvl="1" marL="9264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6465" algn="l"/>
              </a:tabLst>
            </a:pPr>
            <a:r>
              <a:rPr dirty="0" sz="3600">
                <a:latin typeface="Calibri"/>
                <a:cs typeface="Calibri"/>
              </a:rPr>
              <a:t>Stack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Navigation</a:t>
            </a:r>
            <a:endParaRPr sz="3600">
              <a:latin typeface="Calibri"/>
              <a:cs typeface="Calibri"/>
            </a:endParaRPr>
          </a:p>
          <a:p>
            <a:pPr lvl="1" marL="926465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dirty="0" sz="3600" spc="-55">
                <a:latin typeface="Calibri"/>
                <a:cs typeface="Calibri"/>
              </a:rPr>
              <a:t>Tab</a:t>
            </a:r>
            <a:r>
              <a:rPr dirty="0" sz="3600" spc="-2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Navigation</a:t>
            </a:r>
            <a:endParaRPr sz="3600">
              <a:latin typeface="Calibri"/>
              <a:cs typeface="Calibri"/>
            </a:endParaRPr>
          </a:p>
          <a:p>
            <a:pPr lvl="1" marL="925830" indent="-455930">
              <a:lnSpc>
                <a:spcPct val="100000"/>
              </a:lnSpc>
              <a:buAutoNum type="arabicPeriod"/>
              <a:tabLst>
                <a:tab pos="925830" algn="l"/>
              </a:tabLst>
            </a:pPr>
            <a:r>
              <a:rPr dirty="0" sz="3600">
                <a:latin typeface="Calibri"/>
                <a:cs typeface="Calibri"/>
              </a:rPr>
              <a:t>Drawer</a:t>
            </a:r>
            <a:r>
              <a:rPr dirty="0" sz="3600" spc="-254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Navigation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8395" y="1685544"/>
            <a:ext cx="4924044" cy="25847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94734" y="6376822"/>
            <a:ext cx="312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524" y="936751"/>
            <a:ext cx="6437630" cy="4549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3200">
                <a:latin typeface="Calibri"/>
                <a:cs typeface="Calibri"/>
              </a:rPr>
              <a:t>Stack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Navigation</a:t>
            </a:r>
            <a:endParaRPr sz="3200">
              <a:latin typeface="Calibri"/>
              <a:cs typeface="Calibri"/>
            </a:endParaRPr>
          </a:p>
          <a:p>
            <a:pPr lvl="1" marL="754380" marR="5080" indent="-28511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400" spc="-10">
                <a:latin typeface="Calibri"/>
                <a:cs typeface="Calibri"/>
              </a:rPr>
              <a:t>Imagine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deck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cards,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where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remove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cards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top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stack.</a:t>
            </a:r>
            <a:r>
              <a:rPr dirty="0" sz="2400" spc="-1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Stack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35">
                <a:latin typeface="Calibri"/>
                <a:cs typeface="Calibri"/>
              </a:rPr>
              <a:t>Navigation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Flutter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works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similarly.</a:t>
            </a:r>
            <a:endParaRPr sz="2400">
              <a:latin typeface="Calibri"/>
              <a:cs typeface="Calibri"/>
            </a:endParaRPr>
          </a:p>
          <a:p>
            <a:pPr lvl="1" marL="754380" marR="153670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2400" spc="-10">
                <a:latin typeface="Calibri"/>
                <a:cs typeface="Calibri"/>
              </a:rPr>
              <a:t>When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move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screen,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current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screen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pushed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onto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navigation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stack, 	and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when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return,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top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screen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	popped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off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lvl="1" marL="75501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755015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navigation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commonly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dirty="0" sz="2400" spc="-35">
                <a:latin typeface="Calibri"/>
                <a:cs typeface="Calibri"/>
              </a:rPr>
              <a:t>hierarchical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linear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flows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within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app.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1067" y="1446326"/>
            <a:ext cx="4108450" cy="41756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59505" y="2359533"/>
            <a:ext cx="5874385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r>
              <a:rPr dirty="0" sz="48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000000"/>
                </a:solidFill>
                <a:latin typeface="Calibri"/>
                <a:cs typeface="Calibri"/>
              </a:rPr>
              <a:t>ACTIVITY</a:t>
            </a:r>
            <a:endParaRPr sz="4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4800" b="0">
                <a:solidFill>
                  <a:srgbClr val="000000"/>
                </a:solidFill>
                <a:latin typeface="Calibri"/>
                <a:cs typeface="Calibri"/>
              </a:rPr>
              <a:t>(2</a:t>
            </a:r>
            <a:r>
              <a:rPr dirty="0" baseline="20833" sz="4800" b="0">
                <a:solidFill>
                  <a:srgbClr val="000000"/>
                </a:solidFill>
                <a:latin typeface="Calibri"/>
                <a:cs typeface="Calibri"/>
              </a:rPr>
              <a:t>nd</a:t>
            </a:r>
            <a:r>
              <a:rPr dirty="0" baseline="20833" sz="4800" spc="60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800" spc="-60" b="0">
                <a:solidFill>
                  <a:srgbClr val="000000"/>
                </a:solidFill>
                <a:latin typeface="Calibri"/>
                <a:cs typeface="Calibri"/>
              </a:rPr>
              <a:t>Hands-</a:t>
            </a:r>
            <a:r>
              <a:rPr dirty="0" sz="4800" b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dirty="0" sz="4800" spc="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800" spc="-10" b="0">
                <a:solidFill>
                  <a:srgbClr val="000000"/>
                </a:solidFill>
                <a:latin typeface="Calibri"/>
                <a:cs typeface="Calibri"/>
              </a:rPr>
              <a:t>Practice)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84" y="1749297"/>
            <a:ext cx="437705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existing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from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Example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create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dart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“</a:t>
            </a:r>
            <a:r>
              <a:rPr dirty="0" sz="2400" spc="-20">
                <a:solidFill>
                  <a:srgbClr val="FF0000"/>
                </a:solidFill>
                <a:latin typeface="Calibri"/>
                <a:cs typeface="Calibri"/>
              </a:rPr>
              <a:t>detailspage.dart</a:t>
            </a:r>
            <a:r>
              <a:rPr dirty="0" sz="2400" spc="-20">
                <a:latin typeface="Calibri"/>
                <a:cs typeface="Calibri"/>
              </a:rPr>
              <a:t>”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lib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folder.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25540" y="1402080"/>
            <a:ext cx="3335020" cy="3127375"/>
            <a:chOff x="6225540" y="1402080"/>
            <a:chExt cx="3335020" cy="3127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5540" y="1402080"/>
              <a:ext cx="3334512" cy="3127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36486" y="2812541"/>
              <a:ext cx="2312035" cy="449580"/>
            </a:xfrm>
            <a:custGeom>
              <a:avLst/>
              <a:gdLst/>
              <a:ahLst/>
              <a:cxnLst/>
              <a:rect l="l" t="t" r="r" b="b"/>
              <a:pathLst>
                <a:path w="2312034" h="449579">
                  <a:moveTo>
                    <a:pt x="0" y="449579"/>
                  </a:moveTo>
                  <a:lnTo>
                    <a:pt x="2311907" y="449579"/>
                  </a:lnTo>
                  <a:lnTo>
                    <a:pt x="2311907" y="0"/>
                  </a:lnTo>
                  <a:lnTo>
                    <a:pt x="0" y="0"/>
                  </a:lnTo>
                  <a:lnTo>
                    <a:pt x="0" y="4495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79" y="1153667"/>
            <a:ext cx="6429756" cy="415594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5284" y="1749297"/>
            <a:ext cx="4547235" cy="258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detailspage.dart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ContactDetails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class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extends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StatelessWidget</a:t>
            </a:r>
            <a:r>
              <a:rPr dirty="0" sz="2400" spc="-10">
                <a:latin typeface="Calibri"/>
                <a:cs typeface="Calibri"/>
              </a:rPr>
              <a:t> class.</a:t>
            </a:r>
            <a:endParaRPr sz="2400">
              <a:latin typeface="Calibri"/>
              <a:cs typeface="Calibri"/>
            </a:endParaRPr>
          </a:p>
          <a:p>
            <a:pPr marL="297180" marR="412115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ContactDetails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class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should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accept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parameter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named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“contact”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10846" y="1708594"/>
            <a:ext cx="5589905" cy="3803650"/>
            <a:chOff x="6010846" y="1708594"/>
            <a:chExt cx="5589905" cy="3803650"/>
          </a:xfrm>
        </p:grpSpPr>
        <p:sp>
          <p:nvSpPr>
            <p:cNvPr id="10" name="object 10"/>
            <p:cNvSpPr/>
            <p:nvPr/>
          </p:nvSpPr>
          <p:spPr>
            <a:xfrm>
              <a:off x="6025134" y="1722882"/>
              <a:ext cx="5561330" cy="3587750"/>
            </a:xfrm>
            <a:custGeom>
              <a:avLst/>
              <a:gdLst/>
              <a:ahLst/>
              <a:cxnLst/>
              <a:rect l="l" t="t" r="r" b="b"/>
              <a:pathLst>
                <a:path w="5561330" h="3587750">
                  <a:moveTo>
                    <a:pt x="0" y="3587496"/>
                  </a:moveTo>
                  <a:lnTo>
                    <a:pt x="5561075" y="3587496"/>
                  </a:lnTo>
                  <a:lnTo>
                    <a:pt x="5561075" y="0"/>
                  </a:lnTo>
                  <a:lnTo>
                    <a:pt x="0" y="0"/>
                  </a:lnTo>
                  <a:lnTo>
                    <a:pt x="0" y="358749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312402" y="3293110"/>
              <a:ext cx="1429385" cy="2218690"/>
            </a:xfrm>
            <a:custGeom>
              <a:avLst/>
              <a:gdLst/>
              <a:ahLst/>
              <a:cxnLst/>
              <a:rect l="l" t="t" r="r" b="b"/>
              <a:pathLst>
                <a:path w="1429384" h="2218690">
                  <a:moveTo>
                    <a:pt x="1418208" y="0"/>
                  </a:moveTo>
                  <a:lnTo>
                    <a:pt x="0" y="2211831"/>
                  </a:lnTo>
                  <a:lnTo>
                    <a:pt x="10668" y="2218690"/>
                  </a:lnTo>
                  <a:lnTo>
                    <a:pt x="1428877" y="6857"/>
                  </a:lnTo>
                  <a:lnTo>
                    <a:pt x="1418208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3941" y="3232404"/>
              <a:ext cx="73150" cy="847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913623" y="5498693"/>
            <a:ext cx="2760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parameter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named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“contact”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4734" y="6376822"/>
            <a:ext cx="312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56" y="1888363"/>
            <a:ext cx="3519804" cy="2223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64325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Scaffold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layout 	widget.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AppBar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title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35">
                <a:latin typeface="Calibri"/>
                <a:cs typeface="Calibri"/>
              </a:rPr>
              <a:t>person’s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name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contact.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77867" y="1536191"/>
            <a:ext cx="7702550" cy="3191510"/>
            <a:chOff x="4277867" y="1536191"/>
            <a:chExt cx="7702550" cy="3191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7867" y="1536191"/>
              <a:ext cx="4809744" cy="31912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3727" y="2758439"/>
              <a:ext cx="2726435" cy="1028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82489" y="3271265"/>
              <a:ext cx="3609340" cy="879475"/>
            </a:xfrm>
            <a:custGeom>
              <a:avLst/>
              <a:gdLst/>
              <a:ahLst/>
              <a:cxnLst/>
              <a:rect l="l" t="t" r="r" b="b"/>
              <a:pathLst>
                <a:path w="3609340" h="879475">
                  <a:moveTo>
                    <a:pt x="0" y="879348"/>
                  </a:moveTo>
                  <a:lnTo>
                    <a:pt x="3608832" y="879348"/>
                  </a:lnTo>
                  <a:lnTo>
                    <a:pt x="3608832" y="0"/>
                  </a:lnTo>
                  <a:lnTo>
                    <a:pt x="0" y="0"/>
                  </a:lnTo>
                  <a:lnTo>
                    <a:pt x="0" y="87934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89925" y="3641978"/>
              <a:ext cx="1435100" cy="151765"/>
            </a:xfrm>
            <a:custGeom>
              <a:avLst/>
              <a:gdLst/>
              <a:ahLst/>
              <a:cxnLst/>
              <a:rect l="l" t="t" r="r" b="b"/>
              <a:pathLst>
                <a:path w="1435100" h="151764">
                  <a:moveTo>
                    <a:pt x="1433829" y="0"/>
                  </a:moveTo>
                  <a:lnTo>
                    <a:pt x="0" y="139192"/>
                  </a:lnTo>
                  <a:lnTo>
                    <a:pt x="1270" y="151765"/>
                  </a:lnTo>
                  <a:lnTo>
                    <a:pt x="1435100" y="12573"/>
                  </a:lnTo>
                  <a:lnTo>
                    <a:pt x="1433829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20707" y="3610230"/>
              <a:ext cx="79500" cy="759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391" y="1819402"/>
            <a:ext cx="439166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7749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Padding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layout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wrap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Container,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alignment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center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widgets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container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aligned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center.</a:t>
            </a:r>
            <a:endParaRPr sz="2400">
              <a:latin typeface="Calibri"/>
              <a:cs typeface="Calibri"/>
            </a:endParaRPr>
          </a:p>
          <a:p>
            <a:pPr marL="297180" marR="41529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layout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child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Container.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31408" y="1196339"/>
            <a:ext cx="4476115" cy="4139565"/>
            <a:chOff x="5931408" y="1196339"/>
            <a:chExt cx="4476115" cy="4139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1408" y="1196339"/>
              <a:ext cx="4475988" cy="41391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60998" y="2276093"/>
              <a:ext cx="3651885" cy="2223770"/>
            </a:xfrm>
            <a:custGeom>
              <a:avLst/>
              <a:gdLst/>
              <a:ahLst/>
              <a:cxnLst/>
              <a:rect l="l" t="t" r="r" b="b"/>
              <a:pathLst>
                <a:path w="3651884" h="2223770">
                  <a:moveTo>
                    <a:pt x="0" y="2223516"/>
                  </a:moveTo>
                  <a:lnTo>
                    <a:pt x="3651504" y="2223516"/>
                  </a:lnTo>
                  <a:lnTo>
                    <a:pt x="3651504" y="0"/>
                  </a:lnTo>
                  <a:lnTo>
                    <a:pt x="0" y="0"/>
                  </a:lnTo>
                  <a:lnTo>
                    <a:pt x="0" y="222351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6803" y="1234439"/>
            <a:ext cx="4789932" cy="3742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299" y="1471116"/>
            <a:ext cx="3206750" cy="332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730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Column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widget,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Circle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Avatar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children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SizedBox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leave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15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px 	vertical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gap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next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widget.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84738" y="1554480"/>
            <a:ext cx="7548245" cy="2848610"/>
            <a:chOff x="4384738" y="1554480"/>
            <a:chExt cx="7548245" cy="2848610"/>
          </a:xfrm>
        </p:grpSpPr>
        <p:sp>
          <p:nvSpPr>
            <p:cNvPr id="10" name="object 10"/>
            <p:cNvSpPr/>
            <p:nvPr/>
          </p:nvSpPr>
          <p:spPr>
            <a:xfrm>
              <a:off x="4399026" y="2448305"/>
              <a:ext cx="4460875" cy="1503045"/>
            </a:xfrm>
            <a:custGeom>
              <a:avLst/>
              <a:gdLst/>
              <a:ahLst/>
              <a:cxnLst/>
              <a:rect l="l" t="t" r="r" b="b"/>
              <a:pathLst>
                <a:path w="4460875" h="1503045">
                  <a:moveTo>
                    <a:pt x="0" y="1502664"/>
                  </a:moveTo>
                  <a:lnTo>
                    <a:pt x="4460748" y="1502664"/>
                  </a:lnTo>
                  <a:lnTo>
                    <a:pt x="4460748" y="0"/>
                  </a:lnTo>
                  <a:lnTo>
                    <a:pt x="0" y="0"/>
                  </a:lnTo>
                  <a:lnTo>
                    <a:pt x="0" y="150266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5147" y="1554480"/>
              <a:ext cx="2747772" cy="28483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7771" y="3381249"/>
              <a:ext cx="80772" cy="754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858122" y="3306825"/>
              <a:ext cx="746125" cy="118745"/>
            </a:xfrm>
            <a:custGeom>
              <a:avLst/>
              <a:gdLst/>
              <a:ahLst/>
              <a:cxnLst/>
              <a:rect l="l" t="t" r="r" b="b"/>
              <a:pathLst>
                <a:path w="746125" h="118745">
                  <a:moveTo>
                    <a:pt x="1777" y="0"/>
                  </a:moveTo>
                  <a:lnTo>
                    <a:pt x="0" y="12573"/>
                  </a:lnTo>
                  <a:lnTo>
                    <a:pt x="744093" y="118363"/>
                  </a:lnTo>
                  <a:lnTo>
                    <a:pt x="745871" y="105790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8264" y="1456944"/>
            <a:ext cx="4029455" cy="38298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299" y="1471116"/>
            <a:ext cx="3130550" cy="405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10985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Text</a:t>
            </a:r>
            <a:r>
              <a:rPr dirty="0" sz="2400" spc="-1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Children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This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should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display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contact 	name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bold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format.</a:t>
            </a:r>
            <a:endParaRPr sz="2400">
              <a:latin typeface="Calibri"/>
              <a:cs typeface="Calibri"/>
            </a:endParaRPr>
          </a:p>
          <a:p>
            <a:pPr algn="just" marL="297180" marR="141605" indent="-285115">
              <a:lnSpc>
                <a:spcPct val="100000"/>
              </a:lnSpc>
              <a:spcBef>
                <a:spcPts val="29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20">
                <a:latin typeface="Calibri"/>
                <a:cs typeface="Calibri"/>
              </a:rPr>
              <a:t>Add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another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SizedBox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leave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15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px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vertical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gap.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10874" y="1591055"/>
            <a:ext cx="6983095" cy="3296920"/>
            <a:chOff x="4710874" y="1591055"/>
            <a:chExt cx="6983095" cy="3296920"/>
          </a:xfrm>
        </p:grpSpPr>
        <p:sp>
          <p:nvSpPr>
            <p:cNvPr id="10" name="object 10"/>
            <p:cNvSpPr/>
            <p:nvPr/>
          </p:nvSpPr>
          <p:spPr>
            <a:xfrm>
              <a:off x="4725161" y="2977133"/>
              <a:ext cx="3152140" cy="1751330"/>
            </a:xfrm>
            <a:custGeom>
              <a:avLst/>
              <a:gdLst/>
              <a:ahLst/>
              <a:cxnLst/>
              <a:rect l="l" t="t" r="r" b="b"/>
              <a:pathLst>
                <a:path w="3152140" h="1751329">
                  <a:moveTo>
                    <a:pt x="0" y="1751076"/>
                  </a:moveTo>
                  <a:lnTo>
                    <a:pt x="3151632" y="1751076"/>
                  </a:lnTo>
                  <a:lnTo>
                    <a:pt x="3151632" y="0"/>
                  </a:lnTo>
                  <a:lnTo>
                    <a:pt x="0" y="0"/>
                  </a:lnTo>
                  <a:lnTo>
                    <a:pt x="0" y="175107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9096" y="1591055"/>
              <a:ext cx="2924555" cy="32964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4023" y="4662297"/>
              <a:ext cx="85088" cy="698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873491" y="3833113"/>
              <a:ext cx="1988185" cy="869950"/>
            </a:xfrm>
            <a:custGeom>
              <a:avLst/>
              <a:gdLst/>
              <a:ahLst/>
              <a:cxnLst/>
              <a:rect l="l" t="t" r="r" b="b"/>
              <a:pathLst>
                <a:path w="1988184" h="869950">
                  <a:moveTo>
                    <a:pt x="5079" y="0"/>
                  </a:moveTo>
                  <a:lnTo>
                    <a:pt x="0" y="11684"/>
                  </a:lnTo>
                  <a:lnTo>
                    <a:pt x="1983104" y="869950"/>
                  </a:lnTo>
                  <a:lnTo>
                    <a:pt x="1988184" y="858266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2815" y="1272539"/>
            <a:ext cx="4050791" cy="43129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68203"/>
            <a:ext cx="12192000" cy="589915"/>
            <a:chOff x="0" y="6268203"/>
            <a:chExt cx="12192000" cy="5899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9400" y="6268203"/>
              <a:ext cx="1752600" cy="5897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68208"/>
              <a:ext cx="10439400" cy="589915"/>
            </a:xfrm>
            <a:custGeom>
              <a:avLst/>
              <a:gdLst/>
              <a:ahLst/>
              <a:cxnLst/>
              <a:rect l="l" t="t" r="r" b="b"/>
              <a:pathLst>
                <a:path w="10439400" h="589915">
                  <a:moveTo>
                    <a:pt x="10439400" y="0"/>
                  </a:moveTo>
                  <a:lnTo>
                    <a:pt x="0" y="0"/>
                  </a:lnTo>
                  <a:lnTo>
                    <a:pt x="0" y="589788"/>
                  </a:lnTo>
                  <a:lnTo>
                    <a:pt x="10439400" y="589788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1F39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64592"/>
            <a:ext cx="12192000" cy="702945"/>
          </a:xfrm>
          <a:custGeom>
            <a:avLst/>
            <a:gdLst/>
            <a:ahLst/>
            <a:cxnLst/>
            <a:rect l="l" t="t" r="r" b="b"/>
            <a:pathLst>
              <a:path w="12192000" h="702944">
                <a:moveTo>
                  <a:pt x="12192000" y="0"/>
                </a:moveTo>
                <a:lnTo>
                  <a:pt x="0" y="0"/>
                </a:lnTo>
                <a:lnTo>
                  <a:pt x="0" y="702564"/>
                </a:lnTo>
                <a:lnTo>
                  <a:pt x="12192000" y="70256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Example</a:t>
            </a:r>
            <a:r>
              <a:rPr dirty="0" spc="-10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299" y="1471116"/>
            <a:ext cx="3221355" cy="2590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Text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Children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Column.</a:t>
            </a:r>
            <a:endParaRPr sz="2400">
              <a:latin typeface="Calibri"/>
              <a:cs typeface="Calibri"/>
            </a:endParaRPr>
          </a:p>
          <a:p>
            <a:pPr marL="297180" marR="9525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This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text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should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display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contact 	number.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78870" y="908303"/>
            <a:ext cx="6571615" cy="5041900"/>
            <a:chOff x="4678870" y="908303"/>
            <a:chExt cx="6571615" cy="5041900"/>
          </a:xfrm>
        </p:grpSpPr>
        <p:sp>
          <p:nvSpPr>
            <p:cNvPr id="10" name="object 10"/>
            <p:cNvSpPr/>
            <p:nvPr/>
          </p:nvSpPr>
          <p:spPr>
            <a:xfrm>
              <a:off x="4693158" y="3512058"/>
              <a:ext cx="3150235" cy="1560830"/>
            </a:xfrm>
            <a:custGeom>
              <a:avLst/>
              <a:gdLst/>
              <a:ahLst/>
              <a:cxnLst/>
              <a:rect l="l" t="t" r="r" b="b"/>
              <a:pathLst>
                <a:path w="3150234" h="1560829">
                  <a:moveTo>
                    <a:pt x="0" y="1560576"/>
                  </a:moveTo>
                  <a:lnTo>
                    <a:pt x="3150108" y="1560576"/>
                  </a:lnTo>
                  <a:lnTo>
                    <a:pt x="3150108" y="0"/>
                  </a:lnTo>
                  <a:lnTo>
                    <a:pt x="0" y="0"/>
                  </a:lnTo>
                  <a:lnTo>
                    <a:pt x="0" y="156057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2079" y="908303"/>
              <a:ext cx="2228087" cy="50413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840726" y="3689096"/>
              <a:ext cx="2093595" cy="608330"/>
            </a:xfrm>
            <a:custGeom>
              <a:avLst/>
              <a:gdLst/>
              <a:ahLst/>
              <a:cxnLst/>
              <a:rect l="l" t="t" r="r" b="b"/>
              <a:pathLst>
                <a:path w="2093595" h="608329">
                  <a:moveTo>
                    <a:pt x="2090166" y="0"/>
                  </a:moveTo>
                  <a:lnTo>
                    <a:pt x="0" y="596010"/>
                  </a:lnTo>
                  <a:lnTo>
                    <a:pt x="3555" y="608202"/>
                  </a:lnTo>
                  <a:lnTo>
                    <a:pt x="2093595" y="12318"/>
                  </a:lnTo>
                  <a:lnTo>
                    <a:pt x="2090166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22129" y="3658617"/>
              <a:ext cx="83818" cy="7327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094734" y="6433972"/>
            <a:ext cx="31242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800" spc="-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672" y="1316863"/>
            <a:ext cx="4282440" cy="4055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24828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homepage.dart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file,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add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onTap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property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ListTile.</a:t>
            </a:r>
            <a:endParaRPr sz="2400">
              <a:latin typeface="Calibri"/>
              <a:cs typeface="Calibri"/>
            </a:endParaRPr>
          </a:p>
          <a:p>
            <a:pPr marL="297180" marR="220979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10">
                <a:latin typeface="Calibri"/>
                <a:cs typeface="Calibri"/>
              </a:rPr>
              <a:t>Define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anonymous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 	for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onTap.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Navigator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route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another 	screen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when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click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13247" y="1033272"/>
            <a:ext cx="5172710" cy="4674235"/>
            <a:chOff x="5413247" y="1033272"/>
            <a:chExt cx="5172710" cy="4674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3247" y="1033272"/>
              <a:ext cx="5157215" cy="46741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59245" y="3370326"/>
              <a:ext cx="4411980" cy="1850389"/>
            </a:xfrm>
            <a:custGeom>
              <a:avLst/>
              <a:gdLst/>
              <a:ahLst/>
              <a:cxnLst/>
              <a:rect l="l" t="t" r="r" b="b"/>
              <a:pathLst>
                <a:path w="4411980" h="1850389">
                  <a:moveTo>
                    <a:pt x="0" y="1850136"/>
                  </a:moveTo>
                  <a:lnTo>
                    <a:pt x="4411980" y="1850136"/>
                  </a:lnTo>
                  <a:lnTo>
                    <a:pt x="4411980" y="0"/>
                  </a:lnTo>
                  <a:lnTo>
                    <a:pt x="0" y="0"/>
                  </a:lnTo>
                  <a:lnTo>
                    <a:pt x="0" y="185013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443" y="1249680"/>
            <a:ext cx="2347595" cy="4578350"/>
            <a:chOff x="650443" y="1249680"/>
            <a:chExt cx="2347595" cy="4578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" y="1249680"/>
              <a:ext cx="2075688" cy="45780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443" y="2668143"/>
              <a:ext cx="642620" cy="765175"/>
            </a:xfrm>
            <a:custGeom>
              <a:avLst/>
              <a:gdLst/>
              <a:ahLst/>
              <a:cxnLst/>
              <a:rect l="l" t="t" r="r" b="b"/>
              <a:pathLst>
                <a:path w="642619" h="765175">
                  <a:moveTo>
                    <a:pt x="632637" y="0"/>
                  </a:moveTo>
                  <a:lnTo>
                    <a:pt x="0" y="756666"/>
                  </a:lnTo>
                  <a:lnTo>
                    <a:pt x="9753" y="764794"/>
                  </a:lnTo>
                  <a:lnTo>
                    <a:pt x="642416" y="8128"/>
                  </a:lnTo>
                  <a:lnTo>
                    <a:pt x="632637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697" y="2613661"/>
              <a:ext cx="78105" cy="8292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075177" y="1249680"/>
            <a:ext cx="2688590" cy="4616450"/>
            <a:chOff x="3075177" y="1249680"/>
            <a:chExt cx="2688590" cy="46164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4844" y="1249680"/>
              <a:ext cx="2058924" cy="461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81527" y="3131819"/>
              <a:ext cx="588645" cy="407034"/>
            </a:xfrm>
            <a:custGeom>
              <a:avLst/>
              <a:gdLst/>
              <a:ahLst/>
              <a:cxnLst/>
              <a:rect l="l" t="t" r="r" b="b"/>
              <a:pathLst>
                <a:path w="588645" h="407035">
                  <a:moveTo>
                    <a:pt x="384810" y="0"/>
                  </a:moveTo>
                  <a:lnTo>
                    <a:pt x="384810" y="101726"/>
                  </a:lnTo>
                  <a:lnTo>
                    <a:pt x="0" y="101726"/>
                  </a:lnTo>
                  <a:lnTo>
                    <a:pt x="0" y="305180"/>
                  </a:lnTo>
                  <a:lnTo>
                    <a:pt x="384810" y="305180"/>
                  </a:lnTo>
                  <a:lnTo>
                    <a:pt x="384810" y="406907"/>
                  </a:lnTo>
                  <a:lnTo>
                    <a:pt x="588263" y="203453"/>
                  </a:lnTo>
                  <a:lnTo>
                    <a:pt x="384810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81527" y="3131819"/>
              <a:ext cx="588645" cy="407034"/>
            </a:xfrm>
            <a:custGeom>
              <a:avLst/>
              <a:gdLst/>
              <a:ahLst/>
              <a:cxnLst/>
              <a:rect l="l" t="t" r="r" b="b"/>
              <a:pathLst>
                <a:path w="588645" h="407035">
                  <a:moveTo>
                    <a:pt x="0" y="101726"/>
                  </a:moveTo>
                  <a:lnTo>
                    <a:pt x="384810" y="101726"/>
                  </a:lnTo>
                  <a:lnTo>
                    <a:pt x="384810" y="0"/>
                  </a:lnTo>
                  <a:lnTo>
                    <a:pt x="588263" y="203453"/>
                  </a:lnTo>
                  <a:lnTo>
                    <a:pt x="384810" y="406907"/>
                  </a:lnTo>
                  <a:lnTo>
                    <a:pt x="384810" y="305180"/>
                  </a:lnTo>
                  <a:lnTo>
                    <a:pt x="0" y="305180"/>
                  </a:lnTo>
                  <a:lnTo>
                    <a:pt x="0" y="10172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92283" y="1022603"/>
            <a:ext cx="2173223" cy="487527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482841" y="1022603"/>
            <a:ext cx="2702560" cy="4855845"/>
            <a:chOff x="6482841" y="1022603"/>
            <a:chExt cx="2702560" cy="485584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1923" y="1022603"/>
              <a:ext cx="2173223" cy="485546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82841" y="3373755"/>
              <a:ext cx="642620" cy="765175"/>
            </a:xfrm>
            <a:custGeom>
              <a:avLst/>
              <a:gdLst/>
              <a:ahLst/>
              <a:cxnLst/>
              <a:rect l="l" t="t" r="r" b="b"/>
              <a:pathLst>
                <a:path w="642620" h="765175">
                  <a:moveTo>
                    <a:pt x="632587" y="0"/>
                  </a:moveTo>
                  <a:lnTo>
                    <a:pt x="0" y="756666"/>
                  </a:lnTo>
                  <a:lnTo>
                    <a:pt x="9652" y="764794"/>
                  </a:lnTo>
                  <a:lnTo>
                    <a:pt x="642365" y="8128"/>
                  </a:lnTo>
                  <a:lnTo>
                    <a:pt x="632587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91044" y="3319273"/>
              <a:ext cx="78102" cy="8292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38734" y="3412693"/>
            <a:ext cx="44513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238233" y="3123945"/>
            <a:ext cx="601345" cy="419734"/>
            <a:chOff x="9238233" y="3123945"/>
            <a:chExt cx="601345" cy="419734"/>
          </a:xfrm>
        </p:grpSpPr>
        <p:sp>
          <p:nvSpPr>
            <p:cNvPr id="17" name="object 17"/>
            <p:cNvSpPr/>
            <p:nvPr/>
          </p:nvSpPr>
          <p:spPr>
            <a:xfrm>
              <a:off x="9244583" y="3130295"/>
              <a:ext cx="588645" cy="407034"/>
            </a:xfrm>
            <a:custGeom>
              <a:avLst/>
              <a:gdLst/>
              <a:ahLst/>
              <a:cxnLst/>
              <a:rect l="l" t="t" r="r" b="b"/>
              <a:pathLst>
                <a:path w="588645" h="407035">
                  <a:moveTo>
                    <a:pt x="384810" y="0"/>
                  </a:moveTo>
                  <a:lnTo>
                    <a:pt x="384810" y="101726"/>
                  </a:lnTo>
                  <a:lnTo>
                    <a:pt x="0" y="101726"/>
                  </a:lnTo>
                  <a:lnTo>
                    <a:pt x="0" y="305180"/>
                  </a:lnTo>
                  <a:lnTo>
                    <a:pt x="384810" y="305180"/>
                  </a:lnTo>
                  <a:lnTo>
                    <a:pt x="384810" y="406907"/>
                  </a:lnTo>
                  <a:lnTo>
                    <a:pt x="588264" y="203453"/>
                  </a:lnTo>
                  <a:lnTo>
                    <a:pt x="384810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244583" y="3130295"/>
              <a:ext cx="588645" cy="407034"/>
            </a:xfrm>
            <a:custGeom>
              <a:avLst/>
              <a:gdLst/>
              <a:ahLst/>
              <a:cxnLst/>
              <a:rect l="l" t="t" r="r" b="b"/>
              <a:pathLst>
                <a:path w="588645" h="407035">
                  <a:moveTo>
                    <a:pt x="0" y="101726"/>
                  </a:moveTo>
                  <a:lnTo>
                    <a:pt x="384810" y="101726"/>
                  </a:lnTo>
                  <a:lnTo>
                    <a:pt x="384810" y="0"/>
                  </a:lnTo>
                  <a:lnTo>
                    <a:pt x="588264" y="203453"/>
                  </a:lnTo>
                  <a:lnTo>
                    <a:pt x="384810" y="406907"/>
                  </a:lnTo>
                  <a:lnTo>
                    <a:pt x="384810" y="305180"/>
                  </a:lnTo>
                  <a:lnTo>
                    <a:pt x="0" y="305180"/>
                  </a:lnTo>
                  <a:lnTo>
                    <a:pt x="0" y="10172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72961" y="4118864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962" y="1228725"/>
            <a:ext cx="5504180" cy="3689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70993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30">
                <a:latin typeface="Calibri"/>
                <a:cs typeface="Calibri"/>
              </a:rPr>
              <a:t>Navigator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widget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30">
                <a:latin typeface="Calibri"/>
                <a:cs typeface="Calibri"/>
              </a:rPr>
              <a:t>navigate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between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screens.</a:t>
            </a:r>
            <a:endParaRPr sz="2400">
              <a:latin typeface="Calibri"/>
              <a:cs typeface="Calibri"/>
            </a:endParaRPr>
          </a:p>
          <a:p>
            <a:pPr marL="297180" marR="12827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navigator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stack</a:t>
            </a:r>
            <a:r>
              <a:rPr dirty="0" sz="2400" spc="-1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when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dealing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screens.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9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20">
                <a:latin typeface="Calibri"/>
                <a:cs typeface="Calibri"/>
              </a:rPr>
              <a:t>Based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actions</a:t>
            </a:r>
            <a:r>
              <a:rPr dirty="0" sz="2400" spc="-1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made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user, 	the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screens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stacked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the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other 	and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when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pressed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back,</a:t>
            </a:r>
            <a:r>
              <a:rPr dirty="0" sz="2400" spc="-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goes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most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recently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visited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screen.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518" y="1899157"/>
            <a:ext cx="5158486" cy="27547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95" y="1948053"/>
            <a:ext cx="4868545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Calibri"/>
                <a:cs typeface="Calibri"/>
              </a:rPr>
              <a:t>Flutter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provides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basic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routing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class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35">
                <a:solidFill>
                  <a:srgbClr val="FF0000"/>
                </a:solidFill>
                <a:latin typeface="Calibri"/>
                <a:cs typeface="Calibri"/>
              </a:rPr>
              <a:t>MaterialPageRoute</a:t>
            </a:r>
            <a:r>
              <a:rPr dirty="0" sz="2400" spc="-1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50">
                <a:solidFill>
                  <a:srgbClr val="FF0000"/>
                </a:solidFill>
                <a:latin typeface="Calibri"/>
                <a:cs typeface="Calibri"/>
              </a:rPr>
              <a:t>Navigator.push()</a:t>
            </a:r>
            <a:r>
              <a:rPr dirty="0" sz="2400" spc="-1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Navigator.pop()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shows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how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navigate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between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routes.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98235" y="1428622"/>
            <a:ext cx="5941060" cy="3479165"/>
            <a:chOff x="5698235" y="1428622"/>
            <a:chExt cx="5941060" cy="3479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8235" y="1694687"/>
              <a:ext cx="5940552" cy="2497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07476" y="3296030"/>
              <a:ext cx="383540" cy="1611630"/>
            </a:xfrm>
            <a:custGeom>
              <a:avLst/>
              <a:gdLst/>
              <a:ahLst/>
              <a:cxnLst/>
              <a:rect l="l" t="t" r="r" b="b"/>
              <a:pathLst>
                <a:path w="383540" h="1611629">
                  <a:moveTo>
                    <a:pt x="12192" y="0"/>
                  </a:moveTo>
                  <a:lnTo>
                    <a:pt x="0" y="2921"/>
                  </a:lnTo>
                  <a:lnTo>
                    <a:pt x="370967" y="1611630"/>
                  </a:lnTo>
                  <a:lnTo>
                    <a:pt x="383286" y="1608836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6488" y="3223261"/>
              <a:ext cx="74165" cy="828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98235" y="2997708"/>
              <a:ext cx="1065530" cy="210820"/>
            </a:xfrm>
            <a:custGeom>
              <a:avLst/>
              <a:gdLst/>
              <a:ahLst/>
              <a:cxnLst/>
              <a:rect l="l" t="t" r="r" b="b"/>
              <a:pathLst>
                <a:path w="1065529" h="210819">
                  <a:moveTo>
                    <a:pt x="1065275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1065275" y="210312"/>
                  </a:lnTo>
                  <a:lnTo>
                    <a:pt x="1065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3995" y="2941956"/>
              <a:ext cx="70229" cy="8496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764521" y="1428622"/>
              <a:ext cx="650875" cy="1530985"/>
            </a:xfrm>
            <a:custGeom>
              <a:avLst/>
              <a:gdLst/>
              <a:ahLst/>
              <a:cxnLst/>
              <a:rect l="l" t="t" r="r" b="b"/>
              <a:pathLst>
                <a:path w="650875" h="1530985">
                  <a:moveTo>
                    <a:pt x="11683" y="0"/>
                  </a:moveTo>
                  <a:lnTo>
                    <a:pt x="0" y="4825"/>
                  </a:lnTo>
                  <a:lnTo>
                    <a:pt x="638809" y="1530477"/>
                  </a:lnTo>
                  <a:lnTo>
                    <a:pt x="650367" y="1525651"/>
                  </a:lnTo>
                  <a:lnTo>
                    <a:pt x="11683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471030" y="4895799"/>
            <a:ext cx="51200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libri"/>
                <a:cs typeface="Calibri"/>
              </a:rPr>
              <a:t>Constructor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function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build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Contact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Details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screen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83471" y="1049273"/>
            <a:ext cx="1541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Contact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object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1220724"/>
            <a:ext cx="1799843" cy="39730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0188" y="1220724"/>
            <a:ext cx="1770888" cy="397306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08227" y="2442973"/>
            <a:ext cx="686435" cy="819785"/>
            <a:chOff x="1208227" y="2442973"/>
            <a:chExt cx="686435" cy="819785"/>
          </a:xfrm>
        </p:grpSpPr>
        <p:sp>
          <p:nvSpPr>
            <p:cNvPr id="5" name="object 5"/>
            <p:cNvSpPr/>
            <p:nvPr/>
          </p:nvSpPr>
          <p:spPr>
            <a:xfrm>
              <a:off x="1208227" y="2497455"/>
              <a:ext cx="642620" cy="765175"/>
            </a:xfrm>
            <a:custGeom>
              <a:avLst/>
              <a:gdLst/>
              <a:ahLst/>
              <a:cxnLst/>
              <a:rect l="l" t="t" r="r" b="b"/>
              <a:pathLst>
                <a:path w="642619" h="765175">
                  <a:moveTo>
                    <a:pt x="632637" y="0"/>
                  </a:moveTo>
                  <a:lnTo>
                    <a:pt x="0" y="756666"/>
                  </a:lnTo>
                  <a:lnTo>
                    <a:pt x="9753" y="764794"/>
                  </a:lnTo>
                  <a:lnTo>
                    <a:pt x="642416" y="8128"/>
                  </a:lnTo>
                  <a:lnTo>
                    <a:pt x="632637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6481" y="2442973"/>
              <a:ext cx="78105" cy="8292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7011" y="3196590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60165" y="2938017"/>
            <a:ext cx="419734" cy="419734"/>
            <a:chOff x="3360165" y="2938017"/>
            <a:chExt cx="419734" cy="419734"/>
          </a:xfrm>
        </p:grpSpPr>
        <p:sp>
          <p:nvSpPr>
            <p:cNvPr id="9" name="object 9"/>
            <p:cNvSpPr/>
            <p:nvPr/>
          </p:nvSpPr>
          <p:spPr>
            <a:xfrm>
              <a:off x="3366515" y="2944367"/>
              <a:ext cx="407034" cy="407034"/>
            </a:xfrm>
            <a:custGeom>
              <a:avLst/>
              <a:gdLst/>
              <a:ahLst/>
              <a:cxnLst/>
              <a:rect l="l" t="t" r="r" b="b"/>
              <a:pathLst>
                <a:path w="407035" h="407035">
                  <a:moveTo>
                    <a:pt x="203454" y="0"/>
                  </a:moveTo>
                  <a:lnTo>
                    <a:pt x="203454" y="101727"/>
                  </a:lnTo>
                  <a:lnTo>
                    <a:pt x="0" y="101727"/>
                  </a:lnTo>
                  <a:lnTo>
                    <a:pt x="0" y="305181"/>
                  </a:lnTo>
                  <a:lnTo>
                    <a:pt x="203454" y="305181"/>
                  </a:lnTo>
                  <a:lnTo>
                    <a:pt x="203454" y="406908"/>
                  </a:lnTo>
                  <a:lnTo>
                    <a:pt x="406908" y="203454"/>
                  </a:lnTo>
                  <a:lnTo>
                    <a:pt x="203454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6515" y="2944367"/>
              <a:ext cx="407034" cy="407034"/>
            </a:xfrm>
            <a:custGeom>
              <a:avLst/>
              <a:gdLst/>
              <a:ahLst/>
              <a:cxnLst/>
              <a:rect l="l" t="t" r="r" b="b"/>
              <a:pathLst>
                <a:path w="407035" h="407035">
                  <a:moveTo>
                    <a:pt x="0" y="101727"/>
                  </a:moveTo>
                  <a:lnTo>
                    <a:pt x="203454" y="101727"/>
                  </a:lnTo>
                  <a:lnTo>
                    <a:pt x="203454" y="0"/>
                  </a:lnTo>
                  <a:lnTo>
                    <a:pt x="406908" y="203454"/>
                  </a:lnTo>
                  <a:lnTo>
                    <a:pt x="203454" y="406908"/>
                  </a:lnTo>
                  <a:lnTo>
                    <a:pt x="203454" y="305181"/>
                  </a:lnTo>
                  <a:lnTo>
                    <a:pt x="0" y="305181"/>
                  </a:lnTo>
                  <a:lnTo>
                    <a:pt x="0" y="10172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7520" y="1312290"/>
            <a:ext cx="130175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Navigator </a:t>
            </a: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will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push</a:t>
            </a:r>
            <a:r>
              <a:rPr dirty="0" sz="18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Contact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Details</a:t>
            </a:r>
            <a:r>
              <a:rPr dirty="0" sz="18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dirty="0" sz="1800" spc="-1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top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33182" y="1229867"/>
            <a:ext cx="2239645" cy="4026535"/>
            <a:chOff x="7433182" y="1229867"/>
            <a:chExt cx="2239645" cy="40265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503" y="1229867"/>
              <a:ext cx="1830324" cy="40264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8604" y="1669924"/>
              <a:ext cx="83311" cy="770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33182" y="1319402"/>
              <a:ext cx="483234" cy="385445"/>
            </a:xfrm>
            <a:custGeom>
              <a:avLst/>
              <a:gdLst/>
              <a:ahLst/>
              <a:cxnLst/>
              <a:rect l="l" t="t" r="r" b="b"/>
              <a:pathLst>
                <a:path w="483234" h="385444">
                  <a:moveTo>
                    <a:pt x="7874" y="0"/>
                  </a:moveTo>
                  <a:lnTo>
                    <a:pt x="0" y="9906"/>
                  </a:lnTo>
                  <a:lnTo>
                    <a:pt x="475107" y="385445"/>
                  </a:lnTo>
                  <a:lnTo>
                    <a:pt x="482981" y="375412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030973" y="959611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7432" y="1635378"/>
            <a:ext cx="133985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Navigator</a:t>
            </a:r>
            <a:r>
              <a:rPr dirty="0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will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automatically implement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pop</a:t>
            </a:r>
            <a:r>
              <a:rPr dirty="0" sz="18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method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8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0000"/>
                </a:solidFill>
                <a:latin typeface="Calibri"/>
                <a:cs typeface="Calibri"/>
              </a:rPr>
              <a:t>remove</a:t>
            </a:r>
            <a:r>
              <a:rPr dirty="0" sz="18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Contact Details</a:t>
            </a:r>
            <a:r>
              <a:rPr dirty="0" sz="1800" spc="-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screen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dirty="0" sz="1800" spc="-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FF0000"/>
                </a:solidFill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7083" y="1306067"/>
            <a:ext cx="1799844" cy="3973067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725914" y="2930399"/>
            <a:ext cx="418465" cy="421640"/>
            <a:chOff x="9725914" y="2930399"/>
            <a:chExt cx="418465" cy="421640"/>
          </a:xfrm>
        </p:grpSpPr>
        <p:sp>
          <p:nvSpPr>
            <p:cNvPr id="20" name="object 20"/>
            <p:cNvSpPr/>
            <p:nvPr/>
          </p:nvSpPr>
          <p:spPr>
            <a:xfrm>
              <a:off x="9732263" y="2936748"/>
              <a:ext cx="405765" cy="408940"/>
            </a:xfrm>
            <a:custGeom>
              <a:avLst/>
              <a:gdLst/>
              <a:ahLst/>
              <a:cxnLst/>
              <a:rect l="l" t="t" r="r" b="b"/>
              <a:pathLst>
                <a:path w="405765" h="408939">
                  <a:moveTo>
                    <a:pt x="202691" y="0"/>
                  </a:moveTo>
                  <a:lnTo>
                    <a:pt x="202691" y="102107"/>
                  </a:lnTo>
                  <a:lnTo>
                    <a:pt x="0" y="102107"/>
                  </a:lnTo>
                  <a:lnTo>
                    <a:pt x="0" y="306324"/>
                  </a:lnTo>
                  <a:lnTo>
                    <a:pt x="202691" y="306324"/>
                  </a:lnTo>
                  <a:lnTo>
                    <a:pt x="202691" y="408431"/>
                  </a:lnTo>
                  <a:lnTo>
                    <a:pt x="405383" y="204215"/>
                  </a:lnTo>
                  <a:lnTo>
                    <a:pt x="202691" y="0"/>
                  </a:lnTo>
                  <a:close/>
                </a:path>
              </a:pathLst>
            </a:custGeom>
            <a:solidFill>
              <a:srgbClr val="446F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732263" y="2936748"/>
              <a:ext cx="405765" cy="408940"/>
            </a:xfrm>
            <a:custGeom>
              <a:avLst/>
              <a:gdLst/>
              <a:ahLst/>
              <a:cxnLst/>
              <a:rect l="l" t="t" r="r" b="b"/>
              <a:pathLst>
                <a:path w="405765" h="408939">
                  <a:moveTo>
                    <a:pt x="0" y="102107"/>
                  </a:moveTo>
                  <a:lnTo>
                    <a:pt x="202691" y="102107"/>
                  </a:lnTo>
                  <a:lnTo>
                    <a:pt x="202691" y="0"/>
                  </a:lnTo>
                  <a:lnTo>
                    <a:pt x="405383" y="204215"/>
                  </a:lnTo>
                  <a:lnTo>
                    <a:pt x="202691" y="408431"/>
                  </a:lnTo>
                  <a:lnTo>
                    <a:pt x="202691" y="306324"/>
                  </a:lnTo>
                  <a:lnTo>
                    <a:pt x="0" y="306324"/>
                  </a:lnTo>
                  <a:lnTo>
                    <a:pt x="0" y="102107"/>
                  </a:lnTo>
                  <a:close/>
                </a:path>
              </a:pathLst>
            </a:custGeom>
            <a:ln w="1269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9394" y="2622930"/>
            <a:ext cx="501142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dirty="0" sz="5400" spc="-2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5400" spc="-1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b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dirty="0" sz="5400" spc="-1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5400" spc="-10" b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Amera</dc:creator>
  <dcterms:created xsi:type="dcterms:W3CDTF">2026-06-19T09:39:33Z</dcterms:created>
  <dcterms:modified xsi:type="dcterms:W3CDTF">2026-06-19T09:39:33Z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2026-05-07T00:00:00Z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LTSC</vt:lpwstr>
  </property>
</Properties>
</file>